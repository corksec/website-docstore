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56" r:id="rId2"/>
    <p:sldId id="257" r:id="rId3"/>
    <p:sldId id="259" r:id="rId4"/>
    <p:sldId id="261" r:id="rId5"/>
    <p:sldId id="328" r:id="rId6"/>
    <p:sldId id="260" r:id="rId7"/>
    <p:sldId id="267" r:id="rId8"/>
    <p:sldId id="268" r:id="rId9"/>
    <p:sldId id="262" r:id="rId10"/>
    <p:sldId id="263" r:id="rId11"/>
    <p:sldId id="264" r:id="rId12"/>
    <p:sldId id="265" r:id="rId13"/>
    <p:sldId id="266" r:id="rId14"/>
    <p:sldId id="269" r:id="rId15"/>
    <p:sldId id="270" r:id="rId16"/>
    <p:sldId id="331" r:id="rId17"/>
    <p:sldId id="332" r:id="rId18"/>
    <p:sldId id="333" r:id="rId19"/>
    <p:sldId id="271" r:id="rId20"/>
    <p:sldId id="303" r:id="rId21"/>
    <p:sldId id="272" r:id="rId22"/>
    <p:sldId id="275" r:id="rId23"/>
    <p:sldId id="273" r:id="rId24"/>
    <p:sldId id="274" r:id="rId25"/>
    <p:sldId id="291" r:id="rId26"/>
    <p:sldId id="290" r:id="rId27"/>
    <p:sldId id="276" r:id="rId28"/>
    <p:sldId id="277" r:id="rId29"/>
    <p:sldId id="278" r:id="rId30"/>
    <p:sldId id="292" r:id="rId31"/>
    <p:sldId id="293" r:id="rId32"/>
    <p:sldId id="294" r:id="rId33"/>
    <p:sldId id="282" r:id="rId34"/>
    <p:sldId id="295" r:id="rId35"/>
    <p:sldId id="296" r:id="rId36"/>
    <p:sldId id="297" r:id="rId37"/>
    <p:sldId id="298" r:id="rId38"/>
    <p:sldId id="299" r:id="rId39"/>
    <p:sldId id="330" r:id="rId40"/>
    <p:sldId id="300" r:id="rId41"/>
    <p:sldId id="302" r:id="rId42"/>
    <p:sldId id="30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43" autoAdjust="0"/>
    <p:restoredTop sz="87843" autoAdjust="0"/>
  </p:normalViewPr>
  <p:slideViewPr>
    <p:cSldViewPr snapToGrid="0">
      <p:cViewPr varScale="1">
        <p:scale>
          <a:sx n="97" d="100"/>
          <a:sy n="97" d="100"/>
        </p:scale>
        <p:origin x="21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3" Type="http://schemas.openxmlformats.org/officeDocument/2006/relationships/oleObject" Target="file:///C:\Users\IoanaMacovei\Documents\College\Survey\Survey%20Analysis.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E" b="1"/>
              <a:t>Group Differences in Phishing Email Identification Accuracy</a:t>
            </a:r>
            <a:endParaRPr lang="en-IE"/>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E"/>
        </a:p>
      </c:txPr>
    </c:title>
    <c:autoTitleDeleted val="0"/>
    <c:plotArea>
      <c:layout/>
      <c:barChart>
        <c:barDir val="col"/>
        <c:grouping val="clustered"/>
        <c:varyColors val="0"/>
        <c:ser>
          <c:idx val="0"/>
          <c:order val="0"/>
          <c:tx>
            <c:strRef>
              <c:f>'Survey data'!$GA$66</c:f>
              <c:strCache>
                <c:ptCount val="1"/>
                <c:pt idx="0">
                  <c:v>Chess Avg</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'Survey data'!$FZ$67:$FZ$69</c:f>
              <c:strCache>
                <c:ptCount val="3"/>
                <c:pt idx="0">
                  <c:v>Obvious phishing</c:v>
                </c:pt>
                <c:pt idx="1">
                  <c:v>Sophisticated Phishing</c:v>
                </c:pt>
                <c:pt idx="2">
                  <c:v>Legitimate</c:v>
                </c:pt>
              </c:strCache>
            </c:strRef>
          </c:cat>
          <c:val>
            <c:numRef>
              <c:f>'Survey data'!$GA$67:$GA$69</c:f>
              <c:numCache>
                <c:formatCode>0.00%</c:formatCode>
                <c:ptCount val="3"/>
                <c:pt idx="0">
                  <c:v>0.94949494949494961</c:v>
                </c:pt>
                <c:pt idx="1">
                  <c:v>0.83838383838383845</c:v>
                </c:pt>
                <c:pt idx="2">
                  <c:v>0.49999999999999989</c:v>
                </c:pt>
              </c:numCache>
            </c:numRef>
          </c:val>
          <c:extLst>
            <c:ext xmlns:c16="http://schemas.microsoft.com/office/drawing/2014/chart" uri="{C3380CC4-5D6E-409C-BE32-E72D297353CC}">
              <c16:uniqueId val="{00000000-57D4-453A-B3A5-3A970B6EA919}"/>
            </c:ext>
          </c:extLst>
        </c:ser>
        <c:ser>
          <c:idx val="1"/>
          <c:order val="1"/>
          <c:tx>
            <c:strRef>
              <c:f>'Survey data'!$GB$66</c:f>
              <c:strCache>
                <c:ptCount val="1"/>
                <c:pt idx="0">
                  <c:v>Non-Chess Avg</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'Survey data'!$FZ$67:$FZ$69</c:f>
              <c:strCache>
                <c:ptCount val="3"/>
                <c:pt idx="0">
                  <c:v>Obvious phishing</c:v>
                </c:pt>
                <c:pt idx="1">
                  <c:v>Sophisticated Phishing</c:v>
                </c:pt>
                <c:pt idx="2">
                  <c:v>Legitimate</c:v>
                </c:pt>
              </c:strCache>
            </c:strRef>
          </c:cat>
          <c:val>
            <c:numRef>
              <c:f>'Survey data'!$GB$67:$GB$69</c:f>
              <c:numCache>
                <c:formatCode>0.00%</c:formatCode>
                <c:ptCount val="3"/>
                <c:pt idx="0">
                  <c:v>0.8928571428571429</c:v>
                </c:pt>
                <c:pt idx="1">
                  <c:v>0.72619047619047628</c:v>
                </c:pt>
                <c:pt idx="2">
                  <c:v>0.5714285714285714</c:v>
                </c:pt>
              </c:numCache>
            </c:numRef>
          </c:val>
          <c:extLst>
            <c:ext xmlns:c16="http://schemas.microsoft.com/office/drawing/2014/chart" uri="{C3380CC4-5D6E-409C-BE32-E72D297353CC}">
              <c16:uniqueId val="{00000001-57D4-453A-B3A5-3A970B6EA919}"/>
            </c:ext>
          </c:extLst>
        </c:ser>
        <c:dLbls>
          <c:showLegendKey val="0"/>
          <c:showVal val="0"/>
          <c:showCatName val="0"/>
          <c:showSerName val="0"/>
          <c:showPercent val="0"/>
          <c:showBubbleSize val="0"/>
        </c:dLbls>
        <c:gapWidth val="219"/>
        <c:overlap val="-27"/>
        <c:axId val="2053560399"/>
        <c:axId val="2053559439"/>
      </c:barChart>
      <c:catAx>
        <c:axId val="205356039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1" i="0" u="none" strike="noStrike" kern="1200" baseline="0">
                <a:solidFill>
                  <a:schemeClr val="tx1">
                    <a:lumMod val="65000"/>
                    <a:lumOff val="35000"/>
                  </a:schemeClr>
                </a:solidFill>
                <a:latin typeface="+mn-lt"/>
                <a:ea typeface="+mn-ea"/>
                <a:cs typeface="+mn-cs"/>
              </a:defRPr>
            </a:pPr>
            <a:endParaRPr lang="en-US"/>
          </a:p>
        </c:txPr>
        <c:crossAx val="2053559439"/>
        <c:crosses val="autoZero"/>
        <c:auto val="1"/>
        <c:lblAlgn val="ctr"/>
        <c:lblOffset val="100"/>
        <c:noMultiLvlLbl val="0"/>
      </c:catAx>
      <c:valAx>
        <c:axId val="2053559439"/>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crossAx val="2053560399"/>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AD5393-4181-447C-A346-803BCF52AA01}" type="doc">
      <dgm:prSet loTypeId="urn:microsoft.com/office/officeart/2005/8/layout/default" loCatId="list" qsTypeId="urn:microsoft.com/office/officeart/2005/8/quickstyle/simple5" qsCatId="simple" csTypeId="urn:microsoft.com/office/officeart/2005/8/colors/accent1_1" csCatId="accent1" phldr="1"/>
      <dgm:spPr/>
      <dgm:t>
        <a:bodyPr/>
        <a:lstStyle/>
        <a:p>
          <a:endParaRPr lang="en-US"/>
        </a:p>
      </dgm:t>
    </dgm:pt>
    <dgm:pt modelId="{4AFB62E1-B312-4400-B98F-9C4A8BD9613B}">
      <dgm:prSet/>
      <dgm:spPr/>
      <dgm:t>
        <a:bodyPr/>
        <a:lstStyle/>
        <a:p>
          <a:r>
            <a:rPr lang="en-IE" dirty="0"/>
            <a:t>Former Fraud Researcher</a:t>
          </a:r>
          <a:endParaRPr lang="en-US" dirty="0"/>
        </a:p>
      </dgm:t>
    </dgm:pt>
    <dgm:pt modelId="{E39CE524-F90C-46BA-BF5E-D27D1A3B27A2}" type="parTrans" cxnId="{F1878BCE-ED3E-42B5-9396-57281CDEF079}">
      <dgm:prSet/>
      <dgm:spPr/>
      <dgm:t>
        <a:bodyPr/>
        <a:lstStyle/>
        <a:p>
          <a:endParaRPr lang="en-US"/>
        </a:p>
      </dgm:t>
    </dgm:pt>
    <dgm:pt modelId="{99EBA692-26A8-4A13-9AD9-CBC70935BA30}" type="sibTrans" cxnId="{F1878BCE-ED3E-42B5-9396-57281CDEF079}">
      <dgm:prSet/>
      <dgm:spPr/>
      <dgm:t>
        <a:bodyPr/>
        <a:lstStyle/>
        <a:p>
          <a:endParaRPr lang="en-US"/>
        </a:p>
      </dgm:t>
    </dgm:pt>
    <dgm:pt modelId="{5E2E84B8-20AC-4162-AC60-EB4B73C6A57C}">
      <dgm:prSet/>
      <dgm:spPr/>
      <dgm:t>
        <a:bodyPr/>
        <a:lstStyle/>
        <a:p>
          <a:r>
            <a:rPr lang="en-IE" dirty="0"/>
            <a:t>Cybersecurity Researcher at MTU</a:t>
          </a:r>
          <a:endParaRPr lang="en-US" dirty="0"/>
        </a:p>
      </dgm:t>
    </dgm:pt>
    <dgm:pt modelId="{5922CC31-E52D-42C3-9417-CD85905716BD}" type="parTrans" cxnId="{5FFBBAD8-CBF6-4AA9-941B-7D67ECE8DA75}">
      <dgm:prSet/>
      <dgm:spPr/>
      <dgm:t>
        <a:bodyPr/>
        <a:lstStyle/>
        <a:p>
          <a:endParaRPr lang="en-US"/>
        </a:p>
      </dgm:t>
    </dgm:pt>
    <dgm:pt modelId="{033114E7-519E-4619-B453-E03053B16799}" type="sibTrans" cxnId="{5FFBBAD8-CBF6-4AA9-941B-7D67ECE8DA75}">
      <dgm:prSet/>
      <dgm:spPr/>
      <dgm:t>
        <a:bodyPr/>
        <a:lstStyle/>
        <a:p>
          <a:endParaRPr lang="en-US"/>
        </a:p>
      </dgm:t>
    </dgm:pt>
    <dgm:pt modelId="{202B7359-F51B-4978-8B6E-ED067BBBB03E}">
      <dgm:prSet/>
      <dgm:spPr/>
      <dgm:t>
        <a:bodyPr/>
        <a:lstStyle/>
        <a:p>
          <a:r>
            <a:rPr lang="en-IE"/>
            <a:t>BA Psychology</a:t>
          </a:r>
          <a:endParaRPr lang="en-US"/>
        </a:p>
      </dgm:t>
    </dgm:pt>
    <dgm:pt modelId="{9A23DE8B-C47F-42F7-8402-F7C2FEAD4152}" type="parTrans" cxnId="{67290A75-6BE6-43C9-A9B1-B2299C1B7F8A}">
      <dgm:prSet/>
      <dgm:spPr/>
      <dgm:t>
        <a:bodyPr/>
        <a:lstStyle/>
        <a:p>
          <a:endParaRPr lang="en-US"/>
        </a:p>
      </dgm:t>
    </dgm:pt>
    <dgm:pt modelId="{818C3BCC-9923-4746-81E9-140E482C6CEA}" type="sibTrans" cxnId="{67290A75-6BE6-43C9-A9B1-B2299C1B7F8A}">
      <dgm:prSet/>
      <dgm:spPr/>
      <dgm:t>
        <a:bodyPr/>
        <a:lstStyle/>
        <a:p>
          <a:endParaRPr lang="en-US"/>
        </a:p>
      </dgm:t>
    </dgm:pt>
    <dgm:pt modelId="{5B512616-C074-400E-8410-1A5C58EEFF5F}">
      <dgm:prSet/>
      <dgm:spPr/>
      <dgm:t>
        <a:bodyPr/>
        <a:lstStyle/>
        <a:p>
          <a:r>
            <a:rPr lang="en-IE"/>
            <a:t>BSc IT Management</a:t>
          </a:r>
          <a:endParaRPr lang="en-US"/>
        </a:p>
      </dgm:t>
    </dgm:pt>
    <dgm:pt modelId="{41E29ACF-06BB-4D24-A100-35E360F1F569}" type="parTrans" cxnId="{BE8A7381-9E66-45E5-B1A8-C07FB868CBC4}">
      <dgm:prSet/>
      <dgm:spPr/>
      <dgm:t>
        <a:bodyPr/>
        <a:lstStyle/>
        <a:p>
          <a:endParaRPr lang="en-US"/>
        </a:p>
      </dgm:t>
    </dgm:pt>
    <dgm:pt modelId="{14DD04D3-2EC4-47CE-A469-EAEB21E44BF5}" type="sibTrans" cxnId="{BE8A7381-9E66-45E5-B1A8-C07FB868CBC4}">
      <dgm:prSet/>
      <dgm:spPr/>
      <dgm:t>
        <a:bodyPr/>
        <a:lstStyle/>
        <a:p>
          <a:endParaRPr lang="en-US"/>
        </a:p>
      </dgm:t>
    </dgm:pt>
    <dgm:pt modelId="{D749D1E2-DC07-4FA8-AD48-CAC322C2AE41}">
      <dgm:prSet/>
      <dgm:spPr/>
      <dgm:t>
        <a:bodyPr/>
        <a:lstStyle/>
        <a:p>
          <a:r>
            <a:rPr lang="en-IE" dirty="0" err="1"/>
            <a:t>PgDip</a:t>
          </a:r>
          <a:r>
            <a:rPr lang="en-IE" dirty="0"/>
            <a:t> Cybersecurity</a:t>
          </a:r>
        </a:p>
      </dgm:t>
    </dgm:pt>
    <dgm:pt modelId="{EA7C2475-5DE2-4BD9-A431-EAB595C9126A}" type="parTrans" cxnId="{4183C329-8B53-4C09-8564-845EF0A8F9F6}">
      <dgm:prSet/>
      <dgm:spPr/>
      <dgm:t>
        <a:bodyPr/>
        <a:lstStyle/>
        <a:p>
          <a:endParaRPr lang="en-US"/>
        </a:p>
      </dgm:t>
    </dgm:pt>
    <dgm:pt modelId="{62E08C64-2286-4A6F-981B-B5BC5A50DEE1}" type="sibTrans" cxnId="{4183C329-8B53-4C09-8564-845EF0A8F9F6}">
      <dgm:prSet/>
      <dgm:spPr/>
      <dgm:t>
        <a:bodyPr/>
        <a:lstStyle/>
        <a:p>
          <a:endParaRPr lang="en-US"/>
        </a:p>
      </dgm:t>
    </dgm:pt>
    <dgm:pt modelId="{67BE7AEA-812A-4B88-ABCE-C388D84149E9}">
      <dgm:prSet/>
      <dgm:spPr/>
      <dgm:t>
        <a:bodyPr/>
        <a:lstStyle/>
        <a:p>
          <a:r>
            <a:rPr lang="en-IE" dirty="0"/>
            <a:t>Upcoming PhD Student</a:t>
          </a:r>
        </a:p>
      </dgm:t>
    </dgm:pt>
    <dgm:pt modelId="{40C484DE-15FB-4BF4-B242-C566AA947295}" type="parTrans" cxnId="{0472796D-AD33-4A39-BB39-1EA4B8FA6356}">
      <dgm:prSet/>
      <dgm:spPr/>
      <dgm:t>
        <a:bodyPr/>
        <a:lstStyle/>
        <a:p>
          <a:endParaRPr lang="en-IE"/>
        </a:p>
      </dgm:t>
    </dgm:pt>
    <dgm:pt modelId="{F0919DBE-09A4-4C67-AF85-B2A0E9F53D77}" type="sibTrans" cxnId="{0472796D-AD33-4A39-BB39-1EA4B8FA6356}">
      <dgm:prSet/>
      <dgm:spPr/>
      <dgm:t>
        <a:bodyPr/>
        <a:lstStyle/>
        <a:p>
          <a:endParaRPr lang="en-IE"/>
        </a:p>
      </dgm:t>
    </dgm:pt>
    <dgm:pt modelId="{32C52CE0-EE91-40A4-B10C-48DF5117C23A}" type="pres">
      <dgm:prSet presAssocID="{8BAD5393-4181-447C-A346-803BCF52AA01}" presName="diagram" presStyleCnt="0">
        <dgm:presLayoutVars>
          <dgm:dir/>
          <dgm:resizeHandles val="exact"/>
        </dgm:presLayoutVars>
      </dgm:prSet>
      <dgm:spPr/>
    </dgm:pt>
    <dgm:pt modelId="{53D36948-677F-482A-9742-F76B71EF9BEC}" type="pres">
      <dgm:prSet presAssocID="{4AFB62E1-B312-4400-B98F-9C4A8BD9613B}" presName="node" presStyleLbl="node1" presStyleIdx="0" presStyleCnt="6">
        <dgm:presLayoutVars>
          <dgm:bulletEnabled val="1"/>
        </dgm:presLayoutVars>
      </dgm:prSet>
      <dgm:spPr/>
    </dgm:pt>
    <dgm:pt modelId="{4F172FBF-3E16-457C-9A76-8E38C9F3E834}" type="pres">
      <dgm:prSet presAssocID="{99EBA692-26A8-4A13-9AD9-CBC70935BA30}" presName="sibTrans" presStyleCnt="0"/>
      <dgm:spPr/>
    </dgm:pt>
    <dgm:pt modelId="{08866948-7A6F-4F0F-B8A3-339315FEEF85}" type="pres">
      <dgm:prSet presAssocID="{5E2E84B8-20AC-4162-AC60-EB4B73C6A57C}" presName="node" presStyleLbl="node1" presStyleIdx="1" presStyleCnt="6">
        <dgm:presLayoutVars>
          <dgm:bulletEnabled val="1"/>
        </dgm:presLayoutVars>
      </dgm:prSet>
      <dgm:spPr/>
    </dgm:pt>
    <dgm:pt modelId="{4B30D555-A15C-44F4-B660-52DBDA494BCA}" type="pres">
      <dgm:prSet presAssocID="{033114E7-519E-4619-B453-E03053B16799}" presName="sibTrans" presStyleCnt="0"/>
      <dgm:spPr/>
    </dgm:pt>
    <dgm:pt modelId="{113CB523-A28F-47E7-9A13-25D5036A078F}" type="pres">
      <dgm:prSet presAssocID="{202B7359-F51B-4978-8B6E-ED067BBBB03E}" presName="node" presStyleLbl="node1" presStyleIdx="2" presStyleCnt="6">
        <dgm:presLayoutVars>
          <dgm:bulletEnabled val="1"/>
        </dgm:presLayoutVars>
      </dgm:prSet>
      <dgm:spPr/>
    </dgm:pt>
    <dgm:pt modelId="{81E9F7C1-F19E-4748-A974-A1C8D57BBA98}" type="pres">
      <dgm:prSet presAssocID="{818C3BCC-9923-4746-81E9-140E482C6CEA}" presName="sibTrans" presStyleCnt="0"/>
      <dgm:spPr/>
    </dgm:pt>
    <dgm:pt modelId="{45DB8A57-58B5-4ECE-9789-957F65EAE5A0}" type="pres">
      <dgm:prSet presAssocID="{5B512616-C074-400E-8410-1A5C58EEFF5F}" presName="node" presStyleLbl="node1" presStyleIdx="3" presStyleCnt="6">
        <dgm:presLayoutVars>
          <dgm:bulletEnabled val="1"/>
        </dgm:presLayoutVars>
      </dgm:prSet>
      <dgm:spPr/>
    </dgm:pt>
    <dgm:pt modelId="{78754AA6-489B-4E8C-9836-C928BC05E190}" type="pres">
      <dgm:prSet presAssocID="{14DD04D3-2EC4-47CE-A469-EAEB21E44BF5}" presName="sibTrans" presStyleCnt="0"/>
      <dgm:spPr/>
    </dgm:pt>
    <dgm:pt modelId="{FFFC1E4A-7391-4F25-ABE1-3663FC2EDE04}" type="pres">
      <dgm:prSet presAssocID="{D749D1E2-DC07-4FA8-AD48-CAC322C2AE41}" presName="node" presStyleLbl="node1" presStyleIdx="4" presStyleCnt="6">
        <dgm:presLayoutVars>
          <dgm:bulletEnabled val="1"/>
        </dgm:presLayoutVars>
      </dgm:prSet>
      <dgm:spPr/>
    </dgm:pt>
    <dgm:pt modelId="{63520D7F-B5AF-43BE-A01F-DD98E14DAC5E}" type="pres">
      <dgm:prSet presAssocID="{62E08C64-2286-4A6F-981B-B5BC5A50DEE1}" presName="sibTrans" presStyleCnt="0"/>
      <dgm:spPr/>
    </dgm:pt>
    <dgm:pt modelId="{2CED6A79-59A3-483D-AD12-F782FC6C3A2D}" type="pres">
      <dgm:prSet presAssocID="{67BE7AEA-812A-4B88-ABCE-C388D84149E9}" presName="node" presStyleLbl="node1" presStyleIdx="5" presStyleCnt="6">
        <dgm:presLayoutVars>
          <dgm:bulletEnabled val="1"/>
        </dgm:presLayoutVars>
      </dgm:prSet>
      <dgm:spPr/>
    </dgm:pt>
  </dgm:ptLst>
  <dgm:cxnLst>
    <dgm:cxn modelId="{11D99810-6DF3-4072-8E48-B9D1D10C107E}" type="presOf" srcId="{67BE7AEA-812A-4B88-ABCE-C388D84149E9}" destId="{2CED6A79-59A3-483D-AD12-F782FC6C3A2D}" srcOrd="0" destOrd="0" presId="urn:microsoft.com/office/officeart/2005/8/layout/default"/>
    <dgm:cxn modelId="{000BBE1E-E95D-4E39-BE08-2EA21110829D}" type="presOf" srcId="{8BAD5393-4181-447C-A346-803BCF52AA01}" destId="{32C52CE0-EE91-40A4-B10C-48DF5117C23A}" srcOrd="0" destOrd="0" presId="urn:microsoft.com/office/officeart/2005/8/layout/default"/>
    <dgm:cxn modelId="{4183C329-8B53-4C09-8564-845EF0A8F9F6}" srcId="{8BAD5393-4181-447C-A346-803BCF52AA01}" destId="{D749D1E2-DC07-4FA8-AD48-CAC322C2AE41}" srcOrd="4" destOrd="0" parTransId="{EA7C2475-5DE2-4BD9-A431-EAB595C9126A}" sibTransId="{62E08C64-2286-4A6F-981B-B5BC5A50DEE1}"/>
    <dgm:cxn modelId="{EE19163F-F853-4CF3-9769-1C8EC2C9623D}" type="presOf" srcId="{D749D1E2-DC07-4FA8-AD48-CAC322C2AE41}" destId="{FFFC1E4A-7391-4F25-ABE1-3663FC2EDE04}" srcOrd="0" destOrd="0" presId="urn:microsoft.com/office/officeart/2005/8/layout/default"/>
    <dgm:cxn modelId="{4656856B-A48A-4D6A-B238-3CACA6580702}" type="presOf" srcId="{202B7359-F51B-4978-8B6E-ED067BBBB03E}" destId="{113CB523-A28F-47E7-9A13-25D5036A078F}" srcOrd="0" destOrd="0" presId="urn:microsoft.com/office/officeart/2005/8/layout/default"/>
    <dgm:cxn modelId="{0472796D-AD33-4A39-BB39-1EA4B8FA6356}" srcId="{8BAD5393-4181-447C-A346-803BCF52AA01}" destId="{67BE7AEA-812A-4B88-ABCE-C388D84149E9}" srcOrd="5" destOrd="0" parTransId="{40C484DE-15FB-4BF4-B242-C566AA947295}" sibTransId="{F0919DBE-09A4-4C67-AF85-B2A0E9F53D77}"/>
    <dgm:cxn modelId="{67290A75-6BE6-43C9-A9B1-B2299C1B7F8A}" srcId="{8BAD5393-4181-447C-A346-803BCF52AA01}" destId="{202B7359-F51B-4978-8B6E-ED067BBBB03E}" srcOrd="2" destOrd="0" parTransId="{9A23DE8B-C47F-42F7-8402-F7C2FEAD4152}" sibTransId="{818C3BCC-9923-4746-81E9-140E482C6CEA}"/>
    <dgm:cxn modelId="{BE8A7381-9E66-45E5-B1A8-C07FB868CBC4}" srcId="{8BAD5393-4181-447C-A346-803BCF52AA01}" destId="{5B512616-C074-400E-8410-1A5C58EEFF5F}" srcOrd="3" destOrd="0" parTransId="{41E29ACF-06BB-4D24-A100-35E360F1F569}" sibTransId="{14DD04D3-2EC4-47CE-A469-EAEB21E44BF5}"/>
    <dgm:cxn modelId="{51707190-4EFB-4651-A062-78B525FC6C26}" type="presOf" srcId="{5E2E84B8-20AC-4162-AC60-EB4B73C6A57C}" destId="{08866948-7A6F-4F0F-B8A3-339315FEEF85}" srcOrd="0" destOrd="0" presId="urn:microsoft.com/office/officeart/2005/8/layout/default"/>
    <dgm:cxn modelId="{9E32159C-7B48-41AA-BB04-FF2C464D3FAA}" type="presOf" srcId="{4AFB62E1-B312-4400-B98F-9C4A8BD9613B}" destId="{53D36948-677F-482A-9742-F76B71EF9BEC}" srcOrd="0" destOrd="0" presId="urn:microsoft.com/office/officeart/2005/8/layout/default"/>
    <dgm:cxn modelId="{F1878BCE-ED3E-42B5-9396-57281CDEF079}" srcId="{8BAD5393-4181-447C-A346-803BCF52AA01}" destId="{4AFB62E1-B312-4400-B98F-9C4A8BD9613B}" srcOrd="0" destOrd="0" parTransId="{E39CE524-F90C-46BA-BF5E-D27D1A3B27A2}" sibTransId="{99EBA692-26A8-4A13-9AD9-CBC70935BA30}"/>
    <dgm:cxn modelId="{5FFBBAD8-CBF6-4AA9-941B-7D67ECE8DA75}" srcId="{8BAD5393-4181-447C-A346-803BCF52AA01}" destId="{5E2E84B8-20AC-4162-AC60-EB4B73C6A57C}" srcOrd="1" destOrd="0" parTransId="{5922CC31-E52D-42C3-9417-CD85905716BD}" sibTransId="{033114E7-519E-4619-B453-E03053B16799}"/>
    <dgm:cxn modelId="{1F6F7CEA-DE16-4CE3-AEB7-4AAA3B96B852}" type="presOf" srcId="{5B512616-C074-400E-8410-1A5C58EEFF5F}" destId="{45DB8A57-58B5-4ECE-9789-957F65EAE5A0}" srcOrd="0" destOrd="0" presId="urn:microsoft.com/office/officeart/2005/8/layout/default"/>
    <dgm:cxn modelId="{7DDAABFA-9187-4C74-A4B3-AF6F115F89ED}" type="presParOf" srcId="{32C52CE0-EE91-40A4-B10C-48DF5117C23A}" destId="{53D36948-677F-482A-9742-F76B71EF9BEC}" srcOrd="0" destOrd="0" presId="urn:microsoft.com/office/officeart/2005/8/layout/default"/>
    <dgm:cxn modelId="{B4EA398D-45AE-4503-A362-7A22A043F6B8}" type="presParOf" srcId="{32C52CE0-EE91-40A4-B10C-48DF5117C23A}" destId="{4F172FBF-3E16-457C-9A76-8E38C9F3E834}" srcOrd="1" destOrd="0" presId="urn:microsoft.com/office/officeart/2005/8/layout/default"/>
    <dgm:cxn modelId="{A1CB5584-EAE2-419B-A235-92936DD73E79}" type="presParOf" srcId="{32C52CE0-EE91-40A4-B10C-48DF5117C23A}" destId="{08866948-7A6F-4F0F-B8A3-339315FEEF85}" srcOrd="2" destOrd="0" presId="urn:microsoft.com/office/officeart/2005/8/layout/default"/>
    <dgm:cxn modelId="{39466835-64DE-4CFD-860E-79EF1AFB0076}" type="presParOf" srcId="{32C52CE0-EE91-40A4-B10C-48DF5117C23A}" destId="{4B30D555-A15C-44F4-B660-52DBDA494BCA}" srcOrd="3" destOrd="0" presId="urn:microsoft.com/office/officeart/2005/8/layout/default"/>
    <dgm:cxn modelId="{45F5BA0C-58FA-4C04-8405-D882516A2214}" type="presParOf" srcId="{32C52CE0-EE91-40A4-B10C-48DF5117C23A}" destId="{113CB523-A28F-47E7-9A13-25D5036A078F}" srcOrd="4" destOrd="0" presId="urn:microsoft.com/office/officeart/2005/8/layout/default"/>
    <dgm:cxn modelId="{E9493C91-CBCE-4F45-B48E-A9D9C2BA20F9}" type="presParOf" srcId="{32C52CE0-EE91-40A4-B10C-48DF5117C23A}" destId="{81E9F7C1-F19E-4748-A974-A1C8D57BBA98}" srcOrd="5" destOrd="0" presId="urn:microsoft.com/office/officeart/2005/8/layout/default"/>
    <dgm:cxn modelId="{82A50064-5EB6-476E-9F67-C4F41AD22DDE}" type="presParOf" srcId="{32C52CE0-EE91-40A4-B10C-48DF5117C23A}" destId="{45DB8A57-58B5-4ECE-9789-957F65EAE5A0}" srcOrd="6" destOrd="0" presId="urn:microsoft.com/office/officeart/2005/8/layout/default"/>
    <dgm:cxn modelId="{30FD728E-9E57-46DE-ABBE-4310659A308A}" type="presParOf" srcId="{32C52CE0-EE91-40A4-B10C-48DF5117C23A}" destId="{78754AA6-489B-4E8C-9836-C928BC05E190}" srcOrd="7" destOrd="0" presId="urn:microsoft.com/office/officeart/2005/8/layout/default"/>
    <dgm:cxn modelId="{AD514A7F-9CB9-4380-879F-254026236865}" type="presParOf" srcId="{32C52CE0-EE91-40A4-B10C-48DF5117C23A}" destId="{FFFC1E4A-7391-4F25-ABE1-3663FC2EDE04}" srcOrd="8" destOrd="0" presId="urn:microsoft.com/office/officeart/2005/8/layout/default"/>
    <dgm:cxn modelId="{94DCEE0D-19BD-46F5-B141-534E7B20A5DB}" type="presParOf" srcId="{32C52CE0-EE91-40A4-B10C-48DF5117C23A}" destId="{63520D7F-B5AF-43BE-A01F-DD98E14DAC5E}" srcOrd="9" destOrd="0" presId="urn:microsoft.com/office/officeart/2005/8/layout/default"/>
    <dgm:cxn modelId="{99C576B9-B887-43F4-A42A-899109F64F0B}" type="presParOf" srcId="{32C52CE0-EE91-40A4-B10C-48DF5117C23A}" destId="{2CED6A79-59A3-483D-AD12-F782FC6C3A2D}"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AD5393-4181-447C-A346-803BCF52AA01}" type="doc">
      <dgm:prSet loTypeId="urn:microsoft.com/office/officeart/2005/8/layout/default" loCatId="list" qsTypeId="urn:microsoft.com/office/officeart/2005/8/quickstyle/simple5" qsCatId="simple" csTypeId="urn:microsoft.com/office/officeart/2005/8/colors/accent0_1" csCatId="mainScheme" phldr="1"/>
      <dgm:spPr/>
      <dgm:t>
        <a:bodyPr/>
        <a:lstStyle/>
        <a:p>
          <a:endParaRPr lang="en-US"/>
        </a:p>
      </dgm:t>
    </dgm:pt>
    <dgm:pt modelId="{4AFB62E1-B312-4400-B98F-9C4A8BD9613B}">
      <dgm:prSet custT="1"/>
      <dgm:spPr/>
      <dgm:t>
        <a:bodyPr/>
        <a:lstStyle/>
        <a:p>
          <a:r>
            <a:rPr lang="en-US" sz="1400" dirty="0"/>
            <a:t>Chess FIDE Master</a:t>
          </a:r>
        </a:p>
      </dgm:t>
    </dgm:pt>
    <dgm:pt modelId="{E39CE524-F90C-46BA-BF5E-D27D1A3B27A2}" type="parTrans" cxnId="{F1878BCE-ED3E-42B5-9396-57281CDEF079}">
      <dgm:prSet/>
      <dgm:spPr/>
      <dgm:t>
        <a:bodyPr/>
        <a:lstStyle/>
        <a:p>
          <a:endParaRPr lang="en-US" sz="1800"/>
        </a:p>
      </dgm:t>
    </dgm:pt>
    <dgm:pt modelId="{99EBA692-26A8-4A13-9AD9-CBC70935BA30}" type="sibTrans" cxnId="{F1878BCE-ED3E-42B5-9396-57281CDEF079}">
      <dgm:prSet/>
      <dgm:spPr/>
      <dgm:t>
        <a:bodyPr/>
        <a:lstStyle/>
        <a:p>
          <a:endParaRPr lang="en-US" sz="1800"/>
        </a:p>
      </dgm:t>
    </dgm:pt>
    <dgm:pt modelId="{5E2E84B8-20AC-4162-AC60-EB4B73C6A57C}">
      <dgm:prSet custT="1"/>
      <dgm:spPr/>
      <dgm:t>
        <a:bodyPr/>
        <a:lstStyle/>
        <a:p>
          <a:r>
            <a:rPr lang="en-US" sz="1400"/>
            <a:t>Former European Junior Champion</a:t>
          </a:r>
        </a:p>
      </dgm:t>
    </dgm:pt>
    <dgm:pt modelId="{5922CC31-E52D-42C3-9417-CD85905716BD}" type="parTrans" cxnId="{5FFBBAD8-CBF6-4AA9-941B-7D67ECE8DA75}">
      <dgm:prSet/>
      <dgm:spPr/>
      <dgm:t>
        <a:bodyPr/>
        <a:lstStyle/>
        <a:p>
          <a:endParaRPr lang="en-US" sz="1800"/>
        </a:p>
      </dgm:t>
    </dgm:pt>
    <dgm:pt modelId="{033114E7-519E-4619-B453-E03053B16799}" type="sibTrans" cxnId="{5FFBBAD8-CBF6-4AA9-941B-7D67ECE8DA75}">
      <dgm:prSet/>
      <dgm:spPr/>
      <dgm:t>
        <a:bodyPr/>
        <a:lstStyle/>
        <a:p>
          <a:endParaRPr lang="en-US" sz="1800"/>
        </a:p>
      </dgm:t>
    </dgm:pt>
    <dgm:pt modelId="{202B7359-F51B-4978-8B6E-ED067BBBB03E}">
      <dgm:prSet custT="1"/>
      <dgm:spPr/>
      <dgm:t>
        <a:bodyPr/>
        <a:lstStyle/>
        <a:p>
          <a:r>
            <a:rPr lang="en-IE" sz="1400" dirty="0"/>
            <a:t>10</a:t>
          </a:r>
          <a:r>
            <a:rPr lang="en-IE" sz="1400" baseline="30000" dirty="0"/>
            <a:t>th</a:t>
          </a:r>
          <a:r>
            <a:rPr lang="en-IE" sz="1400" dirty="0"/>
            <a:t> in the World at the WJCC 2015</a:t>
          </a:r>
          <a:endParaRPr lang="en-US" sz="1400" dirty="0"/>
        </a:p>
      </dgm:t>
    </dgm:pt>
    <dgm:pt modelId="{9A23DE8B-C47F-42F7-8402-F7C2FEAD4152}" type="parTrans" cxnId="{67290A75-6BE6-43C9-A9B1-B2299C1B7F8A}">
      <dgm:prSet/>
      <dgm:spPr/>
      <dgm:t>
        <a:bodyPr/>
        <a:lstStyle/>
        <a:p>
          <a:endParaRPr lang="en-US" sz="1800"/>
        </a:p>
      </dgm:t>
    </dgm:pt>
    <dgm:pt modelId="{818C3BCC-9923-4746-81E9-140E482C6CEA}" type="sibTrans" cxnId="{67290A75-6BE6-43C9-A9B1-B2299C1B7F8A}">
      <dgm:prSet/>
      <dgm:spPr/>
      <dgm:t>
        <a:bodyPr/>
        <a:lstStyle/>
        <a:p>
          <a:endParaRPr lang="en-US" sz="1800"/>
        </a:p>
      </dgm:t>
    </dgm:pt>
    <dgm:pt modelId="{5B512616-C074-400E-8410-1A5C58EEFF5F}">
      <dgm:prSet custT="1"/>
      <dgm:spPr/>
      <dgm:t>
        <a:bodyPr/>
        <a:lstStyle/>
        <a:p>
          <a:r>
            <a:rPr lang="en-IE" sz="1400" dirty="0"/>
            <a:t>3x Irish Women’s Champion</a:t>
          </a:r>
          <a:endParaRPr lang="en-US" sz="1400" dirty="0"/>
        </a:p>
      </dgm:t>
    </dgm:pt>
    <dgm:pt modelId="{41E29ACF-06BB-4D24-A100-35E360F1F569}" type="parTrans" cxnId="{BE8A7381-9E66-45E5-B1A8-C07FB868CBC4}">
      <dgm:prSet/>
      <dgm:spPr/>
      <dgm:t>
        <a:bodyPr/>
        <a:lstStyle/>
        <a:p>
          <a:endParaRPr lang="en-US" sz="1800"/>
        </a:p>
      </dgm:t>
    </dgm:pt>
    <dgm:pt modelId="{14DD04D3-2EC4-47CE-A469-EAEB21E44BF5}" type="sibTrans" cxnId="{BE8A7381-9E66-45E5-B1A8-C07FB868CBC4}">
      <dgm:prSet/>
      <dgm:spPr/>
      <dgm:t>
        <a:bodyPr/>
        <a:lstStyle/>
        <a:p>
          <a:endParaRPr lang="en-US" sz="1800"/>
        </a:p>
      </dgm:t>
    </dgm:pt>
    <dgm:pt modelId="{B85047A3-FBD7-4B89-9F2E-6616CFC2F2DD}">
      <dgm:prSet custT="1"/>
      <dgm:spPr/>
      <dgm:t>
        <a:bodyPr/>
        <a:lstStyle/>
        <a:p>
          <a:r>
            <a:rPr lang="en-US" sz="1400" dirty="0"/>
            <a:t>Former Irish Women’s Olympic Team Captain</a:t>
          </a:r>
        </a:p>
      </dgm:t>
    </dgm:pt>
    <dgm:pt modelId="{DBBC9A79-68F6-4D4D-B0E1-107CBCAD16B7}" type="parTrans" cxnId="{8F8E081A-5487-444E-9CD5-09A50AEEAD14}">
      <dgm:prSet/>
      <dgm:spPr/>
      <dgm:t>
        <a:bodyPr/>
        <a:lstStyle/>
        <a:p>
          <a:endParaRPr lang="en-IE" sz="1800"/>
        </a:p>
      </dgm:t>
    </dgm:pt>
    <dgm:pt modelId="{4DBC89F5-0497-4961-9CB6-5047DD314252}" type="sibTrans" cxnId="{8F8E081A-5487-444E-9CD5-09A50AEEAD14}">
      <dgm:prSet/>
      <dgm:spPr/>
      <dgm:t>
        <a:bodyPr/>
        <a:lstStyle/>
        <a:p>
          <a:endParaRPr lang="en-IE" sz="1800"/>
        </a:p>
      </dgm:t>
    </dgm:pt>
    <dgm:pt modelId="{13EC1E7A-3115-4641-8033-CE5B89BC302A}">
      <dgm:prSet custT="1"/>
      <dgm:spPr/>
      <dgm:t>
        <a:bodyPr/>
        <a:lstStyle/>
        <a:p>
          <a:r>
            <a:rPr lang="en-US" sz="1400"/>
            <a:t>Irish National Junior Squad Coach</a:t>
          </a:r>
        </a:p>
      </dgm:t>
    </dgm:pt>
    <dgm:pt modelId="{A9FF076B-FAFF-4F1F-B240-4F5CF92D6034}" type="parTrans" cxnId="{E7CA6E7C-6F8F-4830-86C5-A0F53438C537}">
      <dgm:prSet/>
      <dgm:spPr/>
      <dgm:t>
        <a:bodyPr/>
        <a:lstStyle/>
        <a:p>
          <a:endParaRPr lang="en-IE" sz="1800"/>
        </a:p>
      </dgm:t>
    </dgm:pt>
    <dgm:pt modelId="{4F90DD93-FB04-4DE9-BB0C-E573D5EA2082}" type="sibTrans" cxnId="{E7CA6E7C-6F8F-4830-86C5-A0F53438C537}">
      <dgm:prSet/>
      <dgm:spPr/>
      <dgm:t>
        <a:bodyPr/>
        <a:lstStyle/>
        <a:p>
          <a:endParaRPr lang="en-IE" sz="1800"/>
        </a:p>
      </dgm:t>
    </dgm:pt>
    <dgm:pt modelId="{44ED85A6-540E-4045-908C-A1FAF7DF61C6}">
      <dgm:prSet custT="1"/>
      <dgm:spPr/>
      <dgm:t>
        <a:bodyPr/>
        <a:lstStyle/>
        <a:p>
          <a:r>
            <a:rPr lang="en-US" sz="1400"/>
            <a:t>Former Romanian Junior Champion (multiple)</a:t>
          </a:r>
          <a:endParaRPr lang="en-US" sz="1400" dirty="0"/>
        </a:p>
      </dgm:t>
    </dgm:pt>
    <dgm:pt modelId="{E650E621-C0CD-44B4-A8BB-3A8D770E66B0}" type="parTrans" cxnId="{BBBFD0E6-324B-4B77-B1C7-94CB46EB5B0D}">
      <dgm:prSet/>
      <dgm:spPr/>
      <dgm:t>
        <a:bodyPr/>
        <a:lstStyle/>
        <a:p>
          <a:endParaRPr lang="en-IE" sz="1800"/>
        </a:p>
      </dgm:t>
    </dgm:pt>
    <dgm:pt modelId="{8067BA1C-C2C1-40B8-93E3-8ABB0859A8C0}" type="sibTrans" cxnId="{BBBFD0E6-324B-4B77-B1C7-94CB46EB5B0D}">
      <dgm:prSet/>
      <dgm:spPr/>
      <dgm:t>
        <a:bodyPr/>
        <a:lstStyle/>
        <a:p>
          <a:endParaRPr lang="en-IE" sz="1800"/>
        </a:p>
      </dgm:t>
    </dgm:pt>
    <dgm:pt modelId="{607C7C0A-3B2B-46BE-878D-3A0918BAECD7}">
      <dgm:prSet custT="1"/>
      <dgm:spPr/>
      <dgm:t>
        <a:bodyPr/>
        <a:lstStyle/>
        <a:p>
          <a:r>
            <a:rPr lang="en-US" sz="1400"/>
            <a:t>Limerick Open Winner</a:t>
          </a:r>
          <a:endParaRPr lang="en-US" sz="1400" dirty="0"/>
        </a:p>
      </dgm:t>
    </dgm:pt>
    <dgm:pt modelId="{C1707D58-68E2-40CA-A6CE-E43F5AE491CD}" type="parTrans" cxnId="{2CB6A78D-99FC-46ED-A24C-82D1027B4C33}">
      <dgm:prSet/>
      <dgm:spPr/>
      <dgm:t>
        <a:bodyPr/>
        <a:lstStyle/>
        <a:p>
          <a:endParaRPr lang="en-IE" sz="1800"/>
        </a:p>
      </dgm:t>
    </dgm:pt>
    <dgm:pt modelId="{D58A0731-0B28-4920-9482-058A31545264}" type="sibTrans" cxnId="{2CB6A78D-99FC-46ED-A24C-82D1027B4C33}">
      <dgm:prSet/>
      <dgm:spPr/>
    </dgm:pt>
    <dgm:pt modelId="{8700A8C1-2345-4726-8A7A-146CE76D8FA7}">
      <dgm:prSet custT="1"/>
      <dgm:spPr/>
      <dgm:t>
        <a:bodyPr/>
        <a:lstStyle/>
        <a:p>
          <a:r>
            <a:rPr lang="en-US" sz="1400"/>
            <a:t>City Of Dublin Masters Open Runner-Up</a:t>
          </a:r>
          <a:endParaRPr lang="en-US" sz="1400" dirty="0"/>
        </a:p>
      </dgm:t>
    </dgm:pt>
    <dgm:pt modelId="{A16D36E4-CF7E-4B31-8527-0D860C5089CC}" type="parTrans" cxnId="{CC65E6F3-D622-444B-94C2-E0659C805DD0}">
      <dgm:prSet/>
      <dgm:spPr/>
      <dgm:t>
        <a:bodyPr/>
        <a:lstStyle/>
        <a:p>
          <a:endParaRPr lang="en-IE" sz="1800"/>
        </a:p>
      </dgm:t>
    </dgm:pt>
    <dgm:pt modelId="{4F289CEC-7D77-414D-B0B8-8D566AA5E1EE}" type="sibTrans" cxnId="{CC65E6F3-D622-444B-94C2-E0659C805DD0}">
      <dgm:prSet/>
      <dgm:spPr/>
    </dgm:pt>
    <dgm:pt modelId="{B980ACDC-B5DE-4186-AD99-70470951BB3C}" type="pres">
      <dgm:prSet presAssocID="{8BAD5393-4181-447C-A346-803BCF52AA01}" presName="diagram" presStyleCnt="0">
        <dgm:presLayoutVars>
          <dgm:dir/>
          <dgm:resizeHandles val="exact"/>
        </dgm:presLayoutVars>
      </dgm:prSet>
      <dgm:spPr/>
    </dgm:pt>
    <dgm:pt modelId="{A3B55D70-59FE-4330-BEEB-28CC3E852E31}" type="pres">
      <dgm:prSet presAssocID="{4AFB62E1-B312-4400-B98F-9C4A8BD9613B}" presName="node" presStyleLbl="node1" presStyleIdx="0" presStyleCnt="9">
        <dgm:presLayoutVars>
          <dgm:bulletEnabled val="1"/>
        </dgm:presLayoutVars>
      </dgm:prSet>
      <dgm:spPr/>
    </dgm:pt>
    <dgm:pt modelId="{713576C7-960B-4A31-8F1C-D08356557B18}" type="pres">
      <dgm:prSet presAssocID="{99EBA692-26A8-4A13-9AD9-CBC70935BA30}" presName="sibTrans" presStyleCnt="0"/>
      <dgm:spPr/>
    </dgm:pt>
    <dgm:pt modelId="{062F9BD6-CF5D-4C9B-88FB-6DDEB28E450D}" type="pres">
      <dgm:prSet presAssocID="{44ED85A6-540E-4045-908C-A1FAF7DF61C6}" presName="node" presStyleLbl="node1" presStyleIdx="1" presStyleCnt="9">
        <dgm:presLayoutVars>
          <dgm:bulletEnabled val="1"/>
        </dgm:presLayoutVars>
      </dgm:prSet>
      <dgm:spPr/>
    </dgm:pt>
    <dgm:pt modelId="{CFAA7478-DDCC-4259-A541-316238A42CD5}" type="pres">
      <dgm:prSet presAssocID="{8067BA1C-C2C1-40B8-93E3-8ABB0859A8C0}" presName="sibTrans" presStyleCnt="0"/>
      <dgm:spPr/>
    </dgm:pt>
    <dgm:pt modelId="{ED120A44-5D11-482A-A030-DC860E9AAD44}" type="pres">
      <dgm:prSet presAssocID="{5E2E84B8-20AC-4162-AC60-EB4B73C6A57C}" presName="node" presStyleLbl="node1" presStyleIdx="2" presStyleCnt="9">
        <dgm:presLayoutVars>
          <dgm:bulletEnabled val="1"/>
        </dgm:presLayoutVars>
      </dgm:prSet>
      <dgm:spPr/>
    </dgm:pt>
    <dgm:pt modelId="{21DC2A70-8DC1-415C-9D6D-802854AFC9B6}" type="pres">
      <dgm:prSet presAssocID="{033114E7-519E-4619-B453-E03053B16799}" presName="sibTrans" presStyleCnt="0"/>
      <dgm:spPr/>
    </dgm:pt>
    <dgm:pt modelId="{8285764B-825C-4A31-A233-E0E1F22B110C}" type="pres">
      <dgm:prSet presAssocID="{202B7359-F51B-4978-8B6E-ED067BBBB03E}" presName="node" presStyleLbl="node1" presStyleIdx="3" presStyleCnt="9">
        <dgm:presLayoutVars>
          <dgm:bulletEnabled val="1"/>
        </dgm:presLayoutVars>
      </dgm:prSet>
      <dgm:spPr/>
    </dgm:pt>
    <dgm:pt modelId="{0C702396-CA74-4773-A209-84195A4934E1}" type="pres">
      <dgm:prSet presAssocID="{818C3BCC-9923-4746-81E9-140E482C6CEA}" presName="sibTrans" presStyleCnt="0"/>
      <dgm:spPr/>
    </dgm:pt>
    <dgm:pt modelId="{69B8D3AF-3217-4C3B-8984-A2AC65771166}" type="pres">
      <dgm:prSet presAssocID="{5B512616-C074-400E-8410-1A5C58EEFF5F}" presName="node" presStyleLbl="node1" presStyleIdx="4" presStyleCnt="9">
        <dgm:presLayoutVars>
          <dgm:bulletEnabled val="1"/>
        </dgm:presLayoutVars>
      </dgm:prSet>
      <dgm:spPr/>
    </dgm:pt>
    <dgm:pt modelId="{964FD946-916B-47A2-9CED-73B0B7BA6B5A}" type="pres">
      <dgm:prSet presAssocID="{14DD04D3-2EC4-47CE-A469-EAEB21E44BF5}" presName="sibTrans" presStyleCnt="0"/>
      <dgm:spPr/>
    </dgm:pt>
    <dgm:pt modelId="{13180C0E-21E0-4DB0-B12C-66918E13A78B}" type="pres">
      <dgm:prSet presAssocID="{607C7C0A-3B2B-46BE-878D-3A0918BAECD7}" presName="node" presStyleLbl="node1" presStyleIdx="5" presStyleCnt="9">
        <dgm:presLayoutVars>
          <dgm:bulletEnabled val="1"/>
        </dgm:presLayoutVars>
      </dgm:prSet>
      <dgm:spPr/>
    </dgm:pt>
    <dgm:pt modelId="{859821EE-41FA-49D0-ACCA-9A2BFC63FF37}" type="pres">
      <dgm:prSet presAssocID="{D58A0731-0B28-4920-9482-058A31545264}" presName="sibTrans" presStyleCnt="0"/>
      <dgm:spPr/>
    </dgm:pt>
    <dgm:pt modelId="{DAB66DF9-8A98-4DF0-B6E3-37F8F91D369A}" type="pres">
      <dgm:prSet presAssocID="{8700A8C1-2345-4726-8A7A-146CE76D8FA7}" presName="node" presStyleLbl="node1" presStyleIdx="6" presStyleCnt="9">
        <dgm:presLayoutVars>
          <dgm:bulletEnabled val="1"/>
        </dgm:presLayoutVars>
      </dgm:prSet>
      <dgm:spPr/>
    </dgm:pt>
    <dgm:pt modelId="{A836BCEF-5E94-4418-81A8-32B553EDD40D}" type="pres">
      <dgm:prSet presAssocID="{4F289CEC-7D77-414D-B0B8-8D566AA5E1EE}" presName="sibTrans" presStyleCnt="0"/>
      <dgm:spPr/>
    </dgm:pt>
    <dgm:pt modelId="{7B992008-E04E-408C-B27A-25B7AB8C06BD}" type="pres">
      <dgm:prSet presAssocID="{B85047A3-FBD7-4B89-9F2E-6616CFC2F2DD}" presName="node" presStyleLbl="node1" presStyleIdx="7" presStyleCnt="9">
        <dgm:presLayoutVars>
          <dgm:bulletEnabled val="1"/>
        </dgm:presLayoutVars>
      </dgm:prSet>
      <dgm:spPr/>
    </dgm:pt>
    <dgm:pt modelId="{15C1E59B-5328-4287-89A7-99CCBB9AB7E7}" type="pres">
      <dgm:prSet presAssocID="{4DBC89F5-0497-4961-9CB6-5047DD314252}" presName="sibTrans" presStyleCnt="0"/>
      <dgm:spPr/>
    </dgm:pt>
    <dgm:pt modelId="{3804B7AA-5ECC-4FB8-8800-A157F0E52F1A}" type="pres">
      <dgm:prSet presAssocID="{13EC1E7A-3115-4641-8033-CE5B89BC302A}" presName="node" presStyleLbl="node1" presStyleIdx="8" presStyleCnt="9">
        <dgm:presLayoutVars>
          <dgm:bulletEnabled val="1"/>
        </dgm:presLayoutVars>
      </dgm:prSet>
      <dgm:spPr/>
    </dgm:pt>
  </dgm:ptLst>
  <dgm:cxnLst>
    <dgm:cxn modelId="{8F8E081A-5487-444E-9CD5-09A50AEEAD14}" srcId="{8BAD5393-4181-447C-A346-803BCF52AA01}" destId="{B85047A3-FBD7-4B89-9F2E-6616CFC2F2DD}" srcOrd="7" destOrd="0" parTransId="{DBBC9A79-68F6-4D4D-B0E1-107CBCAD16B7}" sibTransId="{4DBC89F5-0497-4961-9CB6-5047DD314252}"/>
    <dgm:cxn modelId="{F1980C3E-9719-41F6-9405-B88A7ADC13E4}" type="presOf" srcId="{8BAD5393-4181-447C-A346-803BCF52AA01}" destId="{B980ACDC-B5DE-4186-AD99-70470951BB3C}" srcOrd="0" destOrd="0" presId="urn:microsoft.com/office/officeart/2005/8/layout/default"/>
    <dgm:cxn modelId="{3B2BC864-39A9-4B80-9904-9AEF378E22BF}" type="presOf" srcId="{4AFB62E1-B312-4400-B98F-9C4A8BD9613B}" destId="{A3B55D70-59FE-4330-BEEB-28CC3E852E31}" srcOrd="0" destOrd="0" presId="urn:microsoft.com/office/officeart/2005/8/layout/default"/>
    <dgm:cxn modelId="{8AD3F968-7B2A-4630-8D52-24924E6AAA4D}" type="presOf" srcId="{607C7C0A-3B2B-46BE-878D-3A0918BAECD7}" destId="{13180C0E-21E0-4DB0-B12C-66918E13A78B}" srcOrd="0" destOrd="0" presId="urn:microsoft.com/office/officeart/2005/8/layout/default"/>
    <dgm:cxn modelId="{D4B7F849-D7BD-4703-95BD-0F264784E10F}" type="presOf" srcId="{5B512616-C074-400E-8410-1A5C58EEFF5F}" destId="{69B8D3AF-3217-4C3B-8984-A2AC65771166}" srcOrd="0" destOrd="0" presId="urn:microsoft.com/office/officeart/2005/8/layout/default"/>
    <dgm:cxn modelId="{67290A75-6BE6-43C9-A9B1-B2299C1B7F8A}" srcId="{8BAD5393-4181-447C-A346-803BCF52AA01}" destId="{202B7359-F51B-4978-8B6E-ED067BBBB03E}" srcOrd="3" destOrd="0" parTransId="{9A23DE8B-C47F-42F7-8402-F7C2FEAD4152}" sibTransId="{818C3BCC-9923-4746-81E9-140E482C6CEA}"/>
    <dgm:cxn modelId="{E7CA6E7C-6F8F-4830-86C5-A0F53438C537}" srcId="{8BAD5393-4181-447C-A346-803BCF52AA01}" destId="{13EC1E7A-3115-4641-8033-CE5B89BC302A}" srcOrd="8" destOrd="0" parTransId="{A9FF076B-FAFF-4F1F-B240-4F5CF92D6034}" sibTransId="{4F90DD93-FB04-4DE9-BB0C-E573D5EA2082}"/>
    <dgm:cxn modelId="{BE8A7381-9E66-45E5-B1A8-C07FB868CBC4}" srcId="{8BAD5393-4181-447C-A346-803BCF52AA01}" destId="{5B512616-C074-400E-8410-1A5C58EEFF5F}" srcOrd="4" destOrd="0" parTransId="{41E29ACF-06BB-4D24-A100-35E360F1F569}" sibTransId="{14DD04D3-2EC4-47CE-A469-EAEB21E44BF5}"/>
    <dgm:cxn modelId="{2CB6A78D-99FC-46ED-A24C-82D1027B4C33}" srcId="{8BAD5393-4181-447C-A346-803BCF52AA01}" destId="{607C7C0A-3B2B-46BE-878D-3A0918BAECD7}" srcOrd="5" destOrd="0" parTransId="{C1707D58-68E2-40CA-A6CE-E43F5AE491CD}" sibTransId="{D58A0731-0B28-4920-9482-058A31545264}"/>
    <dgm:cxn modelId="{E5906697-BC3E-493D-BC05-9C27DED045AD}" type="presOf" srcId="{B85047A3-FBD7-4B89-9F2E-6616CFC2F2DD}" destId="{7B992008-E04E-408C-B27A-25B7AB8C06BD}" srcOrd="0" destOrd="0" presId="urn:microsoft.com/office/officeart/2005/8/layout/default"/>
    <dgm:cxn modelId="{66BFBEAE-95F0-4946-8C4B-9693EA638ED9}" type="presOf" srcId="{5E2E84B8-20AC-4162-AC60-EB4B73C6A57C}" destId="{ED120A44-5D11-482A-A030-DC860E9AAD44}" srcOrd="0" destOrd="0" presId="urn:microsoft.com/office/officeart/2005/8/layout/default"/>
    <dgm:cxn modelId="{C98D7DBA-5E93-46BD-B9C8-9D4A3F6EECF5}" type="presOf" srcId="{202B7359-F51B-4978-8B6E-ED067BBBB03E}" destId="{8285764B-825C-4A31-A233-E0E1F22B110C}" srcOrd="0" destOrd="0" presId="urn:microsoft.com/office/officeart/2005/8/layout/default"/>
    <dgm:cxn modelId="{B333A6BE-5EB4-407A-A0AA-CDA2E538D1C4}" type="presOf" srcId="{44ED85A6-540E-4045-908C-A1FAF7DF61C6}" destId="{062F9BD6-CF5D-4C9B-88FB-6DDEB28E450D}" srcOrd="0" destOrd="0" presId="urn:microsoft.com/office/officeart/2005/8/layout/default"/>
    <dgm:cxn modelId="{F1878BCE-ED3E-42B5-9396-57281CDEF079}" srcId="{8BAD5393-4181-447C-A346-803BCF52AA01}" destId="{4AFB62E1-B312-4400-B98F-9C4A8BD9613B}" srcOrd="0" destOrd="0" parTransId="{E39CE524-F90C-46BA-BF5E-D27D1A3B27A2}" sibTransId="{99EBA692-26A8-4A13-9AD9-CBC70935BA30}"/>
    <dgm:cxn modelId="{5FFBBAD8-CBF6-4AA9-941B-7D67ECE8DA75}" srcId="{8BAD5393-4181-447C-A346-803BCF52AA01}" destId="{5E2E84B8-20AC-4162-AC60-EB4B73C6A57C}" srcOrd="2" destOrd="0" parTransId="{5922CC31-E52D-42C3-9417-CD85905716BD}" sibTransId="{033114E7-519E-4619-B453-E03053B16799}"/>
    <dgm:cxn modelId="{35486EE3-9B22-4E89-9F28-542B7A7BAE67}" type="presOf" srcId="{13EC1E7A-3115-4641-8033-CE5B89BC302A}" destId="{3804B7AA-5ECC-4FB8-8800-A157F0E52F1A}" srcOrd="0" destOrd="0" presId="urn:microsoft.com/office/officeart/2005/8/layout/default"/>
    <dgm:cxn modelId="{4E0D4AE6-4593-45A2-9FBD-61E5386D8057}" type="presOf" srcId="{8700A8C1-2345-4726-8A7A-146CE76D8FA7}" destId="{DAB66DF9-8A98-4DF0-B6E3-37F8F91D369A}" srcOrd="0" destOrd="0" presId="urn:microsoft.com/office/officeart/2005/8/layout/default"/>
    <dgm:cxn modelId="{BBBFD0E6-324B-4B77-B1C7-94CB46EB5B0D}" srcId="{8BAD5393-4181-447C-A346-803BCF52AA01}" destId="{44ED85A6-540E-4045-908C-A1FAF7DF61C6}" srcOrd="1" destOrd="0" parTransId="{E650E621-C0CD-44B4-A8BB-3A8D770E66B0}" sibTransId="{8067BA1C-C2C1-40B8-93E3-8ABB0859A8C0}"/>
    <dgm:cxn modelId="{CC65E6F3-D622-444B-94C2-E0659C805DD0}" srcId="{8BAD5393-4181-447C-A346-803BCF52AA01}" destId="{8700A8C1-2345-4726-8A7A-146CE76D8FA7}" srcOrd="6" destOrd="0" parTransId="{A16D36E4-CF7E-4B31-8527-0D860C5089CC}" sibTransId="{4F289CEC-7D77-414D-B0B8-8D566AA5E1EE}"/>
    <dgm:cxn modelId="{2E9EC59B-EF86-4E7A-B349-162995CA6CEB}" type="presParOf" srcId="{B980ACDC-B5DE-4186-AD99-70470951BB3C}" destId="{A3B55D70-59FE-4330-BEEB-28CC3E852E31}" srcOrd="0" destOrd="0" presId="urn:microsoft.com/office/officeart/2005/8/layout/default"/>
    <dgm:cxn modelId="{27C9A89B-255C-4B7A-8125-0620810230A9}" type="presParOf" srcId="{B980ACDC-B5DE-4186-AD99-70470951BB3C}" destId="{713576C7-960B-4A31-8F1C-D08356557B18}" srcOrd="1" destOrd="0" presId="urn:microsoft.com/office/officeart/2005/8/layout/default"/>
    <dgm:cxn modelId="{1851830B-9729-4837-B522-4634F2CEA87D}" type="presParOf" srcId="{B980ACDC-B5DE-4186-AD99-70470951BB3C}" destId="{062F9BD6-CF5D-4C9B-88FB-6DDEB28E450D}" srcOrd="2" destOrd="0" presId="urn:microsoft.com/office/officeart/2005/8/layout/default"/>
    <dgm:cxn modelId="{4D53A845-560D-4281-92F0-FBCB3973EB94}" type="presParOf" srcId="{B980ACDC-B5DE-4186-AD99-70470951BB3C}" destId="{CFAA7478-DDCC-4259-A541-316238A42CD5}" srcOrd="3" destOrd="0" presId="urn:microsoft.com/office/officeart/2005/8/layout/default"/>
    <dgm:cxn modelId="{5EED2E5D-D36C-4132-89A7-77C86FCC5E92}" type="presParOf" srcId="{B980ACDC-B5DE-4186-AD99-70470951BB3C}" destId="{ED120A44-5D11-482A-A030-DC860E9AAD44}" srcOrd="4" destOrd="0" presId="urn:microsoft.com/office/officeart/2005/8/layout/default"/>
    <dgm:cxn modelId="{44ED6CBE-38A8-4749-9145-FE422E43A1CB}" type="presParOf" srcId="{B980ACDC-B5DE-4186-AD99-70470951BB3C}" destId="{21DC2A70-8DC1-415C-9D6D-802854AFC9B6}" srcOrd="5" destOrd="0" presId="urn:microsoft.com/office/officeart/2005/8/layout/default"/>
    <dgm:cxn modelId="{232FED04-517F-4A12-8503-D6B0252B1B27}" type="presParOf" srcId="{B980ACDC-B5DE-4186-AD99-70470951BB3C}" destId="{8285764B-825C-4A31-A233-E0E1F22B110C}" srcOrd="6" destOrd="0" presId="urn:microsoft.com/office/officeart/2005/8/layout/default"/>
    <dgm:cxn modelId="{61183B22-924B-4791-A835-6A0CBEC298EF}" type="presParOf" srcId="{B980ACDC-B5DE-4186-AD99-70470951BB3C}" destId="{0C702396-CA74-4773-A209-84195A4934E1}" srcOrd="7" destOrd="0" presId="urn:microsoft.com/office/officeart/2005/8/layout/default"/>
    <dgm:cxn modelId="{0A5BBB44-F195-40C2-B8E8-EA44FB563717}" type="presParOf" srcId="{B980ACDC-B5DE-4186-AD99-70470951BB3C}" destId="{69B8D3AF-3217-4C3B-8984-A2AC65771166}" srcOrd="8" destOrd="0" presId="urn:microsoft.com/office/officeart/2005/8/layout/default"/>
    <dgm:cxn modelId="{FCD81F9A-D805-466E-B127-28504F14DBF3}" type="presParOf" srcId="{B980ACDC-B5DE-4186-AD99-70470951BB3C}" destId="{964FD946-916B-47A2-9CED-73B0B7BA6B5A}" srcOrd="9" destOrd="0" presId="urn:microsoft.com/office/officeart/2005/8/layout/default"/>
    <dgm:cxn modelId="{8CF9A5C4-83A7-488F-8844-1F574D515572}" type="presParOf" srcId="{B980ACDC-B5DE-4186-AD99-70470951BB3C}" destId="{13180C0E-21E0-4DB0-B12C-66918E13A78B}" srcOrd="10" destOrd="0" presId="urn:microsoft.com/office/officeart/2005/8/layout/default"/>
    <dgm:cxn modelId="{F1F7EBE6-E9E1-4012-9F88-D8170F988E17}" type="presParOf" srcId="{B980ACDC-B5DE-4186-AD99-70470951BB3C}" destId="{859821EE-41FA-49D0-ACCA-9A2BFC63FF37}" srcOrd="11" destOrd="0" presId="urn:microsoft.com/office/officeart/2005/8/layout/default"/>
    <dgm:cxn modelId="{C7F0B5AB-EAA4-431A-8237-164C6CB400AF}" type="presParOf" srcId="{B980ACDC-B5DE-4186-AD99-70470951BB3C}" destId="{DAB66DF9-8A98-4DF0-B6E3-37F8F91D369A}" srcOrd="12" destOrd="0" presId="urn:microsoft.com/office/officeart/2005/8/layout/default"/>
    <dgm:cxn modelId="{81C31185-663A-4CA3-9A07-9D9E9A6E22C2}" type="presParOf" srcId="{B980ACDC-B5DE-4186-AD99-70470951BB3C}" destId="{A836BCEF-5E94-4418-81A8-32B553EDD40D}" srcOrd="13" destOrd="0" presId="urn:microsoft.com/office/officeart/2005/8/layout/default"/>
    <dgm:cxn modelId="{AD5EE61B-A5F7-454F-AE65-465007D6759C}" type="presParOf" srcId="{B980ACDC-B5DE-4186-AD99-70470951BB3C}" destId="{7B992008-E04E-408C-B27A-25B7AB8C06BD}" srcOrd="14" destOrd="0" presId="urn:microsoft.com/office/officeart/2005/8/layout/default"/>
    <dgm:cxn modelId="{8AADB2D6-735F-4ED7-B96E-3C7B0436F10A}" type="presParOf" srcId="{B980ACDC-B5DE-4186-AD99-70470951BB3C}" destId="{15C1E59B-5328-4287-89A7-99CCBB9AB7E7}" srcOrd="15" destOrd="0" presId="urn:microsoft.com/office/officeart/2005/8/layout/default"/>
    <dgm:cxn modelId="{C620578C-3F3B-4BBE-A9A1-09E1F38EC62E}" type="presParOf" srcId="{B980ACDC-B5DE-4186-AD99-70470951BB3C}" destId="{3804B7AA-5ECC-4FB8-8800-A157F0E52F1A}" srcOrd="16" destOrd="0" presId="urn:microsoft.com/office/officeart/2005/8/layout/defaul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53DE07-3E0D-4F23-BC49-B5BCE80AC6CA}" type="doc">
      <dgm:prSet loTypeId="urn:microsoft.com/office/officeart/2009/3/layout/OpposingIdeas" loCatId="relationship" qsTypeId="urn:microsoft.com/office/officeart/2005/8/quickstyle/simple1" qsCatId="simple" csTypeId="urn:microsoft.com/office/officeart/2005/8/colors/accent2_1" csCatId="accent2" phldr="1"/>
      <dgm:spPr/>
      <dgm:t>
        <a:bodyPr/>
        <a:lstStyle/>
        <a:p>
          <a:endParaRPr lang="en-IE"/>
        </a:p>
      </dgm:t>
    </dgm:pt>
    <dgm:pt modelId="{CDACC41B-FCFB-4C7E-98E1-1857ECB35FE4}">
      <dgm:prSet phldrT="[Text]"/>
      <dgm:spPr/>
      <dgm:t>
        <a:bodyPr/>
        <a:lstStyle/>
        <a:p>
          <a:r>
            <a:rPr lang="en-IE" dirty="0"/>
            <a:t>Chess</a:t>
          </a:r>
        </a:p>
      </dgm:t>
    </dgm:pt>
    <dgm:pt modelId="{D4F1E8BB-AD7D-4D48-A6CB-00A578E8FD91}" type="parTrans" cxnId="{E2136721-EF6F-4823-8E5B-37F40B00CAD1}">
      <dgm:prSet/>
      <dgm:spPr/>
      <dgm:t>
        <a:bodyPr/>
        <a:lstStyle/>
        <a:p>
          <a:endParaRPr lang="en-IE"/>
        </a:p>
      </dgm:t>
    </dgm:pt>
    <dgm:pt modelId="{3C4C5B33-60C5-4BF5-BC37-1DFB3607B04D}" type="sibTrans" cxnId="{E2136721-EF6F-4823-8E5B-37F40B00CAD1}">
      <dgm:prSet/>
      <dgm:spPr/>
      <dgm:t>
        <a:bodyPr/>
        <a:lstStyle/>
        <a:p>
          <a:endParaRPr lang="en-IE"/>
        </a:p>
      </dgm:t>
    </dgm:pt>
    <dgm:pt modelId="{49C40E5F-E0FB-4C30-B771-A08152D163AE}">
      <dgm:prSet phldrT="[Text]"/>
      <dgm:spPr/>
      <dgm:t>
        <a:bodyPr/>
        <a:lstStyle/>
        <a:p>
          <a:r>
            <a:rPr lang="en-IE" dirty="0"/>
            <a:t>The best </a:t>
          </a:r>
          <a:r>
            <a:rPr lang="en-IE" dirty="0" err="1"/>
            <a:t>defense</a:t>
          </a:r>
          <a:r>
            <a:rPr lang="en-IE" dirty="0"/>
            <a:t> is a counterattack</a:t>
          </a:r>
        </a:p>
      </dgm:t>
    </dgm:pt>
    <dgm:pt modelId="{9254C996-FD8E-47CB-B57E-EED51B2A6A6D}" type="parTrans" cxnId="{42465711-6B80-4A02-A3AF-68C404302AB6}">
      <dgm:prSet/>
      <dgm:spPr/>
      <dgm:t>
        <a:bodyPr/>
        <a:lstStyle/>
        <a:p>
          <a:endParaRPr lang="en-IE"/>
        </a:p>
      </dgm:t>
    </dgm:pt>
    <dgm:pt modelId="{AB9420CE-0584-4C89-AD5B-AED63AF08860}" type="sibTrans" cxnId="{42465711-6B80-4A02-A3AF-68C404302AB6}">
      <dgm:prSet/>
      <dgm:spPr/>
      <dgm:t>
        <a:bodyPr/>
        <a:lstStyle/>
        <a:p>
          <a:endParaRPr lang="en-IE"/>
        </a:p>
      </dgm:t>
    </dgm:pt>
    <dgm:pt modelId="{720AEB5C-9E2E-4587-AD69-65B4C25AF7F7}">
      <dgm:prSet phldrT="[Text]"/>
      <dgm:spPr/>
      <dgm:t>
        <a:bodyPr/>
        <a:lstStyle/>
        <a:p>
          <a:r>
            <a:rPr lang="en-IE" dirty="0"/>
            <a:t>MITRE ATT&amp;CK</a:t>
          </a:r>
        </a:p>
      </dgm:t>
    </dgm:pt>
    <dgm:pt modelId="{5B21F0B4-90DA-41D3-88BD-844C827915F2}" type="parTrans" cxnId="{28E0C331-B5D8-4964-AACE-0C06C25D8007}">
      <dgm:prSet/>
      <dgm:spPr/>
      <dgm:t>
        <a:bodyPr/>
        <a:lstStyle/>
        <a:p>
          <a:endParaRPr lang="en-IE"/>
        </a:p>
      </dgm:t>
    </dgm:pt>
    <dgm:pt modelId="{76B81703-AA88-4ECA-850C-DF1AF4291B5D}" type="sibTrans" cxnId="{28E0C331-B5D8-4964-AACE-0C06C25D8007}">
      <dgm:prSet/>
      <dgm:spPr/>
      <dgm:t>
        <a:bodyPr/>
        <a:lstStyle/>
        <a:p>
          <a:endParaRPr lang="en-IE"/>
        </a:p>
      </dgm:t>
    </dgm:pt>
    <dgm:pt modelId="{09890451-763D-411B-9AB2-34862E6A8216}">
      <dgm:prSet phldrT="[Text]"/>
      <dgm:spPr/>
      <dgm:t>
        <a:bodyPr/>
        <a:lstStyle/>
        <a:p>
          <a:r>
            <a:rPr lang="en-IE" dirty="0"/>
            <a:t>Wait, that’s illegal!</a:t>
          </a:r>
        </a:p>
      </dgm:t>
    </dgm:pt>
    <dgm:pt modelId="{84C953BF-AEA2-45A7-A15A-9571A639EDA5}" type="parTrans" cxnId="{6670E3EF-554A-42C1-BD35-BD0713ADC37D}">
      <dgm:prSet/>
      <dgm:spPr/>
      <dgm:t>
        <a:bodyPr/>
        <a:lstStyle/>
        <a:p>
          <a:endParaRPr lang="en-IE"/>
        </a:p>
      </dgm:t>
    </dgm:pt>
    <dgm:pt modelId="{710873E0-1FE1-41B6-AA8D-7665C1C069E8}" type="sibTrans" cxnId="{6670E3EF-554A-42C1-BD35-BD0713ADC37D}">
      <dgm:prSet/>
      <dgm:spPr/>
      <dgm:t>
        <a:bodyPr/>
        <a:lstStyle/>
        <a:p>
          <a:endParaRPr lang="en-IE"/>
        </a:p>
      </dgm:t>
    </dgm:pt>
    <dgm:pt modelId="{8017258C-099C-4E9E-84DB-EFA861AA7953}" type="pres">
      <dgm:prSet presAssocID="{3953DE07-3E0D-4F23-BC49-B5BCE80AC6CA}" presName="Name0" presStyleCnt="0">
        <dgm:presLayoutVars>
          <dgm:chMax val="2"/>
          <dgm:dir/>
          <dgm:animOne val="branch"/>
          <dgm:animLvl val="lvl"/>
          <dgm:resizeHandles val="exact"/>
        </dgm:presLayoutVars>
      </dgm:prSet>
      <dgm:spPr/>
    </dgm:pt>
    <dgm:pt modelId="{F665F942-28C7-4476-8CBC-06BCD0EDCB01}" type="pres">
      <dgm:prSet presAssocID="{3953DE07-3E0D-4F23-BC49-B5BCE80AC6CA}" presName="Background" presStyleLbl="node1" presStyleIdx="0" presStyleCnt="1"/>
      <dgm:spPr/>
    </dgm:pt>
    <dgm:pt modelId="{108708F0-DA79-43D4-9C31-74A4039985D3}" type="pres">
      <dgm:prSet presAssocID="{3953DE07-3E0D-4F23-BC49-B5BCE80AC6CA}" presName="Divider" presStyleLbl="callout" presStyleIdx="0" presStyleCnt="1"/>
      <dgm:spPr/>
    </dgm:pt>
    <dgm:pt modelId="{EC4F0085-36DE-4F5A-83FD-BB5507C81A68}" type="pres">
      <dgm:prSet presAssocID="{3953DE07-3E0D-4F23-BC49-B5BCE80AC6CA}" presName="ChildText1" presStyleLbl="revTx" presStyleIdx="0" presStyleCnt="0">
        <dgm:presLayoutVars>
          <dgm:chMax val="0"/>
          <dgm:chPref val="0"/>
          <dgm:bulletEnabled val="1"/>
        </dgm:presLayoutVars>
      </dgm:prSet>
      <dgm:spPr/>
    </dgm:pt>
    <dgm:pt modelId="{F10EE832-8226-4F1D-86BD-74804B272F4B}" type="pres">
      <dgm:prSet presAssocID="{3953DE07-3E0D-4F23-BC49-B5BCE80AC6CA}" presName="ChildText2" presStyleLbl="revTx" presStyleIdx="0" presStyleCnt="0">
        <dgm:presLayoutVars>
          <dgm:chMax val="0"/>
          <dgm:chPref val="0"/>
          <dgm:bulletEnabled val="1"/>
        </dgm:presLayoutVars>
      </dgm:prSet>
      <dgm:spPr/>
    </dgm:pt>
    <dgm:pt modelId="{45C393C0-0FC7-4CBF-9018-5A7B41CBBD02}" type="pres">
      <dgm:prSet presAssocID="{3953DE07-3E0D-4F23-BC49-B5BCE80AC6CA}" presName="ParentText1" presStyleLbl="revTx" presStyleIdx="0" presStyleCnt="0">
        <dgm:presLayoutVars>
          <dgm:chMax val="1"/>
          <dgm:chPref val="1"/>
        </dgm:presLayoutVars>
      </dgm:prSet>
      <dgm:spPr/>
    </dgm:pt>
    <dgm:pt modelId="{B44827F3-C1C4-477E-9B5A-5C75915C0236}" type="pres">
      <dgm:prSet presAssocID="{3953DE07-3E0D-4F23-BC49-B5BCE80AC6CA}" presName="ParentShape1" presStyleLbl="alignImgPlace1" presStyleIdx="0" presStyleCnt="2">
        <dgm:presLayoutVars/>
      </dgm:prSet>
      <dgm:spPr/>
    </dgm:pt>
    <dgm:pt modelId="{15220C3B-DD20-463B-A48C-FED468894BA4}" type="pres">
      <dgm:prSet presAssocID="{3953DE07-3E0D-4F23-BC49-B5BCE80AC6CA}" presName="ParentText2" presStyleLbl="revTx" presStyleIdx="0" presStyleCnt="0">
        <dgm:presLayoutVars>
          <dgm:chMax val="1"/>
          <dgm:chPref val="1"/>
        </dgm:presLayoutVars>
      </dgm:prSet>
      <dgm:spPr/>
    </dgm:pt>
    <dgm:pt modelId="{10B83E6D-E6FD-44D1-9EF1-0EE1EF644798}" type="pres">
      <dgm:prSet presAssocID="{3953DE07-3E0D-4F23-BC49-B5BCE80AC6CA}" presName="ParentShape2" presStyleLbl="alignImgPlace1" presStyleIdx="1" presStyleCnt="2">
        <dgm:presLayoutVars/>
      </dgm:prSet>
      <dgm:spPr/>
    </dgm:pt>
  </dgm:ptLst>
  <dgm:cxnLst>
    <dgm:cxn modelId="{95CCC002-706B-44F5-B511-64D5AD5F1562}" type="presOf" srcId="{CDACC41B-FCFB-4C7E-98E1-1857ECB35FE4}" destId="{45C393C0-0FC7-4CBF-9018-5A7B41CBBD02}" srcOrd="0" destOrd="0" presId="urn:microsoft.com/office/officeart/2009/3/layout/OpposingIdeas"/>
    <dgm:cxn modelId="{42465711-6B80-4A02-A3AF-68C404302AB6}" srcId="{CDACC41B-FCFB-4C7E-98E1-1857ECB35FE4}" destId="{49C40E5F-E0FB-4C30-B771-A08152D163AE}" srcOrd="0" destOrd="0" parTransId="{9254C996-FD8E-47CB-B57E-EED51B2A6A6D}" sibTransId="{AB9420CE-0584-4C89-AD5B-AED63AF08860}"/>
    <dgm:cxn modelId="{4FA1621F-09F0-48E4-B780-5D0B3E74AC94}" type="presOf" srcId="{3953DE07-3E0D-4F23-BC49-B5BCE80AC6CA}" destId="{8017258C-099C-4E9E-84DB-EFA861AA7953}" srcOrd="0" destOrd="0" presId="urn:microsoft.com/office/officeart/2009/3/layout/OpposingIdeas"/>
    <dgm:cxn modelId="{E2136721-EF6F-4823-8E5B-37F40B00CAD1}" srcId="{3953DE07-3E0D-4F23-BC49-B5BCE80AC6CA}" destId="{CDACC41B-FCFB-4C7E-98E1-1857ECB35FE4}" srcOrd="0" destOrd="0" parTransId="{D4F1E8BB-AD7D-4D48-A6CB-00A578E8FD91}" sibTransId="{3C4C5B33-60C5-4BF5-BC37-1DFB3607B04D}"/>
    <dgm:cxn modelId="{28E0C331-B5D8-4964-AACE-0C06C25D8007}" srcId="{3953DE07-3E0D-4F23-BC49-B5BCE80AC6CA}" destId="{720AEB5C-9E2E-4587-AD69-65B4C25AF7F7}" srcOrd="1" destOrd="0" parTransId="{5B21F0B4-90DA-41D3-88BD-844C827915F2}" sibTransId="{76B81703-AA88-4ECA-850C-DF1AF4291B5D}"/>
    <dgm:cxn modelId="{0F14E472-0453-4E66-90F5-1A72A08D3192}" type="presOf" srcId="{CDACC41B-FCFB-4C7E-98E1-1857ECB35FE4}" destId="{B44827F3-C1C4-477E-9B5A-5C75915C0236}" srcOrd="1" destOrd="0" presId="urn:microsoft.com/office/officeart/2009/3/layout/OpposingIdeas"/>
    <dgm:cxn modelId="{6D110D7B-3D2A-49E5-A58C-B6FEA6C7717D}" type="presOf" srcId="{720AEB5C-9E2E-4587-AD69-65B4C25AF7F7}" destId="{15220C3B-DD20-463B-A48C-FED468894BA4}" srcOrd="0" destOrd="0" presId="urn:microsoft.com/office/officeart/2009/3/layout/OpposingIdeas"/>
    <dgm:cxn modelId="{DADA109C-C5F7-484B-95E2-25795BFAF611}" type="presOf" srcId="{09890451-763D-411B-9AB2-34862E6A8216}" destId="{F10EE832-8226-4F1D-86BD-74804B272F4B}" srcOrd="0" destOrd="0" presId="urn:microsoft.com/office/officeart/2009/3/layout/OpposingIdeas"/>
    <dgm:cxn modelId="{49794AAF-A9CB-44FC-B87D-308F1835E840}" type="presOf" srcId="{720AEB5C-9E2E-4587-AD69-65B4C25AF7F7}" destId="{10B83E6D-E6FD-44D1-9EF1-0EE1EF644798}" srcOrd="1" destOrd="0" presId="urn:microsoft.com/office/officeart/2009/3/layout/OpposingIdeas"/>
    <dgm:cxn modelId="{6670E3EF-554A-42C1-BD35-BD0713ADC37D}" srcId="{720AEB5C-9E2E-4587-AD69-65B4C25AF7F7}" destId="{09890451-763D-411B-9AB2-34862E6A8216}" srcOrd="0" destOrd="0" parTransId="{84C953BF-AEA2-45A7-A15A-9571A639EDA5}" sibTransId="{710873E0-1FE1-41B6-AA8D-7665C1C069E8}"/>
    <dgm:cxn modelId="{E65811F7-4AC3-4C7A-B987-3FCB299E889B}" type="presOf" srcId="{49C40E5F-E0FB-4C30-B771-A08152D163AE}" destId="{EC4F0085-36DE-4F5A-83FD-BB5507C81A68}" srcOrd="0" destOrd="0" presId="urn:microsoft.com/office/officeart/2009/3/layout/OpposingIdeas"/>
    <dgm:cxn modelId="{B89522F7-4D70-40DE-99CF-66A6E98190EA}" type="presParOf" srcId="{8017258C-099C-4E9E-84DB-EFA861AA7953}" destId="{F665F942-28C7-4476-8CBC-06BCD0EDCB01}" srcOrd="0" destOrd="0" presId="urn:microsoft.com/office/officeart/2009/3/layout/OpposingIdeas"/>
    <dgm:cxn modelId="{CB7C54E1-25C2-4E3A-94B3-594E59D24AC7}" type="presParOf" srcId="{8017258C-099C-4E9E-84DB-EFA861AA7953}" destId="{108708F0-DA79-43D4-9C31-74A4039985D3}" srcOrd="1" destOrd="0" presId="urn:microsoft.com/office/officeart/2009/3/layout/OpposingIdeas"/>
    <dgm:cxn modelId="{425A4423-0E15-4AF9-A1F1-A8D81079A986}" type="presParOf" srcId="{8017258C-099C-4E9E-84DB-EFA861AA7953}" destId="{EC4F0085-36DE-4F5A-83FD-BB5507C81A68}" srcOrd="2" destOrd="0" presId="urn:microsoft.com/office/officeart/2009/3/layout/OpposingIdeas"/>
    <dgm:cxn modelId="{EF866AA9-555F-49FE-BD88-5CDAB88C0678}" type="presParOf" srcId="{8017258C-099C-4E9E-84DB-EFA861AA7953}" destId="{F10EE832-8226-4F1D-86BD-74804B272F4B}" srcOrd="3" destOrd="0" presId="urn:microsoft.com/office/officeart/2009/3/layout/OpposingIdeas"/>
    <dgm:cxn modelId="{61EAD497-3FBF-4F22-9998-1BCD6227EDDF}" type="presParOf" srcId="{8017258C-099C-4E9E-84DB-EFA861AA7953}" destId="{45C393C0-0FC7-4CBF-9018-5A7B41CBBD02}" srcOrd="4" destOrd="0" presId="urn:microsoft.com/office/officeart/2009/3/layout/OpposingIdeas"/>
    <dgm:cxn modelId="{6EDE5303-E894-4CD1-B524-CEE00A2982F6}" type="presParOf" srcId="{8017258C-099C-4E9E-84DB-EFA861AA7953}" destId="{B44827F3-C1C4-477E-9B5A-5C75915C0236}" srcOrd="5" destOrd="0" presId="urn:microsoft.com/office/officeart/2009/3/layout/OpposingIdeas"/>
    <dgm:cxn modelId="{A4979990-2651-438D-AE79-2E0AD3BB7482}" type="presParOf" srcId="{8017258C-099C-4E9E-84DB-EFA861AA7953}" destId="{15220C3B-DD20-463B-A48C-FED468894BA4}" srcOrd="6" destOrd="0" presId="urn:microsoft.com/office/officeart/2009/3/layout/OpposingIdeas"/>
    <dgm:cxn modelId="{EC59729C-0110-46C1-A9EF-693053D56FCD}" type="presParOf" srcId="{8017258C-099C-4E9E-84DB-EFA861AA7953}" destId="{10B83E6D-E6FD-44D1-9EF1-0EE1EF644798}" srcOrd="7" destOrd="0" presId="urn:microsoft.com/office/officeart/2009/3/layout/OpposingIdea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953DE07-3E0D-4F23-BC49-B5BCE80AC6CA}" type="doc">
      <dgm:prSet loTypeId="urn:microsoft.com/office/officeart/2009/3/layout/OpposingIdeas" loCatId="relationship" qsTypeId="urn:microsoft.com/office/officeart/2005/8/quickstyle/simple1" qsCatId="simple" csTypeId="urn:microsoft.com/office/officeart/2005/8/colors/accent2_1" csCatId="accent2" phldr="1"/>
      <dgm:spPr/>
      <dgm:t>
        <a:bodyPr/>
        <a:lstStyle/>
        <a:p>
          <a:endParaRPr lang="en-IE"/>
        </a:p>
      </dgm:t>
    </dgm:pt>
    <dgm:pt modelId="{CDACC41B-FCFB-4C7E-98E1-1857ECB35FE4}">
      <dgm:prSet phldrT="[Text]"/>
      <dgm:spPr/>
      <dgm:t>
        <a:bodyPr/>
        <a:lstStyle/>
        <a:p>
          <a:r>
            <a:rPr lang="en-IE" dirty="0"/>
            <a:t>Chess</a:t>
          </a:r>
        </a:p>
      </dgm:t>
    </dgm:pt>
    <dgm:pt modelId="{D4F1E8BB-AD7D-4D48-A6CB-00A578E8FD91}" type="parTrans" cxnId="{E2136721-EF6F-4823-8E5B-37F40B00CAD1}">
      <dgm:prSet/>
      <dgm:spPr/>
      <dgm:t>
        <a:bodyPr/>
        <a:lstStyle/>
        <a:p>
          <a:endParaRPr lang="en-IE"/>
        </a:p>
      </dgm:t>
    </dgm:pt>
    <dgm:pt modelId="{3C4C5B33-60C5-4BF5-BC37-1DFB3607B04D}" type="sibTrans" cxnId="{E2136721-EF6F-4823-8E5B-37F40B00CAD1}">
      <dgm:prSet/>
      <dgm:spPr/>
      <dgm:t>
        <a:bodyPr/>
        <a:lstStyle/>
        <a:p>
          <a:endParaRPr lang="en-IE"/>
        </a:p>
      </dgm:t>
    </dgm:pt>
    <dgm:pt modelId="{49C40E5F-E0FB-4C30-B771-A08152D163AE}">
      <dgm:prSet phldrT="[Text]"/>
      <dgm:spPr/>
      <dgm:t>
        <a:bodyPr/>
        <a:lstStyle/>
        <a:p>
          <a:r>
            <a:rPr lang="en-IE" dirty="0"/>
            <a:t>Sacrifice for initiative</a:t>
          </a:r>
        </a:p>
      </dgm:t>
    </dgm:pt>
    <dgm:pt modelId="{9254C996-FD8E-47CB-B57E-EED51B2A6A6D}" type="parTrans" cxnId="{42465711-6B80-4A02-A3AF-68C404302AB6}">
      <dgm:prSet/>
      <dgm:spPr/>
      <dgm:t>
        <a:bodyPr/>
        <a:lstStyle/>
        <a:p>
          <a:endParaRPr lang="en-IE"/>
        </a:p>
      </dgm:t>
    </dgm:pt>
    <dgm:pt modelId="{AB9420CE-0584-4C89-AD5B-AED63AF08860}" type="sibTrans" cxnId="{42465711-6B80-4A02-A3AF-68C404302AB6}">
      <dgm:prSet/>
      <dgm:spPr/>
      <dgm:t>
        <a:bodyPr/>
        <a:lstStyle/>
        <a:p>
          <a:endParaRPr lang="en-IE"/>
        </a:p>
      </dgm:t>
    </dgm:pt>
    <dgm:pt modelId="{720AEB5C-9E2E-4587-AD69-65B4C25AF7F7}">
      <dgm:prSet phldrT="[Text]"/>
      <dgm:spPr/>
      <dgm:t>
        <a:bodyPr/>
        <a:lstStyle/>
        <a:p>
          <a:r>
            <a:rPr lang="en-IE" dirty="0"/>
            <a:t>MITRE ATT&amp;CK</a:t>
          </a:r>
        </a:p>
      </dgm:t>
    </dgm:pt>
    <dgm:pt modelId="{5B21F0B4-90DA-41D3-88BD-844C827915F2}" type="parTrans" cxnId="{28E0C331-B5D8-4964-AACE-0C06C25D8007}">
      <dgm:prSet/>
      <dgm:spPr/>
      <dgm:t>
        <a:bodyPr/>
        <a:lstStyle/>
        <a:p>
          <a:endParaRPr lang="en-IE"/>
        </a:p>
      </dgm:t>
    </dgm:pt>
    <dgm:pt modelId="{76B81703-AA88-4ECA-850C-DF1AF4291B5D}" type="sibTrans" cxnId="{28E0C331-B5D8-4964-AACE-0C06C25D8007}">
      <dgm:prSet/>
      <dgm:spPr/>
      <dgm:t>
        <a:bodyPr/>
        <a:lstStyle/>
        <a:p>
          <a:endParaRPr lang="en-IE"/>
        </a:p>
      </dgm:t>
    </dgm:pt>
    <dgm:pt modelId="{09890451-763D-411B-9AB2-34862E6A8216}">
      <dgm:prSet phldrT="[Text]"/>
      <dgm:spPr/>
      <dgm:t>
        <a:bodyPr/>
        <a:lstStyle/>
        <a:p>
          <a:r>
            <a:rPr lang="en-IE" dirty="0"/>
            <a:t>Leave a vulnerability exposed as “bait” (*Exception honeypots)</a:t>
          </a:r>
        </a:p>
      </dgm:t>
    </dgm:pt>
    <dgm:pt modelId="{84C953BF-AEA2-45A7-A15A-9571A639EDA5}" type="parTrans" cxnId="{6670E3EF-554A-42C1-BD35-BD0713ADC37D}">
      <dgm:prSet/>
      <dgm:spPr/>
      <dgm:t>
        <a:bodyPr/>
        <a:lstStyle/>
        <a:p>
          <a:endParaRPr lang="en-IE"/>
        </a:p>
      </dgm:t>
    </dgm:pt>
    <dgm:pt modelId="{710873E0-1FE1-41B6-AA8D-7665C1C069E8}" type="sibTrans" cxnId="{6670E3EF-554A-42C1-BD35-BD0713ADC37D}">
      <dgm:prSet/>
      <dgm:spPr/>
      <dgm:t>
        <a:bodyPr/>
        <a:lstStyle/>
        <a:p>
          <a:endParaRPr lang="en-IE"/>
        </a:p>
      </dgm:t>
    </dgm:pt>
    <dgm:pt modelId="{8017258C-099C-4E9E-84DB-EFA861AA7953}" type="pres">
      <dgm:prSet presAssocID="{3953DE07-3E0D-4F23-BC49-B5BCE80AC6CA}" presName="Name0" presStyleCnt="0">
        <dgm:presLayoutVars>
          <dgm:chMax val="2"/>
          <dgm:dir/>
          <dgm:animOne val="branch"/>
          <dgm:animLvl val="lvl"/>
          <dgm:resizeHandles val="exact"/>
        </dgm:presLayoutVars>
      </dgm:prSet>
      <dgm:spPr/>
    </dgm:pt>
    <dgm:pt modelId="{F665F942-28C7-4476-8CBC-06BCD0EDCB01}" type="pres">
      <dgm:prSet presAssocID="{3953DE07-3E0D-4F23-BC49-B5BCE80AC6CA}" presName="Background" presStyleLbl="node1" presStyleIdx="0" presStyleCnt="1"/>
      <dgm:spPr/>
    </dgm:pt>
    <dgm:pt modelId="{108708F0-DA79-43D4-9C31-74A4039985D3}" type="pres">
      <dgm:prSet presAssocID="{3953DE07-3E0D-4F23-BC49-B5BCE80AC6CA}" presName="Divider" presStyleLbl="callout" presStyleIdx="0" presStyleCnt="1"/>
      <dgm:spPr/>
    </dgm:pt>
    <dgm:pt modelId="{EC4F0085-36DE-4F5A-83FD-BB5507C81A68}" type="pres">
      <dgm:prSet presAssocID="{3953DE07-3E0D-4F23-BC49-B5BCE80AC6CA}" presName="ChildText1" presStyleLbl="revTx" presStyleIdx="0" presStyleCnt="0">
        <dgm:presLayoutVars>
          <dgm:chMax val="0"/>
          <dgm:chPref val="0"/>
          <dgm:bulletEnabled val="1"/>
        </dgm:presLayoutVars>
      </dgm:prSet>
      <dgm:spPr/>
    </dgm:pt>
    <dgm:pt modelId="{F10EE832-8226-4F1D-86BD-74804B272F4B}" type="pres">
      <dgm:prSet presAssocID="{3953DE07-3E0D-4F23-BC49-B5BCE80AC6CA}" presName="ChildText2" presStyleLbl="revTx" presStyleIdx="0" presStyleCnt="0">
        <dgm:presLayoutVars>
          <dgm:chMax val="0"/>
          <dgm:chPref val="0"/>
          <dgm:bulletEnabled val="1"/>
        </dgm:presLayoutVars>
      </dgm:prSet>
      <dgm:spPr/>
    </dgm:pt>
    <dgm:pt modelId="{45C393C0-0FC7-4CBF-9018-5A7B41CBBD02}" type="pres">
      <dgm:prSet presAssocID="{3953DE07-3E0D-4F23-BC49-B5BCE80AC6CA}" presName="ParentText1" presStyleLbl="revTx" presStyleIdx="0" presStyleCnt="0">
        <dgm:presLayoutVars>
          <dgm:chMax val="1"/>
          <dgm:chPref val="1"/>
        </dgm:presLayoutVars>
      </dgm:prSet>
      <dgm:spPr/>
    </dgm:pt>
    <dgm:pt modelId="{B44827F3-C1C4-477E-9B5A-5C75915C0236}" type="pres">
      <dgm:prSet presAssocID="{3953DE07-3E0D-4F23-BC49-B5BCE80AC6CA}" presName="ParentShape1" presStyleLbl="alignImgPlace1" presStyleIdx="0" presStyleCnt="2">
        <dgm:presLayoutVars/>
      </dgm:prSet>
      <dgm:spPr/>
    </dgm:pt>
    <dgm:pt modelId="{15220C3B-DD20-463B-A48C-FED468894BA4}" type="pres">
      <dgm:prSet presAssocID="{3953DE07-3E0D-4F23-BC49-B5BCE80AC6CA}" presName="ParentText2" presStyleLbl="revTx" presStyleIdx="0" presStyleCnt="0">
        <dgm:presLayoutVars>
          <dgm:chMax val="1"/>
          <dgm:chPref val="1"/>
        </dgm:presLayoutVars>
      </dgm:prSet>
      <dgm:spPr/>
    </dgm:pt>
    <dgm:pt modelId="{10B83E6D-E6FD-44D1-9EF1-0EE1EF644798}" type="pres">
      <dgm:prSet presAssocID="{3953DE07-3E0D-4F23-BC49-B5BCE80AC6CA}" presName="ParentShape2" presStyleLbl="alignImgPlace1" presStyleIdx="1" presStyleCnt="2">
        <dgm:presLayoutVars/>
      </dgm:prSet>
      <dgm:spPr/>
    </dgm:pt>
  </dgm:ptLst>
  <dgm:cxnLst>
    <dgm:cxn modelId="{95CCC002-706B-44F5-B511-64D5AD5F1562}" type="presOf" srcId="{CDACC41B-FCFB-4C7E-98E1-1857ECB35FE4}" destId="{45C393C0-0FC7-4CBF-9018-5A7B41CBBD02}" srcOrd="0" destOrd="0" presId="urn:microsoft.com/office/officeart/2009/3/layout/OpposingIdeas"/>
    <dgm:cxn modelId="{42465711-6B80-4A02-A3AF-68C404302AB6}" srcId="{CDACC41B-FCFB-4C7E-98E1-1857ECB35FE4}" destId="{49C40E5F-E0FB-4C30-B771-A08152D163AE}" srcOrd="0" destOrd="0" parTransId="{9254C996-FD8E-47CB-B57E-EED51B2A6A6D}" sibTransId="{AB9420CE-0584-4C89-AD5B-AED63AF08860}"/>
    <dgm:cxn modelId="{4FA1621F-09F0-48E4-B780-5D0B3E74AC94}" type="presOf" srcId="{3953DE07-3E0D-4F23-BC49-B5BCE80AC6CA}" destId="{8017258C-099C-4E9E-84DB-EFA861AA7953}" srcOrd="0" destOrd="0" presId="urn:microsoft.com/office/officeart/2009/3/layout/OpposingIdeas"/>
    <dgm:cxn modelId="{E2136721-EF6F-4823-8E5B-37F40B00CAD1}" srcId="{3953DE07-3E0D-4F23-BC49-B5BCE80AC6CA}" destId="{CDACC41B-FCFB-4C7E-98E1-1857ECB35FE4}" srcOrd="0" destOrd="0" parTransId="{D4F1E8BB-AD7D-4D48-A6CB-00A578E8FD91}" sibTransId="{3C4C5B33-60C5-4BF5-BC37-1DFB3607B04D}"/>
    <dgm:cxn modelId="{28E0C331-B5D8-4964-AACE-0C06C25D8007}" srcId="{3953DE07-3E0D-4F23-BC49-B5BCE80AC6CA}" destId="{720AEB5C-9E2E-4587-AD69-65B4C25AF7F7}" srcOrd="1" destOrd="0" parTransId="{5B21F0B4-90DA-41D3-88BD-844C827915F2}" sibTransId="{76B81703-AA88-4ECA-850C-DF1AF4291B5D}"/>
    <dgm:cxn modelId="{0F14E472-0453-4E66-90F5-1A72A08D3192}" type="presOf" srcId="{CDACC41B-FCFB-4C7E-98E1-1857ECB35FE4}" destId="{B44827F3-C1C4-477E-9B5A-5C75915C0236}" srcOrd="1" destOrd="0" presId="urn:microsoft.com/office/officeart/2009/3/layout/OpposingIdeas"/>
    <dgm:cxn modelId="{6D110D7B-3D2A-49E5-A58C-B6FEA6C7717D}" type="presOf" srcId="{720AEB5C-9E2E-4587-AD69-65B4C25AF7F7}" destId="{15220C3B-DD20-463B-A48C-FED468894BA4}" srcOrd="0" destOrd="0" presId="urn:microsoft.com/office/officeart/2009/3/layout/OpposingIdeas"/>
    <dgm:cxn modelId="{DADA109C-C5F7-484B-95E2-25795BFAF611}" type="presOf" srcId="{09890451-763D-411B-9AB2-34862E6A8216}" destId="{F10EE832-8226-4F1D-86BD-74804B272F4B}" srcOrd="0" destOrd="0" presId="urn:microsoft.com/office/officeart/2009/3/layout/OpposingIdeas"/>
    <dgm:cxn modelId="{49794AAF-A9CB-44FC-B87D-308F1835E840}" type="presOf" srcId="{720AEB5C-9E2E-4587-AD69-65B4C25AF7F7}" destId="{10B83E6D-E6FD-44D1-9EF1-0EE1EF644798}" srcOrd="1" destOrd="0" presId="urn:microsoft.com/office/officeart/2009/3/layout/OpposingIdeas"/>
    <dgm:cxn modelId="{6670E3EF-554A-42C1-BD35-BD0713ADC37D}" srcId="{720AEB5C-9E2E-4587-AD69-65B4C25AF7F7}" destId="{09890451-763D-411B-9AB2-34862E6A8216}" srcOrd="0" destOrd="0" parTransId="{84C953BF-AEA2-45A7-A15A-9571A639EDA5}" sibTransId="{710873E0-1FE1-41B6-AA8D-7665C1C069E8}"/>
    <dgm:cxn modelId="{E65811F7-4AC3-4C7A-B987-3FCB299E889B}" type="presOf" srcId="{49C40E5F-E0FB-4C30-B771-A08152D163AE}" destId="{EC4F0085-36DE-4F5A-83FD-BB5507C81A68}" srcOrd="0" destOrd="0" presId="urn:microsoft.com/office/officeart/2009/3/layout/OpposingIdeas"/>
    <dgm:cxn modelId="{B89522F7-4D70-40DE-99CF-66A6E98190EA}" type="presParOf" srcId="{8017258C-099C-4E9E-84DB-EFA861AA7953}" destId="{F665F942-28C7-4476-8CBC-06BCD0EDCB01}" srcOrd="0" destOrd="0" presId="urn:microsoft.com/office/officeart/2009/3/layout/OpposingIdeas"/>
    <dgm:cxn modelId="{CB7C54E1-25C2-4E3A-94B3-594E59D24AC7}" type="presParOf" srcId="{8017258C-099C-4E9E-84DB-EFA861AA7953}" destId="{108708F0-DA79-43D4-9C31-74A4039985D3}" srcOrd="1" destOrd="0" presId="urn:microsoft.com/office/officeart/2009/3/layout/OpposingIdeas"/>
    <dgm:cxn modelId="{425A4423-0E15-4AF9-A1F1-A8D81079A986}" type="presParOf" srcId="{8017258C-099C-4E9E-84DB-EFA861AA7953}" destId="{EC4F0085-36DE-4F5A-83FD-BB5507C81A68}" srcOrd="2" destOrd="0" presId="urn:microsoft.com/office/officeart/2009/3/layout/OpposingIdeas"/>
    <dgm:cxn modelId="{EF866AA9-555F-49FE-BD88-5CDAB88C0678}" type="presParOf" srcId="{8017258C-099C-4E9E-84DB-EFA861AA7953}" destId="{F10EE832-8226-4F1D-86BD-74804B272F4B}" srcOrd="3" destOrd="0" presId="urn:microsoft.com/office/officeart/2009/3/layout/OpposingIdeas"/>
    <dgm:cxn modelId="{61EAD497-3FBF-4F22-9998-1BCD6227EDDF}" type="presParOf" srcId="{8017258C-099C-4E9E-84DB-EFA861AA7953}" destId="{45C393C0-0FC7-4CBF-9018-5A7B41CBBD02}" srcOrd="4" destOrd="0" presId="urn:microsoft.com/office/officeart/2009/3/layout/OpposingIdeas"/>
    <dgm:cxn modelId="{6EDE5303-E894-4CD1-B524-CEE00A2982F6}" type="presParOf" srcId="{8017258C-099C-4E9E-84DB-EFA861AA7953}" destId="{B44827F3-C1C4-477E-9B5A-5C75915C0236}" srcOrd="5" destOrd="0" presId="urn:microsoft.com/office/officeart/2009/3/layout/OpposingIdeas"/>
    <dgm:cxn modelId="{A4979990-2651-438D-AE79-2E0AD3BB7482}" type="presParOf" srcId="{8017258C-099C-4E9E-84DB-EFA861AA7953}" destId="{15220C3B-DD20-463B-A48C-FED468894BA4}" srcOrd="6" destOrd="0" presId="urn:microsoft.com/office/officeart/2009/3/layout/OpposingIdeas"/>
    <dgm:cxn modelId="{EC59729C-0110-46C1-A9EF-693053D56FCD}" type="presParOf" srcId="{8017258C-099C-4E9E-84DB-EFA861AA7953}" destId="{10B83E6D-E6FD-44D1-9EF1-0EE1EF644798}" srcOrd="7" destOrd="0" presId="urn:microsoft.com/office/officeart/2009/3/layout/OpposingIdea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D36948-677F-482A-9742-F76B71EF9BEC}">
      <dsp:nvSpPr>
        <dsp:cNvPr id="0" name=""/>
        <dsp:cNvSpPr/>
      </dsp:nvSpPr>
      <dsp:spPr>
        <a:xfrm>
          <a:off x="503" y="210725"/>
          <a:ext cx="1965546" cy="117932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E" sz="2300" kern="1200" dirty="0"/>
            <a:t>Former Fraud Researcher</a:t>
          </a:r>
          <a:endParaRPr lang="en-US" sz="2300" kern="1200" dirty="0"/>
        </a:p>
      </dsp:txBody>
      <dsp:txXfrm>
        <a:off x="503" y="210725"/>
        <a:ext cx="1965546" cy="1179327"/>
      </dsp:txXfrm>
    </dsp:sp>
    <dsp:sp modelId="{08866948-7A6F-4F0F-B8A3-339315FEEF85}">
      <dsp:nvSpPr>
        <dsp:cNvPr id="0" name=""/>
        <dsp:cNvSpPr/>
      </dsp:nvSpPr>
      <dsp:spPr>
        <a:xfrm>
          <a:off x="2162604" y="210725"/>
          <a:ext cx="1965546" cy="117932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E" sz="2300" kern="1200" dirty="0"/>
            <a:t>Cybersecurity Researcher at MTU</a:t>
          </a:r>
          <a:endParaRPr lang="en-US" sz="2300" kern="1200" dirty="0"/>
        </a:p>
      </dsp:txBody>
      <dsp:txXfrm>
        <a:off x="2162604" y="210725"/>
        <a:ext cx="1965546" cy="1179327"/>
      </dsp:txXfrm>
    </dsp:sp>
    <dsp:sp modelId="{113CB523-A28F-47E7-9A13-25D5036A078F}">
      <dsp:nvSpPr>
        <dsp:cNvPr id="0" name=""/>
        <dsp:cNvSpPr/>
      </dsp:nvSpPr>
      <dsp:spPr>
        <a:xfrm>
          <a:off x="503" y="1586608"/>
          <a:ext cx="1965546" cy="117932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E" sz="2300" kern="1200"/>
            <a:t>BA Psychology</a:t>
          </a:r>
          <a:endParaRPr lang="en-US" sz="2300" kern="1200"/>
        </a:p>
      </dsp:txBody>
      <dsp:txXfrm>
        <a:off x="503" y="1586608"/>
        <a:ext cx="1965546" cy="1179327"/>
      </dsp:txXfrm>
    </dsp:sp>
    <dsp:sp modelId="{45DB8A57-58B5-4ECE-9789-957F65EAE5A0}">
      <dsp:nvSpPr>
        <dsp:cNvPr id="0" name=""/>
        <dsp:cNvSpPr/>
      </dsp:nvSpPr>
      <dsp:spPr>
        <a:xfrm>
          <a:off x="2162604" y="1586608"/>
          <a:ext cx="1965546" cy="117932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E" sz="2300" kern="1200"/>
            <a:t>BSc IT Management</a:t>
          </a:r>
          <a:endParaRPr lang="en-US" sz="2300" kern="1200"/>
        </a:p>
      </dsp:txBody>
      <dsp:txXfrm>
        <a:off x="2162604" y="1586608"/>
        <a:ext cx="1965546" cy="1179327"/>
      </dsp:txXfrm>
    </dsp:sp>
    <dsp:sp modelId="{FFFC1E4A-7391-4F25-ABE1-3663FC2EDE04}">
      <dsp:nvSpPr>
        <dsp:cNvPr id="0" name=""/>
        <dsp:cNvSpPr/>
      </dsp:nvSpPr>
      <dsp:spPr>
        <a:xfrm>
          <a:off x="503" y="2962490"/>
          <a:ext cx="1965546" cy="117932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E" sz="2300" kern="1200" dirty="0" err="1"/>
            <a:t>PgDip</a:t>
          </a:r>
          <a:r>
            <a:rPr lang="en-IE" sz="2300" kern="1200" dirty="0"/>
            <a:t> Cybersecurity</a:t>
          </a:r>
        </a:p>
      </dsp:txBody>
      <dsp:txXfrm>
        <a:off x="503" y="2962490"/>
        <a:ext cx="1965546" cy="1179327"/>
      </dsp:txXfrm>
    </dsp:sp>
    <dsp:sp modelId="{2CED6A79-59A3-483D-AD12-F782FC6C3A2D}">
      <dsp:nvSpPr>
        <dsp:cNvPr id="0" name=""/>
        <dsp:cNvSpPr/>
      </dsp:nvSpPr>
      <dsp:spPr>
        <a:xfrm>
          <a:off x="2162604" y="2962490"/>
          <a:ext cx="1965546" cy="1179327"/>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en-IE" sz="2300" kern="1200" dirty="0"/>
            <a:t>Upcoming PhD Student</a:t>
          </a:r>
        </a:p>
      </dsp:txBody>
      <dsp:txXfrm>
        <a:off x="2162604" y="2962490"/>
        <a:ext cx="1965546" cy="11793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B55D70-59FE-4330-BEEB-28CC3E852E31}">
      <dsp:nvSpPr>
        <dsp:cNvPr id="0" name=""/>
        <dsp:cNvSpPr/>
      </dsp:nvSpPr>
      <dsp:spPr>
        <a:xfrm>
          <a:off x="0" y="657874"/>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Chess FIDE Master</a:t>
          </a:r>
        </a:p>
      </dsp:txBody>
      <dsp:txXfrm>
        <a:off x="0" y="657874"/>
        <a:ext cx="1425503" cy="855301"/>
      </dsp:txXfrm>
    </dsp:sp>
    <dsp:sp modelId="{062F9BD6-CF5D-4C9B-88FB-6DDEB28E450D}">
      <dsp:nvSpPr>
        <dsp:cNvPr id="0" name=""/>
        <dsp:cNvSpPr/>
      </dsp:nvSpPr>
      <dsp:spPr>
        <a:xfrm>
          <a:off x="1568053" y="657874"/>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Former Romanian Junior Champion (multiple)</a:t>
          </a:r>
          <a:endParaRPr lang="en-US" sz="1400" kern="1200" dirty="0"/>
        </a:p>
      </dsp:txBody>
      <dsp:txXfrm>
        <a:off x="1568053" y="657874"/>
        <a:ext cx="1425503" cy="855301"/>
      </dsp:txXfrm>
    </dsp:sp>
    <dsp:sp modelId="{ED120A44-5D11-482A-A030-DC860E9AAD44}">
      <dsp:nvSpPr>
        <dsp:cNvPr id="0" name=""/>
        <dsp:cNvSpPr/>
      </dsp:nvSpPr>
      <dsp:spPr>
        <a:xfrm>
          <a:off x="3136106" y="657874"/>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Former European Junior Champion</a:t>
          </a:r>
        </a:p>
      </dsp:txBody>
      <dsp:txXfrm>
        <a:off x="3136106" y="657874"/>
        <a:ext cx="1425503" cy="855301"/>
      </dsp:txXfrm>
    </dsp:sp>
    <dsp:sp modelId="{8285764B-825C-4A31-A233-E0E1F22B110C}">
      <dsp:nvSpPr>
        <dsp:cNvPr id="0" name=""/>
        <dsp:cNvSpPr/>
      </dsp:nvSpPr>
      <dsp:spPr>
        <a:xfrm>
          <a:off x="0" y="1655727"/>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E" sz="1400" kern="1200" dirty="0"/>
            <a:t>10</a:t>
          </a:r>
          <a:r>
            <a:rPr lang="en-IE" sz="1400" kern="1200" baseline="30000" dirty="0"/>
            <a:t>th</a:t>
          </a:r>
          <a:r>
            <a:rPr lang="en-IE" sz="1400" kern="1200" dirty="0"/>
            <a:t> in the World at the WJCC 2015</a:t>
          </a:r>
          <a:endParaRPr lang="en-US" sz="1400" kern="1200" dirty="0"/>
        </a:p>
      </dsp:txBody>
      <dsp:txXfrm>
        <a:off x="0" y="1655727"/>
        <a:ext cx="1425503" cy="855301"/>
      </dsp:txXfrm>
    </dsp:sp>
    <dsp:sp modelId="{69B8D3AF-3217-4C3B-8984-A2AC65771166}">
      <dsp:nvSpPr>
        <dsp:cNvPr id="0" name=""/>
        <dsp:cNvSpPr/>
      </dsp:nvSpPr>
      <dsp:spPr>
        <a:xfrm>
          <a:off x="1568053" y="1655727"/>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IE" sz="1400" kern="1200" dirty="0"/>
            <a:t>3x Irish Women’s Champion</a:t>
          </a:r>
          <a:endParaRPr lang="en-US" sz="1400" kern="1200" dirty="0"/>
        </a:p>
      </dsp:txBody>
      <dsp:txXfrm>
        <a:off x="1568053" y="1655727"/>
        <a:ext cx="1425503" cy="855301"/>
      </dsp:txXfrm>
    </dsp:sp>
    <dsp:sp modelId="{13180C0E-21E0-4DB0-B12C-66918E13A78B}">
      <dsp:nvSpPr>
        <dsp:cNvPr id="0" name=""/>
        <dsp:cNvSpPr/>
      </dsp:nvSpPr>
      <dsp:spPr>
        <a:xfrm>
          <a:off x="3136106" y="1655727"/>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Limerick Open Winner</a:t>
          </a:r>
          <a:endParaRPr lang="en-US" sz="1400" kern="1200" dirty="0"/>
        </a:p>
      </dsp:txBody>
      <dsp:txXfrm>
        <a:off x="3136106" y="1655727"/>
        <a:ext cx="1425503" cy="855301"/>
      </dsp:txXfrm>
    </dsp:sp>
    <dsp:sp modelId="{DAB66DF9-8A98-4DF0-B6E3-37F8F91D369A}">
      <dsp:nvSpPr>
        <dsp:cNvPr id="0" name=""/>
        <dsp:cNvSpPr/>
      </dsp:nvSpPr>
      <dsp:spPr>
        <a:xfrm>
          <a:off x="0" y="2653579"/>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City Of Dublin Masters Open Runner-Up</a:t>
          </a:r>
          <a:endParaRPr lang="en-US" sz="1400" kern="1200" dirty="0"/>
        </a:p>
      </dsp:txBody>
      <dsp:txXfrm>
        <a:off x="0" y="2653579"/>
        <a:ext cx="1425503" cy="855301"/>
      </dsp:txXfrm>
    </dsp:sp>
    <dsp:sp modelId="{7B992008-E04E-408C-B27A-25B7AB8C06BD}">
      <dsp:nvSpPr>
        <dsp:cNvPr id="0" name=""/>
        <dsp:cNvSpPr/>
      </dsp:nvSpPr>
      <dsp:spPr>
        <a:xfrm>
          <a:off x="1568053" y="2653579"/>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Former Irish Women’s Olympic Team Captain</a:t>
          </a:r>
        </a:p>
      </dsp:txBody>
      <dsp:txXfrm>
        <a:off x="1568053" y="2653579"/>
        <a:ext cx="1425503" cy="855301"/>
      </dsp:txXfrm>
    </dsp:sp>
    <dsp:sp modelId="{3804B7AA-5ECC-4FB8-8800-A157F0E52F1A}">
      <dsp:nvSpPr>
        <dsp:cNvPr id="0" name=""/>
        <dsp:cNvSpPr/>
      </dsp:nvSpPr>
      <dsp:spPr>
        <a:xfrm>
          <a:off x="3136106" y="2653579"/>
          <a:ext cx="1425503" cy="855301"/>
        </a:xfrm>
        <a:prstGeom prst="rect">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Irish National Junior Squad Coach</a:t>
          </a:r>
        </a:p>
      </dsp:txBody>
      <dsp:txXfrm>
        <a:off x="3136106" y="2653579"/>
        <a:ext cx="1425503" cy="85530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5F942-28C7-4476-8CBC-06BCD0EDCB01}">
      <dsp:nvSpPr>
        <dsp:cNvPr id="0" name=""/>
        <dsp:cNvSpPr/>
      </dsp:nvSpPr>
      <dsp:spPr>
        <a:xfrm>
          <a:off x="965458" y="930743"/>
          <a:ext cx="5792751" cy="3115143"/>
        </a:xfrm>
        <a:prstGeom prst="round2DiagRect">
          <a:avLst>
            <a:gd name="adj1" fmla="val 0"/>
            <a:gd name="adj2" fmla="val 1667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8708F0-DA79-43D4-9C31-74A4039985D3}">
      <dsp:nvSpPr>
        <dsp:cNvPr id="0" name=""/>
        <dsp:cNvSpPr/>
      </dsp:nvSpPr>
      <dsp:spPr>
        <a:xfrm>
          <a:off x="3861834" y="1261137"/>
          <a:ext cx="772" cy="2454355"/>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4F0085-36DE-4F5A-83FD-BB5507C81A68}">
      <dsp:nvSpPr>
        <dsp:cNvPr id="0" name=""/>
        <dsp:cNvSpPr/>
      </dsp:nvSpPr>
      <dsp:spPr>
        <a:xfrm>
          <a:off x="1158550" y="1166739"/>
          <a:ext cx="2510192" cy="2643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IE" sz="2900" kern="1200" dirty="0"/>
            <a:t>The best </a:t>
          </a:r>
          <a:r>
            <a:rPr lang="en-IE" sz="2900" kern="1200" dirty="0" err="1"/>
            <a:t>defense</a:t>
          </a:r>
          <a:r>
            <a:rPr lang="en-IE" sz="2900" kern="1200" dirty="0"/>
            <a:t> is a counterattack</a:t>
          </a:r>
        </a:p>
      </dsp:txBody>
      <dsp:txXfrm>
        <a:off x="1158550" y="1166739"/>
        <a:ext cx="2510192" cy="2643152"/>
      </dsp:txXfrm>
    </dsp:sp>
    <dsp:sp modelId="{F10EE832-8226-4F1D-86BD-74804B272F4B}">
      <dsp:nvSpPr>
        <dsp:cNvPr id="0" name=""/>
        <dsp:cNvSpPr/>
      </dsp:nvSpPr>
      <dsp:spPr>
        <a:xfrm>
          <a:off x="4054926" y="1166739"/>
          <a:ext cx="2510192" cy="264315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0490" tIns="110490" rIns="110490" bIns="110490" numCol="1" spcCol="1270" anchor="t" anchorCtr="0">
          <a:noAutofit/>
        </a:bodyPr>
        <a:lstStyle/>
        <a:p>
          <a:pPr marL="0" lvl="0" indent="0" algn="l" defTabSz="1289050">
            <a:lnSpc>
              <a:spcPct val="90000"/>
            </a:lnSpc>
            <a:spcBef>
              <a:spcPct val="0"/>
            </a:spcBef>
            <a:spcAft>
              <a:spcPct val="35000"/>
            </a:spcAft>
            <a:buNone/>
          </a:pPr>
          <a:r>
            <a:rPr lang="en-IE" sz="2900" kern="1200" dirty="0"/>
            <a:t>Wait, that’s illegal!</a:t>
          </a:r>
        </a:p>
      </dsp:txBody>
      <dsp:txXfrm>
        <a:off x="4054926" y="1166739"/>
        <a:ext cx="2510192" cy="2643152"/>
      </dsp:txXfrm>
    </dsp:sp>
    <dsp:sp modelId="{B44827F3-C1C4-477E-9B5A-5C75915C0236}">
      <dsp:nvSpPr>
        <dsp:cNvPr id="0" name=""/>
        <dsp:cNvSpPr/>
      </dsp:nvSpPr>
      <dsp:spPr>
        <a:xfrm rot="16200000">
          <a:off x="-1216440" y="1344798"/>
          <a:ext cx="3398338" cy="965458"/>
        </a:xfrm>
        <a:prstGeom prst="rightArrow">
          <a:avLst>
            <a:gd name="adj1" fmla="val 49830"/>
            <a:gd name="adj2" fmla="val 60660"/>
          </a:avLst>
        </a:prstGeom>
        <a:solidFill>
          <a:schemeClr val="accent2">
            <a:tint val="4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r" defTabSz="977900">
            <a:lnSpc>
              <a:spcPct val="90000"/>
            </a:lnSpc>
            <a:spcBef>
              <a:spcPct val="0"/>
            </a:spcBef>
            <a:spcAft>
              <a:spcPct val="35000"/>
            </a:spcAft>
            <a:buNone/>
          </a:pPr>
          <a:r>
            <a:rPr lang="en-IE" sz="2200" kern="1200" dirty="0"/>
            <a:t>Chess</a:t>
          </a:r>
        </a:p>
      </dsp:txBody>
      <dsp:txXfrm>
        <a:off x="-1070526" y="1732897"/>
        <a:ext cx="3106510" cy="481088"/>
      </dsp:txXfrm>
    </dsp:sp>
    <dsp:sp modelId="{10B83E6D-E6FD-44D1-9EF1-0EE1EF644798}">
      <dsp:nvSpPr>
        <dsp:cNvPr id="0" name=""/>
        <dsp:cNvSpPr/>
      </dsp:nvSpPr>
      <dsp:spPr>
        <a:xfrm rot="5400000">
          <a:off x="5541770" y="2666374"/>
          <a:ext cx="3398338" cy="965458"/>
        </a:xfrm>
        <a:prstGeom prst="rightArrow">
          <a:avLst>
            <a:gd name="adj1" fmla="val 49830"/>
            <a:gd name="adj2" fmla="val 60660"/>
          </a:avLst>
        </a:prstGeom>
        <a:solidFill>
          <a:schemeClr val="accent2">
            <a:tint val="4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r" defTabSz="977900">
            <a:lnSpc>
              <a:spcPct val="90000"/>
            </a:lnSpc>
            <a:spcBef>
              <a:spcPct val="0"/>
            </a:spcBef>
            <a:spcAft>
              <a:spcPct val="35000"/>
            </a:spcAft>
            <a:buNone/>
          </a:pPr>
          <a:r>
            <a:rPr lang="en-IE" sz="2200" kern="1200" dirty="0"/>
            <a:t>MITRE ATT&amp;CK</a:t>
          </a:r>
        </a:p>
      </dsp:txBody>
      <dsp:txXfrm>
        <a:off x="5687684" y="2762645"/>
        <a:ext cx="3106510" cy="48108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65F942-28C7-4476-8CBC-06BCD0EDCB01}">
      <dsp:nvSpPr>
        <dsp:cNvPr id="0" name=""/>
        <dsp:cNvSpPr/>
      </dsp:nvSpPr>
      <dsp:spPr>
        <a:xfrm>
          <a:off x="1015999" y="1070223"/>
          <a:ext cx="6096000" cy="3278220"/>
        </a:xfrm>
        <a:prstGeom prst="round2DiagRect">
          <a:avLst>
            <a:gd name="adj1" fmla="val 0"/>
            <a:gd name="adj2" fmla="val 1667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08708F0-DA79-43D4-9C31-74A4039985D3}">
      <dsp:nvSpPr>
        <dsp:cNvPr id="0" name=""/>
        <dsp:cNvSpPr/>
      </dsp:nvSpPr>
      <dsp:spPr>
        <a:xfrm>
          <a:off x="4063999" y="1417913"/>
          <a:ext cx="812" cy="258284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C4F0085-36DE-4F5A-83FD-BB5507C81A68}">
      <dsp:nvSpPr>
        <dsp:cNvPr id="0" name=""/>
        <dsp:cNvSpPr/>
      </dsp:nvSpPr>
      <dsp:spPr>
        <a:xfrm>
          <a:off x="1219199" y="1318573"/>
          <a:ext cx="2641600" cy="27815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E" sz="3000" kern="1200" dirty="0"/>
            <a:t>Sacrifice for initiative</a:t>
          </a:r>
        </a:p>
      </dsp:txBody>
      <dsp:txXfrm>
        <a:off x="1219199" y="1318573"/>
        <a:ext cx="2641600" cy="2781520"/>
      </dsp:txXfrm>
    </dsp:sp>
    <dsp:sp modelId="{F10EE832-8226-4F1D-86BD-74804B272F4B}">
      <dsp:nvSpPr>
        <dsp:cNvPr id="0" name=""/>
        <dsp:cNvSpPr/>
      </dsp:nvSpPr>
      <dsp:spPr>
        <a:xfrm>
          <a:off x="4267199" y="1318573"/>
          <a:ext cx="2641600" cy="2781520"/>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E" sz="3000" kern="1200" dirty="0"/>
            <a:t>Leave a vulnerability exposed as “bait” (*Exception honeypots)</a:t>
          </a:r>
        </a:p>
      </dsp:txBody>
      <dsp:txXfrm>
        <a:off x="4267199" y="1318573"/>
        <a:ext cx="2641600" cy="2781520"/>
      </dsp:txXfrm>
    </dsp:sp>
    <dsp:sp modelId="{B44827F3-C1C4-477E-9B5A-5C75915C0236}">
      <dsp:nvSpPr>
        <dsp:cNvPr id="0" name=""/>
        <dsp:cNvSpPr/>
      </dsp:nvSpPr>
      <dsp:spPr>
        <a:xfrm rot="16200000">
          <a:off x="-1280120" y="1505953"/>
          <a:ext cx="3576240" cy="1016000"/>
        </a:xfrm>
        <a:prstGeom prst="rightArrow">
          <a:avLst>
            <a:gd name="adj1" fmla="val 49830"/>
            <a:gd name="adj2" fmla="val 60660"/>
          </a:avLst>
        </a:prstGeom>
        <a:solidFill>
          <a:schemeClr val="accent2">
            <a:tint val="4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r" defTabSz="1022350">
            <a:lnSpc>
              <a:spcPct val="90000"/>
            </a:lnSpc>
            <a:spcBef>
              <a:spcPct val="0"/>
            </a:spcBef>
            <a:spcAft>
              <a:spcPct val="35000"/>
            </a:spcAft>
            <a:buNone/>
          </a:pPr>
          <a:r>
            <a:rPr lang="en-IE" sz="2300" kern="1200" dirty="0"/>
            <a:t>Chess</a:t>
          </a:r>
        </a:p>
      </dsp:txBody>
      <dsp:txXfrm>
        <a:off x="-1126567" y="1914370"/>
        <a:ext cx="3269135" cy="506272"/>
      </dsp:txXfrm>
    </dsp:sp>
    <dsp:sp modelId="{10B83E6D-E6FD-44D1-9EF1-0EE1EF644798}">
      <dsp:nvSpPr>
        <dsp:cNvPr id="0" name=""/>
        <dsp:cNvSpPr/>
      </dsp:nvSpPr>
      <dsp:spPr>
        <a:xfrm rot="5400000">
          <a:off x="5831879" y="2896713"/>
          <a:ext cx="3576240" cy="1016000"/>
        </a:xfrm>
        <a:prstGeom prst="rightArrow">
          <a:avLst>
            <a:gd name="adj1" fmla="val 49830"/>
            <a:gd name="adj2" fmla="val 60660"/>
          </a:avLst>
        </a:prstGeom>
        <a:solidFill>
          <a:schemeClr val="accent2">
            <a:tint val="40000"/>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630" tIns="87630" rIns="87630" bIns="87630" numCol="1" spcCol="1270" anchor="ctr" anchorCtr="0">
          <a:noAutofit/>
        </a:bodyPr>
        <a:lstStyle/>
        <a:p>
          <a:pPr marL="0" lvl="0" indent="0" algn="r" defTabSz="1022350">
            <a:lnSpc>
              <a:spcPct val="90000"/>
            </a:lnSpc>
            <a:spcBef>
              <a:spcPct val="0"/>
            </a:spcBef>
            <a:spcAft>
              <a:spcPct val="35000"/>
            </a:spcAft>
            <a:buNone/>
          </a:pPr>
          <a:r>
            <a:rPr lang="en-IE" sz="2300" kern="1200" dirty="0"/>
            <a:t>MITRE ATT&amp;CK</a:t>
          </a:r>
        </a:p>
      </dsp:txBody>
      <dsp:txXfrm>
        <a:off x="5985432" y="2998025"/>
        <a:ext cx="3269135" cy="50627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layout4.xml><?xml version="1.0" encoding="utf-8"?>
<dgm:layoutDef xmlns:dgm="http://schemas.openxmlformats.org/drawingml/2006/diagram" xmlns:a="http://schemas.openxmlformats.org/drawingml/2006/main" uniqueId="urn:microsoft.com/office/officeart/2009/3/layout/OpposingIdeas">
  <dgm:title val=""/>
  <dgm:desc val=""/>
  <dgm:catLst>
    <dgm:cat type="relationship" pri="3400"/>
  </dgm:catLst>
  <dgm:samp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Lst>
      <dgm:cxnLst>
        <dgm:cxn modelId="30" srcId="0" destId="10" srcOrd="0" destOrd="0"/>
        <dgm:cxn modelId="12" srcId="10" destId="11" srcOrd="0" destOrd="0"/>
        <dgm:cxn modelId="40" srcId="0" destId="20" srcOrd="1" destOrd="0"/>
        <dgm:cxn modelId="22" srcId="20" destId="21" srcOrd="0" destOrd="0"/>
      </dgm:cxnLst>
      <dgm:bg/>
      <dgm:whole/>
    </dgm:dataModel>
  </dgm:clrData>
  <dgm:layoutNode name="Name0">
    <dgm:varLst>
      <dgm:chMax val="2"/>
      <dgm:dir/>
      <dgm:animOne val="branch"/>
      <dgm:animLvl val="lvl"/>
      <dgm:resizeHandles val="exact"/>
    </dgm:varLst>
    <dgm:choose name="Name1">
      <dgm:if name="Name2" axis="ch" ptType="node" func="cnt" op="lte" val="1">
        <dgm:alg type="composite">
          <dgm:param type="ar" val="0.9928"/>
        </dgm:alg>
      </dgm:if>
      <dgm:else name="Name3">
        <dgm:alg type="composite">
          <dgm:param type="ar" val="1.6364"/>
        </dgm:alg>
      </dgm:else>
    </dgm:choose>
    <dgm:shape xmlns:r="http://schemas.openxmlformats.org/officeDocument/2006/relationships" r:blip="">
      <dgm:adjLst/>
    </dgm:shape>
    <dgm:choose name="Name4">
      <dgm:if name="Name5" func="var" arg="dir" op="equ" val="norm">
        <dgm:choose name="Name6">
          <dgm:if name="Name7"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2963"/>
              <dgm:constr type="t" for="ch" forName="ChildText1" refType="h" fact="0.2722"/>
              <dgm:constr type="w" for="ch" forName="ChildText1" refType="w" fact="0.6534"/>
              <dgm:constr type="h" for="ch" forName="ChildText1" refType="h" fact="0.6682"/>
              <dgm:constr type="l" for="ch" forName="Background" refType="w" fact="0.246"/>
              <dgm:constr type="t" for="ch" forName="Background" refType="h" fact="0.2125"/>
              <dgm:constr type="w" for="ch" forName="Background" refType="w" fact="0.754"/>
              <dgm:constr type="h" for="ch" forName="Background" refType="h" fact="0.7875"/>
              <dgm:constr type="l" for="ch" forName="ParentText1" refType="w" fact="0"/>
              <dgm:constr type="t" for="ch" forName="ParentText1" refType="h" fact="0"/>
              <dgm:constr type="w" for="ch" forName="ParentText1" refType="w" fact="0.234"/>
              <dgm:constr type="h" for="ch" forName="ParentText1" refType="h" fact="0.8713"/>
              <dgm:constr type="l" for="ch" forName="ParentShape1" refType="w" fact="0"/>
              <dgm:constr type="t" for="ch" forName="ParentShape1" refType="h" fact="0"/>
              <dgm:constr type="w" for="ch" forName="ParentShape1" refType="w" fact="0.234"/>
              <dgm:constr type="h" for="ch" forName="ParentShape1" refType="h" fact="0.8713"/>
            </dgm:constrLst>
          </dgm:if>
          <dgm:else name="Name8">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l" for="ch" forName="ChildText1" refType="w" fact="0.15"/>
              <dgm:constr type="t" for="ch" forName="ChildText1" refType="h" fact="0.22"/>
              <dgm:constr type="w" for="ch" forName="ChildText1" refType="w" fact="0.325"/>
              <dgm:constr type="h" for="ch" forName="ChildText1" refType="h" fact="0.56"/>
              <dgm:constr type="l" for="ch" forName="ChildText2" refType="w" fact="0.525"/>
              <dgm:constr type="t" for="ch" forName="ChildText2" refType="h" fact="0.22"/>
              <dgm:constr type="w" for="ch" forName="ChildText2" refType="w" fact="0.325"/>
              <dgm:constr type="h" for="ch" forName="ChildText2" refType="h" fact="0.56"/>
              <dgm:constr type="l" for="ch" forName="Background" refType="w" fact="0.125"/>
              <dgm:constr type="t" for="ch" forName="Background" refType="h" fact="0.17"/>
              <dgm:constr type="w" for="ch" forName="Background" refType="w" fact="0.75"/>
              <dgm:constr type="h" for="ch" forName="Background" refType="h" fact="0.66"/>
              <dgm:constr type="l" for="ch" forName="ParentText1" refType="w" fact="0"/>
              <dgm:constr type="t" for="ch" forName="ParentText1" refType="h" fact="0"/>
              <dgm:constr type="w" for="ch" forName="ParentText1" refType="w" fact="0.125"/>
              <dgm:constr type="h" for="ch" forName="ParentText1" refType="h" fact="0.72"/>
              <dgm:constr type="l" for="ch" forName="ParentShape1" refType="w" fact="0"/>
              <dgm:constr type="t" for="ch" forName="ParentShape1" refType="h" fact="0"/>
              <dgm:constr type="w" for="ch" forName="ParentShape1" refType="w" fact="0.125"/>
              <dgm:constr type="h" for="ch" forName="ParentShape1" refType="h" fact="0.72"/>
              <dgm:constr type="l" for="ch" forName="ParentText2" refType="w" fact="0.875"/>
              <dgm:constr type="t" for="ch" forName="ParentText2" refType="h" fact="0.28"/>
              <dgm:constr type="w" for="ch" forName="ParentText2" refType="w" fact="0.125"/>
              <dgm:constr type="h" for="ch" forName="ParentText2" refType="h" fact="0.72"/>
              <dgm:constr type="l" for="ch" forName="ParentShape2" refType="w" fact="0.875"/>
              <dgm:constr type="t" for="ch" forName="ParentShape2" refType="h" fact="0.28"/>
              <dgm:constr type="w" for="ch" forName="ParentShape2" refType="w" fact="0.125"/>
              <dgm:constr type="h" for="ch" forName="ParentShape2" refType="h" fact="0.72"/>
              <dgm:constr type="l" for="ch" forName="Divider" refType="w" fact="0.5"/>
              <dgm:constr type="t" for="ch" forName="Divider" refType="h" fact="0.24"/>
              <dgm:constr type="w" for="ch" forName="Divider" refType="w" fact="0.0001"/>
              <dgm:constr type="h" for="ch" forName="Divider" refType="h" fact="0.52"/>
            </dgm:constrLst>
          </dgm:else>
        </dgm:choose>
      </dgm:if>
      <dgm:else name="Name9">
        <dgm:choose name="Name10">
          <dgm:if name="Name11" axis="ch" ptType="node" func="cnt" op="lte" val="1">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2455"/>
              <dgm:constr type="t" for="ch" forName="ChildText1" refType="h" fact="0.2651"/>
              <dgm:constr type="w" for="ch" forName="ChildText1" refType="w" fact="0.5351"/>
              <dgm:constr type="h" for="ch" forName="ChildText1" refType="h" fact="0.56"/>
              <dgm:constr type="r" for="ch" forName="Background" refType="w" fact="-0.246"/>
              <dgm:constr type="t" for="ch" forName="Background" refType="h" fact="0.2125"/>
              <dgm:constr type="w" for="ch" forName="Background" refType="w" fact="0.754"/>
              <dgm:constr type="h" for="ch" forName="Background" refType="h" fact="0.7875"/>
              <dgm:constr type="r" for="ch" forName="ParentText1" refType="w" fact="0"/>
              <dgm:constr type="t" for="ch" forName="ParentText1" refType="h" fact="0"/>
              <dgm:constr type="w" for="ch" forName="ParentText1" refType="w" fact="0.234"/>
              <dgm:constr type="h" for="ch" forName="ParentText1" refType="h" fact="0.8713"/>
              <dgm:constr type="r" for="ch" forName="ParentShape1" refType="w" fact="0"/>
              <dgm:constr type="t" for="ch" forName="ParentShape1" refType="h" fact="0"/>
              <dgm:constr type="w" for="ch" forName="ParentShape1" refType="w" fact="0.234"/>
              <dgm:constr type="h" for="ch" forName="ParentShape1" refType="h" fact="0.8713"/>
            </dgm:constrLst>
          </dgm:if>
          <dgm:else name="Name12">
            <dgm:constrLst>
              <dgm:constr type="primFontSz" for="des" forName="ParentText1" op="equ" val="65"/>
              <dgm:constr type="primFontSz" for="des" forName="ParentText2" refType="primFontSz" refFor="des" refForName="ParentText1" op="equ"/>
              <dgm:constr type="primFontSz" for="des" forName="ChildText1" op="equ" val="65"/>
              <dgm:constr type="primFontSz" for="des" forName="ChildText2" refType="primFontSz" refFor="des" refForName="ChildText1" op="equ"/>
              <dgm:constr type="r" for="ch" forName="ChildText1" refType="w" fact="-0.15"/>
              <dgm:constr type="t" for="ch" forName="ChildText1" refType="h" fact="0.22"/>
              <dgm:constr type="w" for="ch" forName="ChildText1" refType="w" fact="0.325"/>
              <dgm:constr type="h" for="ch" forName="ChildText1" refType="h" fact="0.56"/>
              <dgm:constr type="r" for="ch" forName="ChildText2" refType="w" fact="-0.525"/>
              <dgm:constr type="t" for="ch" forName="ChildText2" refType="h" fact="0.22"/>
              <dgm:constr type="w" for="ch" forName="ChildText2" refType="w" fact="0.325"/>
              <dgm:constr type="h" for="ch" forName="ChildText2" refType="h" fact="0.56"/>
              <dgm:constr type="r" for="ch" forName="Background" refType="w" fact="-0.125"/>
              <dgm:constr type="t" for="ch" forName="Background" refType="h" fact="0.17"/>
              <dgm:constr type="w" for="ch" forName="Background" refType="w" fact="0.75"/>
              <dgm:constr type="h" for="ch" forName="Background" refType="h" fact="0.66"/>
              <dgm:constr type="r" for="ch" forName="ParentText1" refType="w" fact="0"/>
              <dgm:constr type="t" for="ch" forName="ParentText1" refType="h" fact="0"/>
              <dgm:constr type="w" for="ch" forName="ParentText1" refType="w" fact="0.125"/>
              <dgm:constr type="h" for="ch" forName="ParentText1" refType="h" fact="0.72"/>
              <dgm:constr type="r" for="ch" forName="ParentShape1" refType="w" fact="0"/>
              <dgm:constr type="t" for="ch" forName="ParentShape1" refType="h" fact="0"/>
              <dgm:constr type="w" for="ch" forName="ParentShape1" refType="w" fact="0.125"/>
              <dgm:constr type="h" for="ch" forName="ParentShape1" refType="h" fact="0.72"/>
              <dgm:constr type="r" for="ch" forName="ParentText2" refType="w" fact="-0.875"/>
              <dgm:constr type="t" for="ch" forName="ParentText2" refType="h" fact="0.28"/>
              <dgm:constr type="w" for="ch" forName="ParentText2" refType="w" fact="0.125"/>
              <dgm:constr type="h" for="ch" forName="ParentText2" refType="h" fact="0.72"/>
              <dgm:constr type="r" for="ch" forName="ParentShape2" refType="w" fact="-0.875"/>
              <dgm:constr type="t" for="ch" forName="ParentShape2" refType="h" fact="0.28"/>
              <dgm:constr type="w" for="ch" forName="ParentShape2" refType="w" fact="0.125"/>
              <dgm:constr type="h" for="ch" forName="ParentShape2" refType="h" fact="0.72"/>
              <dgm:constr type="r" for="ch" forName="Divider" refType="w" fact="-0.5"/>
              <dgm:constr type="t" for="ch" forName="Divider" refType="h" fact="0.24"/>
              <dgm:constr type="w" for="ch" forName="Divider" refType="w" fact="0.0001"/>
              <dgm:constr type="h" for="ch" forName="Divider" refType="h" fact="0.52"/>
            </dgm:constrLst>
          </dgm:else>
        </dgm:choose>
      </dgm:else>
    </dgm:choose>
    <dgm:choose name="Name13">
      <dgm:if name="Name14" axis="ch" ptType="node" func="cnt" op="gte" val="1">
        <dgm:layoutNode name="Background" styleLbl="node1">
          <dgm:alg type="sp"/>
          <dgm:choose name="Name15">
            <dgm:if name="Name16" func="var" arg="dir" op="equ" val="norm">
              <dgm:shape xmlns:r="http://schemas.openxmlformats.org/officeDocument/2006/relationships" type="round2DiagRect" r:blip="">
                <dgm:adjLst>
                  <dgm:adj idx="1" val="0"/>
                  <dgm:adj idx="2" val="0.1667"/>
                </dgm:adjLst>
              </dgm:shape>
            </dgm:if>
            <dgm:else name="Name17">
              <dgm:shape xmlns:r="http://schemas.openxmlformats.org/officeDocument/2006/relationships" type="round2DiagRect" r:blip="">
                <dgm:adjLst>
                  <dgm:adj idx="1" val="0.1667"/>
                  <dgm:adj idx="2" val="0"/>
                </dgm:adjLst>
              </dgm:shape>
            </dgm:else>
          </dgm:choose>
          <dgm:presOf/>
        </dgm:layoutNode>
        <dgm:choose name="Name18">
          <dgm:if name="Name19" axis="ch" ptType="node" func="cnt" op="gte" val="2">
            <dgm:layoutNode name="Divider" styleLbl="callout">
              <dgm:alg type="sp"/>
              <dgm:shape xmlns:r="http://schemas.openxmlformats.org/officeDocument/2006/relationships" type="line" r:blip="">
                <dgm:adjLst/>
              </dgm:shape>
              <dgm:presOf/>
            </dgm:layoutNode>
          </dgm:if>
          <dgm:else name="Name20"/>
        </dgm:choose>
        <dgm:layoutNode name="ChildText1"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21">
          <dgm:if name="Name22" axis="ch" ptType="node" func="cnt" op="gte" val="2">
            <dgm:layoutNode name="ChildText2" styleLbl="revTx">
              <dgm:varLst>
                <dgm:chMax val="0"/>
                <dgm:chPref val="0"/>
                <dgm:bulletEnabled val="1"/>
              </dgm:varLst>
              <dgm:alg type="tx">
                <dgm:param type="parTxLTRAlign" val="l"/>
                <dgm:param type="txAnchorVert" val="t"/>
              </dgm:alg>
              <dgm:shape xmlns:r="http://schemas.openxmlformats.org/officeDocument/2006/relationships" type="rect" r:blip="" hideGeom="1">
                <dgm:adjLst/>
              </dgm:shape>
              <dgm:presOf axis="ch des"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23"/>
        </dgm:choose>
        <dgm:layoutNode name="ParentText1" styleLbl="revTx">
          <dgm:varLst>
            <dgm:chMax val="1"/>
            <dgm:chPref val="1"/>
          </dgm:varLst>
          <dgm:choose name="Name24">
            <dgm:if name="Name25" func="var" arg="dir" op="equ" val="norm">
              <dgm:alg type="tx">
                <dgm:param type="parTxLTRAlign" val="r"/>
                <dgm:param type="shpTxLTRAlignCh" val="r"/>
                <dgm:param type="txAnchorVertCh" val="mid"/>
                <dgm:param type="autoTxRot" val="grav"/>
              </dgm:alg>
            </dgm:if>
            <dgm:else name="Name26">
              <dgm:alg type="tx">
                <dgm:param type="parTxLTRAlign" val="l"/>
                <dgm:param type="shpTxLTRAlignCh" val="r"/>
                <dgm:param type="txAnchorVertCh" val="mid"/>
                <dgm:param type="autoTxRot" val="grav"/>
              </dgm:alg>
            </dgm:else>
          </dgm:choose>
          <dgm:choose name="Name27">
            <dgm:if name="Name28" func="var" arg="dir" op="equ" val="norm">
              <dgm:shape xmlns:r="http://schemas.openxmlformats.org/officeDocument/2006/relationships" rot="-90" type="rightArrow" r:blip="" hideGeom="1">
                <dgm:adjLst>
                  <dgm:adj idx="1" val="0.4983"/>
                  <dgm:adj idx="2" val="0.6066"/>
                </dgm:adjLst>
              </dgm:shape>
            </dgm:if>
            <dgm:else name="Name29">
              <dgm:shape xmlns:r="http://schemas.openxmlformats.org/officeDocument/2006/relationships" rot="90" type="leftArrow" r:blip="" hideGeom="1">
                <dgm:adjLst>
                  <dgm:adj idx="1" val="0.4983"/>
                  <dgm:adj idx="2" val="0.6066"/>
                </dgm:adjLst>
              </dgm:shape>
            </dgm:else>
          </dgm:choose>
          <dgm:presOf axis="ch 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1" styleLbl="alignImgPlace1">
          <dgm:varLst/>
          <dgm:alg type="sp"/>
          <dgm:presOf axis="ch self" ptType="node node" st="1 1" cnt="1 0"/>
          <dgm:choose name="Name30">
            <dgm:if name="Name31" func="var" arg="dir" op="equ" val="norm">
              <dgm:shape xmlns:r="http://schemas.openxmlformats.org/officeDocument/2006/relationships" rot="-90" type="rightArrow" r:blip="">
                <dgm:adjLst>
                  <dgm:adj idx="1" val="0.4983"/>
                  <dgm:adj idx="2" val="0.6066"/>
                </dgm:adjLst>
              </dgm:shape>
            </dgm:if>
            <dgm:else name="Name32">
              <dgm:shape xmlns:r="http://schemas.openxmlformats.org/officeDocument/2006/relationships" rot="90" type="leftArrow" r:blip="">
                <dgm:adjLst>
                  <dgm:adj idx="1" val="0.4983"/>
                  <dgm:adj idx="2" val="0.6066"/>
                </dgm:adjLst>
              </dgm:shape>
            </dgm:else>
          </dgm:choose>
        </dgm:layoutNode>
        <dgm:choose name="Name33">
          <dgm:if name="Name34" axis="ch" ptType="node" func="cnt" op="gte" val="2">
            <dgm:layoutNode name="ParentText2" styleLbl="revTx">
              <dgm:varLst>
                <dgm:chMax val="1"/>
                <dgm:chPref val="1"/>
              </dgm:varLst>
              <dgm:choose name="Name35">
                <dgm:if name="Name36" func="var" arg="dir" op="equ" val="norm">
                  <dgm:alg type="tx">
                    <dgm:param type="parTxLTRAlign" val="r"/>
                    <dgm:param type="shpTxLTRAlignCh" val="r"/>
                    <dgm:param type="txAnchorVertCh" val="mid"/>
                    <dgm:param type="autoTxRot" val="grav"/>
                  </dgm:alg>
                </dgm:if>
                <dgm:else name="Name37">
                  <dgm:alg type="tx">
                    <dgm:param type="parTxLTRAlign" val="l"/>
                    <dgm:param type="shpTxLTRAlignCh" val="r"/>
                    <dgm:param type="txAnchorVertCh" val="mid"/>
                    <dgm:param type="autoTxRot" val="grav"/>
                  </dgm:alg>
                </dgm:else>
              </dgm:choose>
              <dgm:choose name="Name38">
                <dgm:if name="Name39" func="var" arg="dir" op="equ" val="norm">
                  <dgm:shape xmlns:r="http://schemas.openxmlformats.org/officeDocument/2006/relationships" rot="90" type="rightArrow" r:blip="" hideGeom="1">
                    <dgm:adjLst>
                      <dgm:adj idx="1" val="0.4983"/>
                      <dgm:adj idx="2" val="0.6066"/>
                    </dgm:adjLst>
                  </dgm:shape>
                </dgm:if>
                <dgm:else name="Name40">
                  <dgm:shape xmlns:r="http://schemas.openxmlformats.org/officeDocument/2006/relationships" rot="-90" type="leftArrow" r:blip="" hideGeom="1">
                    <dgm:adjLst>
                      <dgm:adj idx="1" val="0.4983"/>
                      <dgm:adj idx="2" val="0.6066"/>
                    </dgm:adjLst>
                  </dgm:shape>
                </dgm:else>
              </dgm:choose>
              <dgm:presOf axis="ch 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Shape2" styleLbl="alignImgPlace1">
              <dgm:varLst/>
              <dgm:alg type="sp"/>
              <dgm:choose name="Name41">
                <dgm:if name="Name42" func="var" arg="dir" op="equ" val="norm">
                  <dgm:shape xmlns:r="http://schemas.openxmlformats.org/officeDocument/2006/relationships" rot="90" type="rightArrow" r:blip="">
                    <dgm:adjLst>
                      <dgm:adj idx="1" val="0.4983"/>
                      <dgm:adj idx="2" val="0.6066"/>
                    </dgm:adjLst>
                  </dgm:shape>
                </dgm:if>
                <dgm:else name="Name43">
                  <dgm:shape xmlns:r="http://schemas.openxmlformats.org/officeDocument/2006/relationships" rot="-90" type="leftArrow" r:blip="">
                    <dgm:adjLst>
                      <dgm:adj idx="1" val="0.4983"/>
                      <dgm:adj idx="2" val="0.6066"/>
                    </dgm:adjLst>
                  </dgm:shape>
                </dgm:else>
              </dgm:choose>
              <dgm:presOf axis="ch self" ptType="node node" st="2 1" cnt="1 0"/>
            </dgm:layoutNode>
          </dgm:if>
          <dgm:else name="Name44"/>
        </dgm:choose>
      </dgm:if>
      <dgm:else name="Name4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0F6CA4-67A9-4B61-AC55-E17B477DD70A}" type="datetimeFigureOut">
              <a:rPr lang="en-IE" smtClean="0"/>
              <a:t>08/08/2025</a:t>
            </a:fld>
            <a:endParaRPr lang="en-I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191E96-10EA-4647-BD28-6C1DA2984C7C}" type="slidenum">
              <a:rPr lang="en-IE" smtClean="0"/>
              <a:t>‹#›</a:t>
            </a:fld>
            <a:endParaRPr lang="en-IE"/>
          </a:p>
        </p:txBody>
      </p:sp>
    </p:spTree>
    <p:extLst>
      <p:ext uri="{BB962C8B-B14F-4D97-AF65-F5344CB8AC3E}">
        <p14:creationId xmlns:p14="http://schemas.microsoft.com/office/powerpoint/2010/main" val="1352764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2</a:t>
            </a:fld>
            <a:endParaRPr lang="en-IE"/>
          </a:p>
        </p:txBody>
      </p:sp>
    </p:spTree>
    <p:extLst>
      <p:ext uri="{BB962C8B-B14F-4D97-AF65-F5344CB8AC3E}">
        <p14:creationId xmlns:p14="http://schemas.microsoft.com/office/powerpoint/2010/main" val="38464032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3</a:t>
            </a:fld>
            <a:endParaRPr lang="en-IE"/>
          </a:p>
        </p:txBody>
      </p:sp>
    </p:spTree>
    <p:extLst>
      <p:ext uri="{BB962C8B-B14F-4D97-AF65-F5344CB8AC3E}">
        <p14:creationId xmlns:p14="http://schemas.microsoft.com/office/powerpoint/2010/main" val="5157946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312D3-9E95-1663-F70A-E863C0D0E1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EB243-F6A0-F2CB-F681-374973F1E3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F2B6E-9BEA-5FD2-26EA-09787DB237A5}"/>
              </a:ext>
            </a:extLst>
          </p:cNvPr>
          <p:cNvSpPr>
            <a:spLocks noGrp="1"/>
          </p:cNvSpPr>
          <p:nvPr>
            <p:ph type="body" idx="1"/>
          </p:nvPr>
        </p:nvSpPr>
        <p:spPr/>
        <p:txBody>
          <a:bodyPr/>
          <a:lstStyle/>
          <a:p>
            <a:r>
              <a:rPr lang="en-US" dirty="0"/>
              <a:t>“As part of my postgraduate diploma, I was offered the opportunity to do original research. I’ve played competitive chess for years, and I knew that chess trains how we switch between fast intuition and slow analysis </a:t>
            </a:r>
            <a:r>
              <a:rPr lang="ro-RO" dirty="0"/>
              <a:t>,</a:t>
            </a:r>
            <a:r>
              <a:rPr lang="en-US" dirty="0"/>
              <a:t>the exact cognitive tension phishing attacks try to exploit.</a:t>
            </a:r>
          </a:p>
          <a:p>
            <a:r>
              <a:rPr lang="en-US" dirty="0"/>
              <a:t>So I thought: what if chess players are naturally better at spotting phishing emails?”</a:t>
            </a:r>
          </a:p>
        </p:txBody>
      </p:sp>
      <p:sp>
        <p:nvSpPr>
          <p:cNvPr id="4" name="Slide Number Placeholder 3">
            <a:extLst>
              <a:ext uri="{FF2B5EF4-FFF2-40B4-BE49-F238E27FC236}">
                <a16:creationId xmlns:a16="http://schemas.microsoft.com/office/drawing/2014/main" id="{A0CFAB40-D775-D2BF-6EC4-8A12744EB102}"/>
              </a:ext>
            </a:extLst>
          </p:cNvPr>
          <p:cNvSpPr>
            <a:spLocks noGrp="1"/>
          </p:cNvSpPr>
          <p:nvPr>
            <p:ph type="sldNum" sz="quarter" idx="5"/>
          </p:nvPr>
        </p:nvSpPr>
        <p:spPr/>
        <p:txBody>
          <a:bodyPr/>
          <a:lstStyle/>
          <a:p>
            <a:fld id="{B1191E96-10EA-4647-BD28-6C1DA2984C7C}" type="slidenum">
              <a:rPr lang="en-IE" smtClean="0"/>
              <a:t>4</a:t>
            </a:fld>
            <a:endParaRPr lang="en-IE"/>
          </a:p>
        </p:txBody>
      </p:sp>
    </p:spTree>
    <p:extLst>
      <p:ext uri="{BB962C8B-B14F-4D97-AF65-F5344CB8AC3E}">
        <p14:creationId xmlns:p14="http://schemas.microsoft.com/office/powerpoint/2010/main" val="31814494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926" name="Notes Placeholder 1048925"/>
          <p:cNvSpPr>
            <a:spLocks noGrp="1"/>
          </p:cNvSpPr>
          <p:nvPr>
            <p:ph type="body"/>
          </p:nvPr>
        </p:nvSpPr>
        <p:spPr/>
        <p:txBody>
          <a:bodyPr/>
          <a:lstStyle/>
          <a:p>
            <a:r>
              <a:rPr lang="zh-CN" altLang="en-US" dirty="0"/>
              <a:t>There are many theories that try to explain how we think. Some are very out there while some are very easy to grasp.
Surprisingly to me at first, there are also a ton of theories that researched why and how chess players get so good at chess. 
Personally, I always believed That chess is a skill you learn by practice, practice, practice. I was not one of the few lucky people just born with a gift are what we call “talented”, and they become grand masters by age 13. I studied chess as a job since the age of 8, Thats how I got good. I was not talented I just worked a lot. Going bck to research, researchers looked into how then chess players get to master the game. So they obviously looked at what happens in their mind. Two seminal works are A de Groot’s who found:
Masters didn’t look further ahead than amateurs in number of moves.
Instead, they had better pattern recognition, leading to faster, more accurate decisions. 
Introduced the idea that expertise relies on chunking — storing meaningful patterns in memory.
Chase and Simon used memory recall experiments with chess positions that showed:
Masters could recall real (structured) chess positions almost perfectly.But they performed no better than novices with random positions.
This confirmed that expertise comes from recognizing meaningful chunks, not general memory ability.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6</a:t>
            </a:fld>
            <a:endParaRPr lang="en-IE"/>
          </a:p>
        </p:txBody>
      </p:sp>
    </p:spTree>
    <p:extLst>
      <p:ext uri="{BB962C8B-B14F-4D97-AF65-F5344CB8AC3E}">
        <p14:creationId xmlns:p14="http://schemas.microsoft.com/office/powerpoint/2010/main" val="544520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344A5-7850-4610-F009-43C9AB339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E1D86-F6F0-9917-F81A-4BCAA88B73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DA9583-EDBF-55F9-3918-0041B74FDDA5}"/>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51A3E98F-DA7C-1820-8578-779B79FAEFA8}"/>
              </a:ext>
            </a:extLst>
          </p:cNvPr>
          <p:cNvSpPr>
            <a:spLocks noGrp="1"/>
          </p:cNvSpPr>
          <p:nvPr>
            <p:ph type="sldNum" sz="quarter" idx="5"/>
          </p:nvPr>
        </p:nvSpPr>
        <p:spPr/>
        <p:txBody>
          <a:bodyPr/>
          <a:lstStyle/>
          <a:p>
            <a:fld id="{B1191E96-10EA-4647-BD28-6C1DA2984C7C}" type="slidenum">
              <a:rPr lang="en-IE" smtClean="0"/>
              <a:t>7</a:t>
            </a:fld>
            <a:endParaRPr lang="en-IE"/>
          </a:p>
        </p:txBody>
      </p:sp>
    </p:spTree>
    <p:extLst>
      <p:ext uri="{BB962C8B-B14F-4D97-AF65-F5344CB8AC3E}">
        <p14:creationId xmlns:p14="http://schemas.microsoft.com/office/powerpoint/2010/main" val="4519764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9E289-7810-9AEC-A19C-77B1541C50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F567C-A824-9E29-C3F3-4B07E31DCB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8A505-47E5-9A29-7485-291B6DB32B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 both chess and phishing, decisions made too quickly can be dangerous, </a:t>
            </a:r>
            <a:r>
              <a:rPr lang="en-US" sz="1200" b="1" dirty="0"/>
              <a:t>switching systems </a:t>
            </a:r>
            <a:r>
              <a:rPr lang="en-US" sz="1200" dirty="0"/>
              <a:t>is a cognitive skill. </a:t>
            </a:r>
            <a:endParaRPr lang="en-IE" sz="1200" dirty="0"/>
          </a:p>
          <a:p>
            <a:endParaRPr lang="en-IE" dirty="0"/>
          </a:p>
        </p:txBody>
      </p:sp>
      <p:sp>
        <p:nvSpPr>
          <p:cNvPr id="4" name="Slide Number Placeholder 3">
            <a:extLst>
              <a:ext uri="{FF2B5EF4-FFF2-40B4-BE49-F238E27FC236}">
                <a16:creationId xmlns:a16="http://schemas.microsoft.com/office/drawing/2014/main" id="{06D87EB3-21DE-7EC0-ADC0-409060783475}"/>
              </a:ext>
            </a:extLst>
          </p:cNvPr>
          <p:cNvSpPr>
            <a:spLocks noGrp="1"/>
          </p:cNvSpPr>
          <p:nvPr>
            <p:ph type="sldNum" sz="quarter" idx="5"/>
          </p:nvPr>
        </p:nvSpPr>
        <p:spPr/>
        <p:txBody>
          <a:bodyPr/>
          <a:lstStyle/>
          <a:p>
            <a:fld id="{B1191E96-10EA-4647-BD28-6C1DA2984C7C}" type="slidenum">
              <a:rPr lang="en-IE" smtClean="0"/>
              <a:t>8</a:t>
            </a:fld>
            <a:endParaRPr lang="en-IE"/>
          </a:p>
        </p:txBody>
      </p:sp>
    </p:spTree>
    <p:extLst>
      <p:ext uri="{BB962C8B-B14F-4D97-AF65-F5344CB8AC3E}">
        <p14:creationId xmlns:p14="http://schemas.microsoft.com/office/powerpoint/2010/main" val="4771357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AB120C-EDD6-795F-675D-7882B0B37B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C40092-11C0-8770-1872-409818517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52F9AB-48B5-7C55-2D1B-EDC4E51D2FD8}"/>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3494F884-0017-2FBC-5815-798FB3A33F83}"/>
              </a:ext>
            </a:extLst>
          </p:cNvPr>
          <p:cNvSpPr>
            <a:spLocks noGrp="1"/>
          </p:cNvSpPr>
          <p:nvPr>
            <p:ph type="sldNum" sz="quarter" idx="5"/>
          </p:nvPr>
        </p:nvSpPr>
        <p:spPr/>
        <p:txBody>
          <a:bodyPr/>
          <a:lstStyle/>
          <a:p>
            <a:fld id="{B1191E96-10EA-4647-BD28-6C1DA2984C7C}" type="slidenum">
              <a:rPr lang="en-IE" smtClean="0"/>
              <a:t>9</a:t>
            </a:fld>
            <a:endParaRPr lang="en-IE"/>
          </a:p>
        </p:txBody>
      </p:sp>
    </p:spTree>
    <p:extLst>
      <p:ext uri="{BB962C8B-B14F-4D97-AF65-F5344CB8AC3E}">
        <p14:creationId xmlns:p14="http://schemas.microsoft.com/office/powerpoint/2010/main" val="3612887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D735A9-812F-0BC9-70F0-85645A150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9439E-91C8-56B7-034D-90E8C798B6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99B6C9-2F11-B266-717B-5EF49070F0AF}"/>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314C9C8C-706C-9EF7-EE26-14037B6B3CEE}"/>
              </a:ext>
            </a:extLst>
          </p:cNvPr>
          <p:cNvSpPr>
            <a:spLocks noGrp="1"/>
          </p:cNvSpPr>
          <p:nvPr>
            <p:ph type="sldNum" sz="quarter" idx="5"/>
          </p:nvPr>
        </p:nvSpPr>
        <p:spPr/>
        <p:txBody>
          <a:bodyPr/>
          <a:lstStyle/>
          <a:p>
            <a:fld id="{B1191E96-10EA-4647-BD28-6C1DA2984C7C}" type="slidenum">
              <a:rPr lang="en-IE" smtClean="0"/>
              <a:t>10</a:t>
            </a:fld>
            <a:endParaRPr lang="en-IE"/>
          </a:p>
        </p:txBody>
      </p:sp>
    </p:spTree>
    <p:extLst>
      <p:ext uri="{BB962C8B-B14F-4D97-AF65-F5344CB8AC3E}">
        <p14:creationId xmlns:p14="http://schemas.microsoft.com/office/powerpoint/2010/main" val="2184006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A8261-5E91-BBC4-4AE0-E933B7E3F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EDD06-E3F5-6036-4143-C02807C88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6196EF-0461-C932-6E19-A0ADF791C007}"/>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95C8E5A9-5C1F-1F53-0F64-F53C80C53BCA}"/>
              </a:ext>
            </a:extLst>
          </p:cNvPr>
          <p:cNvSpPr>
            <a:spLocks noGrp="1"/>
          </p:cNvSpPr>
          <p:nvPr>
            <p:ph type="sldNum" sz="quarter" idx="5"/>
          </p:nvPr>
        </p:nvSpPr>
        <p:spPr/>
        <p:txBody>
          <a:bodyPr/>
          <a:lstStyle/>
          <a:p>
            <a:fld id="{B1191E96-10EA-4647-BD28-6C1DA2984C7C}" type="slidenum">
              <a:rPr lang="en-IE" smtClean="0"/>
              <a:t>11</a:t>
            </a:fld>
            <a:endParaRPr lang="en-IE"/>
          </a:p>
        </p:txBody>
      </p:sp>
    </p:spTree>
    <p:extLst>
      <p:ext uri="{BB962C8B-B14F-4D97-AF65-F5344CB8AC3E}">
        <p14:creationId xmlns:p14="http://schemas.microsoft.com/office/powerpoint/2010/main" val="19709265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A340A-0912-5F3A-FF71-3A2C9CFC60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1D45B-753D-8B26-A99D-0C48A7ABB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FEBEB1-A436-4081-3550-61A5DEA70A01}"/>
              </a:ext>
            </a:extLst>
          </p:cNvPr>
          <p:cNvSpPr>
            <a:spLocks noGrp="1"/>
          </p:cNvSpPr>
          <p:nvPr>
            <p:ph type="body" idx="1"/>
          </p:nvPr>
        </p:nvSpPr>
        <p:spPr/>
        <p:txBody>
          <a:bodyPr/>
          <a:lstStyle/>
          <a:p>
            <a:r>
              <a:rPr lang="en-US" dirty="0"/>
              <a:t>"If phishing attacks exploit Type 1 thinking, yet our training focuses almost entirely on promoting Type 2 thinking… are we missing something?</a:t>
            </a:r>
            <a:endParaRPr lang="en-IE" dirty="0"/>
          </a:p>
        </p:txBody>
      </p:sp>
      <p:sp>
        <p:nvSpPr>
          <p:cNvPr id="4" name="Slide Number Placeholder 3">
            <a:extLst>
              <a:ext uri="{FF2B5EF4-FFF2-40B4-BE49-F238E27FC236}">
                <a16:creationId xmlns:a16="http://schemas.microsoft.com/office/drawing/2014/main" id="{3A912778-70A0-0BEE-209F-279D6958CBD8}"/>
              </a:ext>
            </a:extLst>
          </p:cNvPr>
          <p:cNvSpPr>
            <a:spLocks noGrp="1"/>
          </p:cNvSpPr>
          <p:nvPr>
            <p:ph type="sldNum" sz="quarter" idx="5"/>
          </p:nvPr>
        </p:nvSpPr>
        <p:spPr/>
        <p:txBody>
          <a:bodyPr/>
          <a:lstStyle/>
          <a:p>
            <a:fld id="{B1191E96-10EA-4647-BD28-6C1DA2984C7C}" type="slidenum">
              <a:rPr lang="en-IE" smtClean="0"/>
              <a:t>12</a:t>
            </a:fld>
            <a:endParaRPr lang="en-IE"/>
          </a:p>
        </p:txBody>
      </p:sp>
    </p:spTree>
    <p:extLst>
      <p:ext uri="{BB962C8B-B14F-4D97-AF65-F5344CB8AC3E}">
        <p14:creationId xmlns:p14="http://schemas.microsoft.com/office/powerpoint/2010/main" val="17463191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E1B5-063D-0AB3-0DD3-5BD9627BD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39A864-545B-6B81-5F31-7BB279C46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9331E-2C73-6FAF-A70E-893E86B79348}"/>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6DBFCFAC-ACAB-1AA8-4D69-A3C793166A77}"/>
              </a:ext>
            </a:extLst>
          </p:cNvPr>
          <p:cNvSpPr>
            <a:spLocks noGrp="1"/>
          </p:cNvSpPr>
          <p:nvPr>
            <p:ph type="sldNum" sz="quarter" idx="5"/>
          </p:nvPr>
        </p:nvSpPr>
        <p:spPr/>
        <p:txBody>
          <a:bodyPr/>
          <a:lstStyle/>
          <a:p>
            <a:fld id="{B1191E96-10EA-4647-BD28-6C1DA2984C7C}" type="slidenum">
              <a:rPr lang="en-IE" smtClean="0"/>
              <a:t>13</a:t>
            </a:fld>
            <a:endParaRPr lang="en-IE"/>
          </a:p>
        </p:txBody>
      </p:sp>
    </p:spTree>
    <p:extLst>
      <p:ext uri="{BB962C8B-B14F-4D97-AF65-F5344CB8AC3E}">
        <p14:creationId xmlns:p14="http://schemas.microsoft.com/office/powerpoint/2010/main" val="28421206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8B82E-EE81-983F-5EFF-E80F6F0641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868B0A-3BB4-EFCC-B60C-11B46CCF83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58DDE-B7E6-2809-C929-412ACEE94DC5}"/>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C3C9CC99-90E8-33A6-FFF9-423CA62E777C}"/>
              </a:ext>
            </a:extLst>
          </p:cNvPr>
          <p:cNvSpPr>
            <a:spLocks noGrp="1"/>
          </p:cNvSpPr>
          <p:nvPr>
            <p:ph type="sldNum" sz="quarter" idx="5"/>
          </p:nvPr>
        </p:nvSpPr>
        <p:spPr/>
        <p:txBody>
          <a:bodyPr/>
          <a:lstStyle/>
          <a:p>
            <a:fld id="{B1191E96-10EA-4647-BD28-6C1DA2984C7C}" type="slidenum">
              <a:rPr lang="en-IE" smtClean="0"/>
              <a:t>14</a:t>
            </a:fld>
            <a:endParaRPr lang="en-IE"/>
          </a:p>
        </p:txBody>
      </p:sp>
    </p:spTree>
    <p:extLst>
      <p:ext uri="{BB962C8B-B14F-4D97-AF65-F5344CB8AC3E}">
        <p14:creationId xmlns:p14="http://schemas.microsoft.com/office/powerpoint/2010/main" val="28315374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15</a:t>
            </a:fld>
            <a:endParaRPr lang="en-IE"/>
          </a:p>
        </p:txBody>
      </p:sp>
    </p:spTree>
    <p:extLst>
      <p:ext uri="{BB962C8B-B14F-4D97-AF65-F5344CB8AC3E}">
        <p14:creationId xmlns:p14="http://schemas.microsoft.com/office/powerpoint/2010/main" val="113583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90% of participants found this correctly</a:t>
            </a:r>
          </a:p>
        </p:txBody>
      </p:sp>
      <p:sp>
        <p:nvSpPr>
          <p:cNvPr id="4" name="Slide Number Placeholder 3"/>
          <p:cNvSpPr>
            <a:spLocks noGrp="1"/>
          </p:cNvSpPr>
          <p:nvPr>
            <p:ph type="sldNum" sz="quarter" idx="5"/>
          </p:nvPr>
        </p:nvSpPr>
        <p:spPr/>
        <p:txBody>
          <a:bodyPr/>
          <a:lstStyle/>
          <a:p>
            <a:fld id="{B1191E96-10EA-4647-BD28-6C1DA2984C7C}" type="slidenum">
              <a:rPr lang="en-IE" smtClean="0"/>
              <a:t>16</a:t>
            </a:fld>
            <a:endParaRPr lang="en-IE"/>
          </a:p>
        </p:txBody>
      </p:sp>
    </p:spTree>
    <p:extLst>
      <p:ext uri="{BB962C8B-B14F-4D97-AF65-F5344CB8AC3E}">
        <p14:creationId xmlns:p14="http://schemas.microsoft.com/office/powerpoint/2010/main" val="34613160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81.97% got this WRONG</a:t>
            </a:r>
          </a:p>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17</a:t>
            </a:fld>
            <a:endParaRPr lang="en-IE"/>
          </a:p>
        </p:txBody>
      </p:sp>
    </p:spTree>
    <p:extLst>
      <p:ext uri="{BB962C8B-B14F-4D97-AF65-F5344CB8AC3E}">
        <p14:creationId xmlns:p14="http://schemas.microsoft.com/office/powerpoint/2010/main" val="13540368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85.25% people got this WRONG</a:t>
            </a:r>
          </a:p>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18</a:t>
            </a:fld>
            <a:endParaRPr lang="en-IE"/>
          </a:p>
        </p:txBody>
      </p:sp>
    </p:spTree>
    <p:extLst>
      <p:ext uri="{BB962C8B-B14F-4D97-AF65-F5344CB8AC3E}">
        <p14:creationId xmlns:p14="http://schemas.microsoft.com/office/powerpoint/2010/main" val="198930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dirty="0"/>
              <a:t>In general, </a:t>
            </a:r>
            <a:r>
              <a:rPr lang="en-US" dirty="0"/>
              <a:t>cyber training did not appear to have a strong impact </a:t>
            </a:r>
            <a:r>
              <a:rPr lang="en-IE" dirty="0"/>
              <a:t>on accuracy</a:t>
            </a:r>
            <a:endParaRPr lang="en-US" sz="1600" dirty="0"/>
          </a:p>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19</a:t>
            </a:fld>
            <a:endParaRPr lang="en-IE"/>
          </a:p>
        </p:txBody>
      </p:sp>
    </p:spTree>
    <p:extLst>
      <p:ext uri="{BB962C8B-B14F-4D97-AF65-F5344CB8AC3E}">
        <p14:creationId xmlns:p14="http://schemas.microsoft.com/office/powerpoint/2010/main" val="9930365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dirty="0"/>
              <a:t>35 YES</a:t>
            </a:r>
          </a:p>
          <a:p>
            <a:r>
              <a:rPr lang="en-IE" dirty="0"/>
              <a:t>26 NO</a:t>
            </a:r>
          </a:p>
        </p:txBody>
      </p:sp>
      <p:sp>
        <p:nvSpPr>
          <p:cNvPr id="4" name="Slide Number Placeholder 3"/>
          <p:cNvSpPr>
            <a:spLocks noGrp="1"/>
          </p:cNvSpPr>
          <p:nvPr>
            <p:ph type="sldNum" sz="quarter" idx="5"/>
          </p:nvPr>
        </p:nvSpPr>
        <p:spPr/>
        <p:txBody>
          <a:bodyPr/>
          <a:lstStyle/>
          <a:p>
            <a:fld id="{B1191E96-10EA-4647-BD28-6C1DA2984C7C}" type="slidenum">
              <a:rPr lang="en-IE" smtClean="0"/>
              <a:t>20</a:t>
            </a:fld>
            <a:endParaRPr lang="en-IE"/>
          </a:p>
        </p:txBody>
      </p:sp>
    </p:spTree>
    <p:extLst>
      <p:ext uri="{BB962C8B-B14F-4D97-AF65-F5344CB8AC3E}">
        <p14:creationId xmlns:p14="http://schemas.microsoft.com/office/powerpoint/2010/main" val="23372066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6902BF-327E-D159-0712-64A299EF6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DA84D-AFF8-3DB7-7D33-02BDD790AA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35EA0A-F9EC-2E1C-7806-7E150660FCCA}"/>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12FA2254-C610-C9B4-3EAB-A34B142EF5A5}"/>
              </a:ext>
            </a:extLst>
          </p:cNvPr>
          <p:cNvSpPr>
            <a:spLocks noGrp="1"/>
          </p:cNvSpPr>
          <p:nvPr>
            <p:ph type="sldNum" sz="quarter" idx="5"/>
          </p:nvPr>
        </p:nvSpPr>
        <p:spPr/>
        <p:txBody>
          <a:bodyPr/>
          <a:lstStyle/>
          <a:p>
            <a:fld id="{B1191E96-10EA-4647-BD28-6C1DA2984C7C}" type="slidenum">
              <a:rPr lang="en-IE" smtClean="0"/>
              <a:t>21</a:t>
            </a:fld>
            <a:endParaRPr lang="en-IE"/>
          </a:p>
        </p:txBody>
      </p:sp>
    </p:spTree>
    <p:extLst>
      <p:ext uri="{BB962C8B-B14F-4D97-AF65-F5344CB8AC3E}">
        <p14:creationId xmlns:p14="http://schemas.microsoft.com/office/powerpoint/2010/main" val="18820717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745FC-095B-4325-60CF-9EAF453464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5EFEC-C991-1D21-E3CB-66DD83ADA5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0DF799-CC22-E42D-2F09-97F101FDE036}"/>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E84EF5B6-0565-9E63-9DE1-219210BD044D}"/>
              </a:ext>
            </a:extLst>
          </p:cNvPr>
          <p:cNvSpPr>
            <a:spLocks noGrp="1"/>
          </p:cNvSpPr>
          <p:nvPr>
            <p:ph type="sldNum" sz="quarter" idx="5"/>
          </p:nvPr>
        </p:nvSpPr>
        <p:spPr/>
        <p:txBody>
          <a:bodyPr/>
          <a:lstStyle/>
          <a:p>
            <a:fld id="{B1191E96-10EA-4647-BD28-6C1DA2984C7C}" type="slidenum">
              <a:rPr lang="en-IE" smtClean="0"/>
              <a:t>22</a:t>
            </a:fld>
            <a:endParaRPr lang="en-IE"/>
          </a:p>
        </p:txBody>
      </p:sp>
    </p:spTree>
    <p:extLst>
      <p:ext uri="{BB962C8B-B14F-4D97-AF65-F5344CB8AC3E}">
        <p14:creationId xmlns:p14="http://schemas.microsoft.com/office/powerpoint/2010/main" val="1081057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8D303-BF5D-18CA-9A45-D13D7E2DCC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87094-CEF8-A72F-6889-7237CF676E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9B2683-EACF-CA5E-3AF6-7800E43E4F39}"/>
              </a:ext>
            </a:extLst>
          </p:cNvPr>
          <p:cNvSpPr>
            <a:spLocks noGrp="1"/>
          </p:cNvSpPr>
          <p:nvPr>
            <p:ph type="body" idx="1"/>
          </p:nvPr>
        </p:nvSpPr>
        <p:spPr/>
        <p:txBody>
          <a:bodyPr/>
          <a:lstStyle/>
          <a:p>
            <a:r>
              <a:rPr lang="en-US" dirty="0"/>
              <a:t>A post hoc comparison using Bonferroni correction revealed that detection accuracy was significantly higher for obvious phishing compared to sophisticated phishing (p = .001, d = 0.696), and for legitimate emails compared to sophisticated phishing (p = .001, d = 1.34). The difference between obvious phishing and legitimate emails was marginally significant under Holm correction (p = .037), but not under Bonferroni (p = .110).</a:t>
            </a:r>
          </a:p>
          <a:p>
            <a:endParaRPr lang="en-US" dirty="0"/>
          </a:p>
          <a:p>
            <a:r>
              <a:rPr lang="en-US" dirty="0"/>
              <a:t>This shows that the participants, even confident ones, still struggled with sophisticated phishing emails, which are </a:t>
            </a:r>
            <a:r>
              <a:rPr lang="en-US" b="0" dirty="0"/>
              <a:t>designed to evade System 2 scrutiny</a:t>
            </a:r>
            <a:r>
              <a:rPr lang="en-US" dirty="0"/>
              <a:t>. This reinforces the need for continual cognitive training, alertness, and better phishing simulation tools.</a:t>
            </a:r>
            <a:endParaRPr lang="en-IE" dirty="0"/>
          </a:p>
        </p:txBody>
      </p:sp>
      <p:sp>
        <p:nvSpPr>
          <p:cNvPr id="4" name="Slide Number Placeholder 3">
            <a:extLst>
              <a:ext uri="{FF2B5EF4-FFF2-40B4-BE49-F238E27FC236}">
                <a16:creationId xmlns:a16="http://schemas.microsoft.com/office/drawing/2014/main" id="{144870E5-DAC3-6B58-CCAA-6285FFC09C34}"/>
              </a:ext>
            </a:extLst>
          </p:cNvPr>
          <p:cNvSpPr>
            <a:spLocks noGrp="1"/>
          </p:cNvSpPr>
          <p:nvPr>
            <p:ph type="sldNum" sz="quarter" idx="5"/>
          </p:nvPr>
        </p:nvSpPr>
        <p:spPr/>
        <p:txBody>
          <a:bodyPr/>
          <a:lstStyle/>
          <a:p>
            <a:fld id="{B1191E96-10EA-4647-BD28-6C1DA2984C7C}" type="slidenum">
              <a:rPr lang="en-IE" smtClean="0"/>
              <a:t>23</a:t>
            </a:fld>
            <a:endParaRPr lang="en-IE"/>
          </a:p>
        </p:txBody>
      </p:sp>
    </p:spTree>
    <p:extLst>
      <p:ext uri="{BB962C8B-B14F-4D97-AF65-F5344CB8AC3E}">
        <p14:creationId xmlns:p14="http://schemas.microsoft.com/office/powerpoint/2010/main" val="23744119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EB82D-D9EB-C8C1-D99A-F3BC70BE5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0DF25-ADFE-A0B4-61E0-A66A5BF7FA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83D98A-BB8D-8573-5F84-9AE0AA5821E8}"/>
              </a:ext>
            </a:extLst>
          </p:cNvPr>
          <p:cNvSpPr>
            <a:spLocks noGrp="1"/>
          </p:cNvSpPr>
          <p:nvPr>
            <p:ph type="body" idx="1"/>
          </p:nvPr>
        </p:nvSpPr>
        <p:spPr/>
        <p:txBody>
          <a:bodyPr/>
          <a:lstStyle/>
          <a:p>
            <a:r>
              <a:rPr lang="en-IE" dirty="0"/>
              <a:t>Chess Players: </a:t>
            </a:r>
          </a:p>
          <a:p>
            <a:r>
              <a:rPr lang="en-US" sz="1200" b="0" i="0" u="none" strike="noStrike" kern="1200" dirty="0">
                <a:solidFill>
                  <a:schemeClr val="tx1"/>
                </a:solidFill>
                <a:effectLst/>
                <a:latin typeface="+mn-lt"/>
                <a:ea typeface="+mn-ea"/>
                <a:cs typeface="+mn-cs"/>
              </a:rPr>
              <a:t>Identified </a:t>
            </a:r>
            <a:r>
              <a:rPr lang="en-US" sz="1200" b="1" i="0" u="none" strike="noStrike" kern="1200" dirty="0">
                <a:solidFill>
                  <a:schemeClr val="tx1"/>
                </a:solidFill>
                <a:effectLst/>
                <a:latin typeface="+mn-lt"/>
                <a:ea typeface="+mn-ea"/>
                <a:cs typeface="+mn-cs"/>
              </a:rPr>
              <a:t>obvious phishing</a:t>
            </a:r>
            <a:r>
              <a:rPr lang="en-US" sz="1200" b="0" i="0" u="none" strike="noStrike" kern="1200" dirty="0">
                <a:solidFill>
                  <a:schemeClr val="tx1"/>
                </a:solidFill>
                <a:effectLst/>
                <a:latin typeface="+mn-lt"/>
                <a:ea typeface="+mn-ea"/>
                <a:cs typeface="+mn-cs"/>
              </a:rPr>
              <a:t> significantly better than legitimate</a:t>
            </a:r>
          </a:p>
          <a:p>
            <a:r>
              <a:rPr lang="en-US" sz="1200" b="0" i="0" u="none" strike="noStrike" kern="1200" dirty="0">
                <a:solidFill>
                  <a:schemeClr val="tx1"/>
                </a:solidFill>
                <a:effectLst/>
                <a:latin typeface="+mn-lt"/>
                <a:ea typeface="+mn-ea"/>
                <a:cs typeface="+mn-cs"/>
              </a:rPr>
              <a:t>Identified </a:t>
            </a:r>
            <a:r>
              <a:rPr lang="en-US" sz="1200" b="1" i="0" u="none" strike="noStrike" kern="1200" dirty="0">
                <a:solidFill>
                  <a:schemeClr val="tx1"/>
                </a:solidFill>
                <a:effectLst/>
                <a:latin typeface="+mn-lt"/>
                <a:ea typeface="+mn-ea"/>
                <a:cs typeface="+mn-cs"/>
              </a:rPr>
              <a:t>sophisticated phishing</a:t>
            </a:r>
            <a:r>
              <a:rPr lang="en-US" sz="1200" b="0" i="0" u="none" strike="noStrike" kern="1200" dirty="0">
                <a:solidFill>
                  <a:schemeClr val="tx1"/>
                </a:solidFill>
                <a:effectLst/>
                <a:latin typeface="+mn-lt"/>
                <a:ea typeface="+mn-ea"/>
                <a:cs typeface="+mn-cs"/>
              </a:rPr>
              <a:t> better than legitimate </a:t>
            </a:r>
            <a:endParaRPr lang="en-US" dirty="0"/>
          </a:p>
          <a:p>
            <a:r>
              <a:rPr lang="en-US" dirty="0"/>
              <a:t>Non-Chess Players:</a:t>
            </a:r>
          </a:p>
          <a:p>
            <a:r>
              <a:rPr lang="en-US" dirty="0"/>
              <a:t>Better at both phishing types than legitimate emails</a:t>
            </a:r>
          </a:p>
          <a:p>
            <a:r>
              <a:rPr lang="en-US" dirty="0"/>
              <a:t>Better at obvious vs sophisticated phishing </a:t>
            </a:r>
          </a:p>
          <a:p>
            <a:r>
              <a:rPr lang="en-US" dirty="0"/>
              <a:t>Indicates drop in accuracy as phishing difficulty increased</a:t>
            </a:r>
          </a:p>
          <a:p>
            <a:endParaRPr lang="en-US" dirty="0"/>
          </a:p>
          <a:p>
            <a:r>
              <a:rPr lang="en-US" dirty="0"/>
              <a:t>Ironically, it wasn't the phishing emails that tripped participants up the most, it was the legitimate ones. Half of the time, they flagged real messages as phishing.</a:t>
            </a:r>
          </a:p>
          <a:p>
            <a:endParaRPr lang="en-IE" dirty="0"/>
          </a:p>
        </p:txBody>
      </p:sp>
      <p:sp>
        <p:nvSpPr>
          <p:cNvPr id="4" name="Slide Number Placeholder 3">
            <a:extLst>
              <a:ext uri="{FF2B5EF4-FFF2-40B4-BE49-F238E27FC236}">
                <a16:creationId xmlns:a16="http://schemas.microsoft.com/office/drawing/2014/main" id="{0021AE7B-497C-D370-F1DE-6BD78EC0D885}"/>
              </a:ext>
            </a:extLst>
          </p:cNvPr>
          <p:cNvSpPr>
            <a:spLocks noGrp="1"/>
          </p:cNvSpPr>
          <p:nvPr>
            <p:ph type="sldNum" sz="quarter" idx="5"/>
          </p:nvPr>
        </p:nvSpPr>
        <p:spPr/>
        <p:txBody>
          <a:bodyPr/>
          <a:lstStyle/>
          <a:p>
            <a:fld id="{B1191E96-10EA-4647-BD28-6C1DA2984C7C}" type="slidenum">
              <a:rPr lang="en-IE" smtClean="0"/>
              <a:t>24</a:t>
            </a:fld>
            <a:endParaRPr lang="en-IE"/>
          </a:p>
        </p:txBody>
      </p:sp>
    </p:spTree>
    <p:extLst>
      <p:ext uri="{BB962C8B-B14F-4D97-AF65-F5344CB8AC3E}">
        <p14:creationId xmlns:p14="http://schemas.microsoft.com/office/powerpoint/2010/main" val="17891422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8F61-4372-82AB-6A5E-EDF15C66D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AC7DB8-4739-B5B0-222F-E40935DF48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C12A2-0FD6-68FF-604E-FD94BA1CAE33}"/>
              </a:ext>
            </a:extLst>
          </p:cNvPr>
          <p:cNvSpPr>
            <a:spLocks noGrp="1"/>
          </p:cNvSpPr>
          <p:nvPr>
            <p:ph type="body" idx="1"/>
          </p:nvPr>
        </p:nvSpPr>
        <p:spPr/>
        <p:txBody>
          <a:bodyPr/>
          <a:lstStyle/>
          <a:p>
            <a:endParaRPr lang="en-US" dirty="0"/>
          </a:p>
          <a:p>
            <a:r>
              <a:rPr lang="en-US" dirty="0"/>
              <a:t>Ironically, it wasn't the phishing emails that tripped participants up the most, it was the legitimate ones. Half of the time, they flagged real messages as phishing.</a:t>
            </a:r>
          </a:p>
          <a:p>
            <a:endParaRPr lang="en-IE" dirty="0"/>
          </a:p>
        </p:txBody>
      </p:sp>
      <p:sp>
        <p:nvSpPr>
          <p:cNvPr id="4" name="Slide Number Placeholder 3">
            <a:extLst>
              <a:ext uri="{FF2B5EF4-FFF2-40B4-BE49-F238E27FC236}">
                <a16:creationId xmlns:a16="http://schemas.microsoft.com/office/drawing/2014/main" id="{7EAB9DA8-9BE0-F9D6-E79D-E997B97624FA}"/>
              </a:ext>
            </a:extLst>
          </p:cNvPr>
          <p:cNvSpPr>
            <a:spLocks noGrp="1"/>
          </p:cNvSpPr>
          <p:nvPr>
            <p:ph type="sldNum" sz="quarter" idx="5"/>
          </p:nvPr>
        </p:nvSpPr>
        <p:spPr/>
        <p:txBody>
          <a:bodyPr/>
          <a:lstStyle/>
          <a:p>
            <a:fld id="{B1191E96-10EA-4647-BD28-6C1DA2984C7C}" type="slidenum">
              <a:rPr lang="en-IE" smtClean="0"/>
              <a:t>25</a:t>
            </a:fld>
            <a:endParaRPr lang="en-IE"/>
          </a:p>
        </p:txBody>
      </p:sp>
    </p:spTree>
    <p:extLst>
      <p:ext uri="{BB962C8B-B14F-4D97-AF65-F5344CB8AC3E}">
        <p14:creationId xmlns:p14="http://schemas.microsoft.com/office/powerpoint/2010/main" val="292724853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913B54-AD93-6FE2-74DA-990868F648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9429C-33BC-395E-7433-0B55C97E6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27174-6984-C91B-DD32-04F3EA04308C}"/>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61ACB187-074B-E23E-4BE7-A1A08A7CFC36}"/>
              </a:ext>
            </a:extLst>
          </p:cNvPr>
          <p:cNvSpPr>
            <a:spLocks noGrp="1"/>
          </p:cNvSpPr>
          <p:nvPr>
            <p:ph type="sldNum" sz="quarter" idx="5"/>
          </p:nvPr>
        </p:nvSpPr>
        <p:spPr/>
        <p:txBody>
          <a:bodyPr/>
          <a:lstStyle/>
          <a:p>
            <a:fld id="{B1191E96-10EA-4647-BD28-6C1DA2984C7C}" type="slidenum">
              <a:rPr lang="en-IE" smtClean="0"/>
              <a:t>26</a:t>
            </a:fld>
            <a:endParaRPr lang="en-IE"/>
          </a:p>
        </p:txBody>
      </p:sp>
    </p:spTree>
    <p:extLst>
      <p:ext uri="{BB962C8B-B14F-4D97-AF65-F5344CB8AC3E}">
        <p14:creationId xmlns:p14="http://schemas.microsoft.com/office/powerpoint/2010/main" val="19549271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06ED1-95DF-F41F-ED88-673E56767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40679D-FDA5-3644-85A0-85311793D1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C779B-84F3-9A74-49AE-A1F67C54B73A}"/>
              </a:ext>
            </a:extLst>
          </p:cNvPr>
          <p:cNvSpPr>
            <a:spLocks noGrp="1"/>
          </p:cNvSpPr>
          <p:nvPr>
            <p:ph type="body" idx="1"/>
          </p:nvPr>
        </p:nvSpPr>
        <p:spPr/>
        <p:txBody>
          <a:bodyPr/>
          <a:lstStyle/>
          <a:p>
            <a:r>
              <a:rPr lang="en-IE" sz="1200" b="0" i="0" u="none" strike="noStrike" kern="1200" baseline="0" dirty="0">
                <a:solidFill>
                  <a:schemeClr val="tx1"/>
                </a:solidFill>
                <a:latin typeface="+mn-lt"/>
                <a:ea typeface="+mn-ea"/>
                <a:cs typeface="+mn-cs"/>
              </a:rPr>
              <a:t>Consistent</a:t>
            </a:r>
          </a:p>
          <a:p>
            <a:r>
              <a:rPr lang="en-US" sz="1200" b="0" i="0" u="none" strike="noStrike" kern="1200" baseline="0" dirty="0">
                <a:solidFill>
                  <a:schemeClr val="tx1"/>
                </a:solidFill>
                <a:latin typeface="+mn-lt"/>
                <a:ea typeface="+mn-ea"/>
                <a:cs typeface="+mn-cs"/>
              </a:rPr>
              <a:t>with modern training’s emphasis on System 2 engagement, this</a:t>
            </a:r>
          </a:p>
          <a:p>
            <a:r>
              <a:rPr lang="en-US" sz="1200" b="0" i="0" u="none" strike="noStrike" kern="1200" baseline="0" dirty="0">
                <a:solidFill>
                  <a:schemeClr val="tx1"/>
                </a:solidFill>
                <a:latin typeface="+mn-lt"/>
                <a:ea typeface="+mn-ea"/>
                <a:cs typeface="+mn-cs"/>
              </a:rPr>
              <a:t>suggests that developing and training skills involved in both types</a:t>
            </a:r>
          </a:p>
          <a:p>
            <a:r>
              <a:rPr lang="en-US" sz="1200" b="0" i="0" u="none" strike="noStrike" kern="1200" baseline="0" dirty="0">
                <a:solidFill>
                  <a:schemeClr val="tx1"/>
                </a:solidFill>
                <a:latin typeface="+mn-lt"/>
                <a:ea typeface="+mn-ea"/>
                <a:cs typeface="+mn-cs"/>
              </a:rPr>
              <a:t>of thinking – intuitive and analytical – may be a feasible approach</a:t>
            </a:r>
          </a:p>
          <a:p>
            <a:r>
              <a:rPr lang="en-US" sz="1200" b="0" i="0" u="none" strike="noStrike" kern="1200" baseline="0" dirty="0">
                <a:solidFill>
                  <a:schemeClr val="tx1"/>
                </a:solidFill>
                <a:latin typeface="+mn-lt"/>
                <a:ea typeface="+mn-ea"/>
                <a:cs typeface="+mn-cs"/>
              </a:rPr>
              <a:t>to fighting the phishing epidemic. Furthermore, the study results</a:t>
            </a:r>
          </a:p>
          <a:p>
            <a:r>
              <a:rPr lang="en-US" sz="1200" b="0" i="0" u="none" strike="noStrike" kern="1200" baseline="0" dirty="0">
                <a:solidFill>
                  <a:schemeClr val="tx1"/>
                </a:solidFill>
                <a:latin typeface="+mn-lt"/>
                <a:ea typeface="+mn-ea"/>
                <a:cs typeface="+mn-cs"/>
              </a:rPr>
              <a:t>indicate that modern anti-phishing training may benefit from</a:t>
            </a:r>
          </a:p>
          <a:p>
            <a:r>
              <a:rPr lang="en-US" sz="1200" b="0" i="0" u="none" strike="noStrike" kern="1200" baseline="0" dirty="0">
                <a:solidFill>
                  <a:schemeClr val="tx1"/>
                </a:solidFill>
                <a:latin typeface="+mn-lt"/>
                <a:ea typeface="+mn-ea"/>
                <a:cs typeface="+mn-cs"/>
              </a:rPr>
              <a:t>enhancing individuals’ ability to fluidly switch between fast cue</a:t>
            </a:r>
          </a:p>
          <a:p>
            <a:r>
              <a:rPr lang="en-US" sz="1200" b="0" i="0" u="none" strike="noStrike" kern="1200" baseline="0" dirty="0">
                <a:solidFill>
                  <a:schemeClr val="tx1"/>
                </a:solidFill>
                <a:latin typeface="+mn-lt"/>
                <a:ea typeface="+mn-ea"/>
                <a:cs typeface="+mn-cs"/>
              </a:rPr>
              <a:t>recognition and slow cue evaluation, as chess players are trained</a:t>
            </a:r>
          </a:p>
          <a:p>
            <a:r>
              <a:rPr lang="en-US" sz="1200" b="0" i="0" u="none" strike="noStrike" kern="1200" baseline="0" dirty="0">
                <a:solidFill>
                  <a:schemeClr val="tx1"/>
                </a:solidFill>
                <a:latin typeface="+mn-lt"/>
                <a:ea typeface="+mn-ea"/>
                <a:cs typeface="+mn-cs"/>
              </a:rPr>
              <a:t>to do [5], which is in tune with these anti-phishing training</a:t>
            </a:r>
          </a:p>
          <a:p>
            <a:r>
              <a:rPr lang="en-IE" sz="1200" b="0" i="0" u="none" strike="noStrike" kern="1200" baseline="0" dirty="0">
                <a:solidFill>
                  <a:schemeClr val="tx1"/>
                </a:solidFill>
                <a:latin typeface="+mn-lt"/>
                <a:ea typeface="+mn-ea"/>
                <a:cs typeface="+mn-cs"/>
              </a:rPr>
              <a:t>recommendations</a:t>
            </a:r>
            <a:endParaRPr lang="en-IE" dirty="0"/>
          </a:p>
        </p:txBody>
      </p:sp>
      <p:sp>
        <p:nvSpPr>
          <p:cNvPr id="4" name="Slide Number Placeholder 3">
            <a:extLst>
              <a:ext uri="{FF2B5EF4-FFF2-40B4-BE49-F238E27FC236}">
                <a16:creationId xmlns:a16="http://schemas.microsoft.com/office/drawing/2014/main" id="{F4CEFF94-182C-6FEB-C382-9EF14EBBC4DC}"/>
              </a:ext>
            </a:extLst>
          </p:cNvPr>
          <p:cNvSpPr>
            <a:spLocks noGrp="1"/>
          </p:cNvSpPr>
          <p:nvPr>
            <p:ph type="sldNum" sz="quarter" idx="5"/>
          </p:nvPr>
        </p:nvSpPr>
        <p:spPr/>
        <p:txBody>
          <a:bodyPr/>
          <a:lstStyle/>
          <a:p>
            <a:fld id="{B1191E96-10EA-4647-BD28-6C1DA2984C7C}" type="slidenum">
              <a:rPr lang="en-IE" smtClean="0"/>
              <a:t>27</a:t>
            </a:fld>
            <a:endParaRPr lang="en-IE"/>
          </a:p>
        </p:txBody>
      </p:sp>
    </p:spTree>
    <p:extLst>
      <p:ext uri="{BB962C8B-B14F-4D97-AF65-F5344CB8AC3E}">
        <p14:creationId xmlns:p14="http://schemas.microsoft.com/office/powerpoint/2010/main" val="34122450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28</a:t>
            </a:fld>
            <a:endParaRPr lang="en-IE"/>
          </a:p>
        </p:txBody>
      </p:sp>
    </p:spTree>
    <p:extLst>
      <p:ext uri="{BB962C8B-B14F-4D97-AF65-F5344CB8AC3E}">
        <p14:creationId xmlns:p14="http://schemas.microsoft.com/office/powerpoint/2010/main" val="3872035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3D991-F779-0B10-8DA4-E4BEC0A5A0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A557B-C35E-0AFB-D36B-8E762E841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2DCB4-8FE1-0DFE-5D9C-7C309F167ACF}"/>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CF38312A-80E4-28B3-70E2-4856BC18C0A9}"/>
              </a:ext>
            </a:extLst>
          </p:cNvPr>
          <p:cNvSpPr>
            <a:spLocks noGrp="1"/>
          </p:cNvSpPr>
          <p:nvPr>
            <p:ph type="sldNum" sz="quarter" idx="5"/>
          </p:nvPr>
        </p:nvSpPr>
        <p:spPr/>
        <p:txBody>
          <a:bodyPr/>
          <a:lstStyle/>
          <a:p>
            <a:fld id="{B1191E96-10EA-4647-BD28-6C1DA2984C7C}" type="slidenum">
              <a:rPr lang="en-IE" smtClean="0"/>
              <a:t>29</a:t>
            </a:fld>
            <a:endParaRPr lang="en-IE"/>
          </a:p>
        </p:txBody>
      </p:sp>
    </p:spTree>
    <p:extLst>
      <p:ext uri="{BB962C8B-B14F-4D97-AF65-F5344CB8AC3E}">
        <p14:creationId xmlns:p14="http://schemas.microsoft.com/office/powerpoint/2010/main" val="17627172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E1D56-ED83-E87B-7317-47EACBDCC0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ADFAB1-EF37-A611-E496-1D3260C372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A92A66-F906-5E65-4DFF-C2D46670402E}"/>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AE749F12-8DF0-7094-9114-6B40399B69D8}"/>
              </a:ext>
            </a:extLst>
          </p:cNvPr>
          <p:cNvSpPr>
            <a:spLocks noGrp="1"/>
          </p:cNvSpPr>
          <p:nvPr>
            <p:ph type="sldNum" sz="quarter" idx="5"/>
          </p:nvPr>
        </p:nvSpPr>
        <p:spPr/>
        <p:txBody>
          <a:bodyPr/>
          <a:lstStyle/>
          <a:p>
            <a:fld id="{B1191E96-10EA-4647-BD28-6C1DA2984C7C}" type="slidenum">
              <a:rPr lang="en-IE" smtClean="0"/>
              <a:t>30</a:t>
            </a:fld>
            <a:endParaRPr lang="en-IE"/>
          </a:p>
        </p:txBody>
      </p:sp>
    </p:spTree>
    <p:extLst>
      <p:ext uri="{BB962C8B-B14F-4D97-AF65-F5344CB8AC3E}">
        <p14:creationId xmlns:p14="http://schemas.microsoft.com/office/powerpoint/2010/main" val="14397857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E3CA29-1B4B-DDB2-6B21-E90800C75E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9910B-9B98-2364-03EA-7E3A1220D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90995A-12EF-A576-B25C-1CEE06E1F179}"/>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2B383428-68B7-97FF-2372-FE27DF283896}"/>
              </a:ext>
            </a:extLst>
          </p:cNvPr>
          <p:cNvSpPr>
            <a:spLocks noGrp="1"/>
          </p:cNvSpPr>
          <p:nvPr>
            <p:ph type="sldNum" sz="quarter" idx="5"/>
          </p:nvPr>
        </p:nvSpPr>
        <p:spPr/>
        <p:txBody>
          <a:bodyPr/>
          <a:lstStyle/>
          <a:p>
            <a:fld id="{B1191E96-10EA-4647-BD28-6C1DA2984C7C}" type="slidenum">
              <a:rPr lang="en-IE" smtClean="0"/>
              <a:t>31</a:t>
            </a:fld>
            <a:endParaRPr lang="en-IE"/>
          </a:p>
        </p:txBody>
      </p:sp>
    </p:spTree>
    <p:extLst>
      <p:ext uri="{BB962C8B-B14F-4D97-AF65-F5344CB8AC3E}">
        <p14:creationId xmlns:p14="http://schemas.microsoft.com/office/powerpoint/2010/main" val="11889619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1BBA5-D7D4-DD1E-F6A1-AA26258EB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A23974-E446-17E6-38ED-9F1AED6A35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44820A-D6FC-478B-AD38-CF21A021E791}"/>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E047270A-5E84-B752-6466-0D89556E3B89}"/>
              </a:ext>
            </a:extLst>
          </p:cNvPr>
          <p:cNvSpPr>
            <a:spLocks noGrp="1"/>
          </p:cNvSpPr>
          <p:nvPr>
            <p:ph type="sldNum" sz="quarter" idx="5"/>
          </p:nvPr>
        </p:nvSpPr>
        <p:spPr/>
        <p:txBody>
          <a:bodyPr/>
          <a:lstStyle/>
          <a:p>
            <a:fld id="{B1191E96-10EA-4647-BD28-6C1DA2984C7C}" type="slidenum">
              <a:rPr lang="en-IE" smtClean="0"/>
              <a:t>32</a:t>
            </a:fld>
            <a:endParaRPr lang="en-IE"/>
          </a:p>
        </p:txBody>
      </p:sp>
    </p:spTree>
    <p:extLst>
      <p:ext uri="{BB962C8B-B14F-4D97-AF65-F5344CB8AC3E}">
        <p14:creationId xmlns:p14="http://schemas.microsoft.com/office/powerpoint/2010/main" val="24272540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Chess teaches us many useful strategic principles. But in cyber, we need to adapt them carefully , because the ‘opponent’ plays by different rules, and we’re not allowed to flip the board.</a:t>
            </a:r>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33</a:t>
            </a:fld>
            <a:endParaRPr lang="en-IE"/>
          </a:p>
        </p:txBody>
      </p:sp>
    </p:spTree>
    <p:extLst>
      <p:ext uri="{BB962C8B-B14F-4D97-AF65-F5344CB8AC3E}">
        <p14:creationId xmlns:p14="http://schemas.microsoft.com/office/powerpoint/2010/main" val="356557583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6C512-B6DB-18F0-DCEB-D65FA36E9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C410F-1A04-7695-9485-B375EC12A0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13021D-B765-E91F-5FBA-4093EB74141A}"/>
              </a:ext>
            </a:extLst>
          </p:cNvPr>
          <p:cNvSpPr>
            <a:spLocks noGrp="1"/>
          </p:cNvSpPr>
          <p:nvPr>
            <p:ph type="body" idx="1"/>
          </p:nvPr>
        </p:nvSpPr>
        <p:spPr/>
        <p:txBody>
          <a:bodyPr/>
          <a:lstStyle/>
          <a:p>
            <a:r>
              <a:rPr lang="en-US" dirty="0"/>
              <a:t>Chess teaches us many useful strategic principles. But in cyber, we need to adapt them carefully , because the ‘opponent’ plays by different rules, and we’re not allowed to flip the board.</a:t>
            </a:r>
            <a:endParaRPr lang="en-IE" dirty="0"/>
          </a:p>
        </p:txBody>
      </p:sp>
      <p:sp>
        <p:nvSpPr>
          <p:cNvPr id="4" name="Slide Number Placeholder 3">
            <a:extLst>
              <a:ext uri="{FF2B5EF4-FFF2-40B4-BE49-F238E27FC236}">
                <a16:creationId xmlns:a16="http://schemas.microsoft.com/office/drawing/2014/main" id="{10E93B2C-23E5-9DF0-FE96-1DECBF8C2F67}"/>
              </a:ext>
            </a:extLst>
          </p:cNvPr>
          <p:cNvSpPr>
            <a:spLocks noGrp="1"/>
          </p:cNvSpPr>
          <p:nvPr>
            <p:ph type="sldNum" sz="quarter" idx="5"/>
          </p:nvPr>
        </p:nvSpPr>
        <p:spPr/>
        <p:txBody>
          <a:bodyPr/>
          <a:lstStyle/>
          <a:p>
            <a:fld id="{B1191E96-10EA-4647-BD28-6C1DA2984C7C}" type="slidenum">
              <a:rPr lang="en-IE" smtClean="0"/>
              <a:t>34</a:t>
            </a:fld>
            <a:endParaRPr lang="en-IE"/>
          </a:p>
        </p:txBody>
      </p:sp>
    </p:spTree>
    <p:extLst>
      <p:ext uri="{BB962C8B-B14F-4D97-AF65-F5344CB8AC3E}">
        <p14:creationId xmlns:p14="http://schemas.microsoft.com/office/powerpoint/2010/main" val="3451999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CAA38-32EF-404B-D45B-69B87F5DDB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3FEE74-25FD-05F6-C6AC-F348ADDFD0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014B05-0B45-7E65-94C4-2E8DD2FDAF6B}"/>
              </a:ext>
            </a:extLst>
          </p:cNvPr>
          <p:cNvSpPr>
            <a:spLocks noGrp="1"/>
          </p:cNvSpPr>
          <p:nvPr>
            <p:ph type="body" idx="1"/>
          </p:nvPr>
        </p:nvSpPr>
        <p:spPr/>
        <p:txBody>
          <a:bodyPr/>
          <a:lstStyle/>
          <a:p>
            <a:r>
              <a:rPr lang="en-US" dirty="0"/>
              <a:t>Chess teaches us many useful strategic principles. But in cyber, we need to adapt them carefully , because the ‘opponent’ plays by different rules, and we’re not allowed to flip the board.</a:t>
            </a:r>
            <a:endParaRPr lang="en-IE" dirty="0"/>
          </a:p>
        </p:txBody>
      </p:sp>
      <p:sp>
        <p:nvSpPr>
          <p:cNvPr id="4" name="Slide Number Placeholder 3">
            <a:extLst>
              <a:ext uri="{FF2B5EF4-FFF2-40B4-BE49-F238E27FC236}">
                <a16:creationId xmlns:a16="http://schemas.microsoft.com/office/drawing/2014/main" id="{A98A4307-D4C7-937B-8D31-DD8310EF4D13}"/>
              </a:ext>
            </a:extLst>
          </p:cNvPr>
          <p:cNvSpPr>
            <a:spLocks noGrp="1"/>
          </p:cNvSpPr>
          <p:nvPr>
            <p:ph type="sldNum" sz="quarter" idx="5"/>
          </p:nvPr>
        </p:nvSpPr>
        <p:spPr/>
        <p:txBody>
          <a:bodyPr/>
          <a:lstStyle/>
          <a:p>
            <a:fld id="{B1191E96-10EA-4647-BD28-6C1DA2984C7C}" type="slidenum">
              <a:rPr lang="en-IE" smtClean="0"/>
              <a:t>35</a:t>
            </a:fld>
            <a:endParaRPr lang="en-IE"/>
          </a:p>
        </p:txBody>
      </p:sp>
    </p:spTree>
    <p:extLst>
      <p:ext uri="{BB962C8B-B14F-4D97-AF65-F5344CB8AC3E}">
        <p14:creationId xmlns:p14="http://schemas.microsoft.com/office/powerpoint/2010/main" val="10399903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6F720-594E-2194-E340-A4FF31D55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5C2B2-B986-381E-61AA-7D9D7D5545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92F35B-D366-166D-1B8F-06F6C0D76EFF}"/>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5185F7FB-916C-98B6-D1CD-BA8FFEB71B81}"/>
              </a:ext>
            </a:extLst>
          </p:cNvPr>
          <p:cNvSpPr>
            <a:spLocks noGrp="1"/>
          </p:cNvSpPr>
          <p:nvPr>
            <p:ph type="sldNum" sz="quarter" idx="5"/>
          </p:nvPr>
        </p:nvSpPr>
        <p:spPr/>
        <p:txBody>
          <a:bodyPr/>
          <a:lstStyle/>
          <a:p>
            <a:fld id="{B1191E96-10EA-4647-BD28-6C1DA2984C7C}" type="slidenum">
              <a:rPr lang="en-IE" smtClean="0"/>
              <a:t>36</a:t>
            </a:fld>
            <a:endParaRPr lang="en-IE"/>
          </a:p>
        </p:txBody>
      </p:sp>
    </p:spTree>
    <p:extLst>
      <p:ext uri="{BB962C8B-B14F-4D97-AF65-F5344CB8AC3E}">
        <p14:creationId xmlns:p14="http://schemas.microsoft.com/office/powerpoint/2010/main" val="9524843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ED0617-8A88-730E-A38B-14292C396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5BE1F3-0E06-1677-8976-2E5DC6786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28D1BA-B342-018D-7FB0-B5C7C9804C21}"/>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9A79A332-D881-55C8-F1AC-006CFB5A5070}"/>
              </a:ext>
            </a:extLst>
          </p:cNvPr>
          <p:cNvSpPr>
            <a:spLocks noGrp="1"/>
          </p:cNvSpPr>
          <p:nvPr>
            <p:ph type="sldNum" sz="quarter" idx="5"/>
          </p:nvPr>
        </p:nvSpPr>
        <p:spPr/>
        <p:txBody>
          <a:bodyPr/>
          <a:lstStyle/>
          <a:p>
            <a:fld id="{B1191E96-10EA-4647-BD28-6C1DA2984C7C}" type="slidenum">
              <a:rPr lang="en-IE" smtClean="0"/>
              <a:t>37</a:t>
            </a:fld>
            <a:endParaRPr lang="en-IE"/>
          </a:p>
        </p:txBody>
      </p:sp>
    </p:spTree>
    <p:extLst>
      <p:ext uri="{BB962C8B-B14F-4D97-AF65-F5344CB8AC3E}">
        <p14:creationId xmlns:p14="http://schemas.microsoft.com/office/powerpoint/2010/main" val="26982572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A5F95-0E9D-030A-2C4B-81B42285D6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262014-E86A-340B-E7C0-3AD5E464C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7EE26B-4019-E78F-E0F4-03AA4F36BAE3}"/>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A20C9B7B-2371-6E1E-8856-115C1669B9BD}"/>
              </a:ext>
            </a:extLst>
          </p:cNvPr>
          <p:cNvSpPr>
            <a:spLocks noGrp="1"/>
          </p:cNvSpPr>
          <p:nvPr>
            <p:ph type="sldNum" sz="quarter" idx="5"/>
          </p:nvPr>
        </p:nvSpPr>
        <p:spPr/>
        <p:txBody>
          <a:bodyPr/>
          <a:lstStyle/>
          <a:p>
            <a:fld id="{B1191E96-10EA-4647-BD28-6C1DA2984C7C}" type="slidenum">
              <a:rPr lang="en-IE" smtClean="0"/>
              <a:t>38</a:t>
            </a:fld>
            <a:endParaRPr lang="en-IE"/>
          </a:p>
        </p:txBody>
      </p:sp>
    </p:spTree>
    <p:extLst>
      <p:ext uri="{BB962C8B-B14F-4D97-AF65-F5344CB8AC3E}">
        <p14:creationId xmlns:p14="http://schemas.microsoft.com/office/powerpoint/2010/main" val="20857543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GB" dirty="0"/>
              <a:t>If soc 1 is replaced by AI, how will you train your SOC2?</a:t>
            </a:r>
            <a:endParaRPr lang="en-GB" dirty="0"/>
          </a:p>
          <a:p>
            <a:endParaRPr lang="en-IE" dirty="0"/>
          </a:p>
        </p:txBody>
      </p:sp>
      <p:sp>
        <p:nvSpPr>
          <p:cNvPr id="4" name="Slide Number Placeholder 3"/>
          <p:cNvSpPr>
            <a:spLocks noGrp="1"/>
          </p:cNvSpPr>
          <p:nvPr>
            <p:ph type="sldNum" sz="quarter" idx="5"/>
          </p:nvPr>
        </p:nvSpPr>
        <p:spPr/>
        <p:txBody>
          <a:bodyPr/>
          <a:lstStyle/>
          <a:p>
            <a:fld id="{B1191E96-10EA-4647-BD28-6C1DA2984C7C}" type="slidenum">
              <a:rPr lang="en-IE" smtClean="0"/>
              <a:t>39</a:t>
            </a:fld>
            <a:endParaRPr lang="en-IE"/>
          </a:p>
        </p:txBody>
      </p:sp>
    </p:spTree>
    <p:extLst>
      <p:ext uri="{BB962C8B-B14F-4D97-AF65-F5344CB8AC3E}">
        <p14:creationId xmlns:p14="http://schemas.microsoft.com/office/powerpoint/2010/main" val="212023566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6B229-9A73-D65D-955C-1FE47FD80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8048A-C5D5-BE55-364A-4742E1900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3610F1-6EB9-A8A9-DACC-F73C4ACAC1E4}"/>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A164DE97-1AD6-1D86-1F6A-FFAEDF6357D1}"/>
              </a:ext>
            </a:extLst>
          </p:cNvPr>
          <p:cNvSpPr>
            <a:spLocks noGrp="1"/>
          </p:cNvSpPr>
          <p:nvPr>
            <p:ph type="sldNum" sz="quarter" idx="5"/>
          </p:nvPr>
        </p:nvSpPr>
        <p:spPr/>
        <p:txBody>
          <a:bodyPr/>
          <a:lstStyle/>
          <a:p>
            <a:fld id="{B1191E96-10EA-4647-BD28-6C1DA2984C7C}" type="slidenum">
              <a:rPr lang="en-IE" smtClean="0"/>
              <a:t>40</a:t>
            </a:fld>
            <a:endParaRPr lang="en-IE"/>
          </a:p>
        </p:txBody>
      </p:sp>
    </p:spTree>
    <p:extLst>
      <p:ext uri="{BB962C8B-B14F-4D97-AF65-F5344CB8AC3E}">
        <p14:creationId xmlns:p14="http://schemas.microsoft.com/office/powerpoint/2010/main" val="37220235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75FBE-91EE-27A0-5F25-BFB175ADD6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63F870-98E1-E7A4-C630-487E070E30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14D20B-2A26-20B6-FC11-8A468F2F033C}"/>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B13EC05A-9704-18C8-FD78-E41C238C6A20}"/>
              </a:ext>
            </a:extLst>
          </p:cNvPr>
          <p:cNvSpPr>
            <a:spLocks noGrp="1"/>
          </p:cNvSpPr>
          <p:nvPr>
            <p:ph type="sldNum" sz="quarter" idx="5"/>
          </p:nvPr>
        </p:nvSpPr>
        <p:spPr/>
        <p:txBody>
          <a:bodyPr/>
          <a:lstStyle/>
          <a:p>
            <a:fld id="{B1191E96-10EA-4647-BD28-6C1DA2984C7C}" type="slidenum">
              <a:rPr lang="en-IE" smtClean="0"/>
              <a:t>41</a:t>
            </a:fld>
            <a:endParaRPr lang="en-IE"/>
          </a:p>
        </p:txBody>
      </p:sp>
    </p:spTree>
    <p:extLst>
      <p:ext uri="{BB962C8B-B14F-4D97-AF65-F5344CB8AC3E}">
        <p14:creationId xmlns:p14="http://schemas.microsoft.com/office/powerpoint/2010/main" val="5445623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DB43C-2CE5-F50F-7FD6-D6D9B1CFC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F9B2F4-64A1-9D43-9523-AD8718EC49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4B23B-B056-D3EE-6A4C-BB053F741CC3}"/>
              </a:ext>
            </a:extLst>
          </p:cNvPr>
          <p:cNvSpPr>
            <a:spLocks noGrp="1"/>
          </p:cNvSpPr>
          <p:nvPr>
            <p:ph type="body" idx="1"/>
          </p:nvPr>
        </p:nvSpPr>
        <p:spPr/>
        <p:txBody>
          <a:bodyPr/>
          <a:lstStyle/>
          <a:p>
            <a:endParaRPr lang="en-IE" dirty="0"/>
          </a:p>
        </p:txBody>
      </p:sp>
      <p:sp>
        <p:nvSpPr>
          <p:cNvPr id="4" name="Slide Number Placeholder 3">
            <a:extLst>
              <a:ext uri="{FF2B5EF4-FFF2-40B4-BE49-F238E27FC236}">
                <a16:creationId xmlns:a16="http://schemas.microsoft.com/office/drawing/2014/main" id="{0365DB2B-0376-C066-9C46-FFFDB7E835F8}"/>
              </a:ext>
            </a:extLst>
          </p:cNvPr>
          <p:cNvSpPr>
            <a:spLocks noGrp="1"/>
          </p:cNvSpPr>
          <p:nvPr>
            <p:ph type="sldNum" sz="quarter" idx="5"/>
          </p:nvPr>
        </p:nvSpPr>
        <p:spPr/>
        <p:txBody>
          <a:bodyPr/>
          <a:lstStyle/>
          <a:p>
            <a:fld id="{B1191E96-10EA-4647-BD28-6C1DA2984C7C}" type="slidenum">
              <a:rPr lang="en-IE" smtClean="0"/>
              <a:t>42</a:t>
            </a:fld>
            <a:endParaRPr lang="en-IE"/>
          </a:p>
        </p:txBody>
      </p:sp>
    </p:spTree>
    <p:extLst>
      <p:ext uri="{BB962C8B-B14F-4D97-AF65-F5344CB8AC3E}">
        <p14:creationId xmlns:p14="http://schemas.microsoft.com/office/powerpoint/2010/main" val="2962046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87940-5A70-084F-5F79-CE619DF75EE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E"/>
          </a:p>
        </p:txBody>
      </p:sp>
      <p:sp>
        <p:nvSpPr>
          <p:cNvPr id="3" name="Subtitle 2">
            <a:extLst>
              <a:ext uri="{FF2B5EF4-FFF2-40B4-BE49-F238E27FC236}">
                <a16:creationId xmlns:a16="http://schemas.microsoft.com/office/drawing/2014/main" id="{71DAA8F1-EA44-BB7C-13E0-4AFADC0366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E"/>
          </a:p>
        </p:txBody>
      </p:sp>
      <p:sp>
        <p:nvSpPr>
          <p:cNvPr id="4" name="Date Placeholder 3">
            <a:extLst>
              <a:ext uri="{FF2B5EF4-FFF2-40B4-BE49-F238E27FC236}">
                <a16:creationId xmlns:a16="http://schemas.microsoft.com/office/drawing/2014/main" id="{019B1216-C9E1-D743-3904-7EA7A7F4C250}"/>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5" name="Footer Placeholder 4">
            <a:extLst>
              <a:ext uri="{FF2B5EF4-FFF2-40B4-BE49-F238E27FC236}">
                <a16:creationId xmlns:a16="http://schemas.microsoft.com/office/drawing/2014/main" id="{BA824689-CE15-BCBD-3D34-19332B580B4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89F40FE-E4A4-5723-3E06-AFB5D9EF2B67}"/>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34931087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037A4-EA81-F5FA-1BEF-5987618DCA9C}"/>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9360335D-C369-9AB9-6FB1-BC07C31F8E6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181CBE85-50F5-C874-DACE-BB27E1AB8868}"/>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5" name="Footer Placeholder 4">
            <a:extLst>
              <a:ext uri="{FF2B5EF4-FFF2-40B4-BE49-F238E27FC236}">
                <a16:creationId xmlns:a16="http://schemas.microsoft.com/office/drawing/2014/main" id="{1B7A6A4B-243A-CEB4-9550-984037E7E924}"/>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E7CE6B9E-241F-E3E2-82B0-C85F1FF90717}"/>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27129463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B1B29-AB14-A23B-C01B-10415AEAD3C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E"/>
          </a:p>
        </p:txBody>
      </p:sp>
      <p:sp>
        <p:nvSpPr>
          <p:cNvPr id="3" name="Text Placeholder 2">
            <a:extLst>
              <a:ext uri="{FF2B5EF4-FFF2-40B4-BE49-F238E27FC236}">
                <a16:creationId xmlns:a16="http://schemas.microsoft.com/office/drawing/2014/main" id="{432F1E44-B0B5-353C-5076-8103DEB357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D7CE8C-D07B-7F79-6D99-1810C9655BFA}"/>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5" name="Footer Placeholder 4">
            <a:extLst>
              <a:ext uri="{FF2B5EF4-FFF2-40B4-BE49-F238E27FC236}">
                <a16:creationId xmlns:a16="http://schemas.microsoft.com/office/drawing/2014/main" id="{94534623-230F-0D18-8FA6-28D9042714F2}"/>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924BF9B2-D4C2-9788-A641-0AFC93A5B73E}"/>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27836366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338B7-7EC7-9233-E5BB-4F915A542010}"/>
              </a:ext>
            </a:extLst>
          </p:cNvPr>
          <p:cNvSpPr>
            <a:spLocks noGrp="1"/>
          </p:cNvSpPr>
          <p:nvPr>
            <p:ph type="title"/>
          </p:nvPr>
        </p:nvSpPr>
        <p:spPr/>
        <p:txBody>
          <a:bodyPr/>
          <a:lstStyle/>
          <a:p>
            <a:r>
              <a:rPr lang="en-US"/>
              <a:t>Click to edit Master title style</a:t>
            </a:r>
            <a:endParaRPr lang="en-IE"/>
          </a:p>
        </p:txBody>
      </p:sp>
      <p:sp>
        <p:nvSpPr>
          <p:cNvPr id="3" name="Content Placeholder 2">
            <a:extLst>
              <a:ext uri="{FF2B5EF4-FFF2-40B4-BE49-F238E27FC236}">
                <a16:creationId xmlns:a16="http://schemas.microsoft.com/office/drawing/2014/main" id="{CADED945-6A17-3F20-B3B1-950A809F60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a:extLst>
              <a:ext uri="{FF2B5EF4-FFF2-40B4-BE49-F238E27FC236}">
                <a16:creationId xmlns:a16="http://schemas.microsoft.com/office/drawing/2014/main" id="{7A43D05F-7F74-D9FD-941A-77CF0EF587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a:extLst>
              <a:ext uri="{FF2B5EF4-FFF2-40B4-BE49-F238E27FC236}">
                <a16:creationId xmlns:a16="http://schemas.microsoft.com/office/drawing/2014/main" id="{E2138BA3-92E2-44F0-F033-FA83E0884A97}"/>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6" name="Footer Placeholder 5">
            <a:extLst>
              <a:ext uri="{FF2B5EF4-FFF2-40B4-BE49-F238E27FC236}">
                <a16:creationId xmlns:a16="http://schemas.microsoft.com/office/drawing/2014/main" id="{A655C255-3E35-EC14-F0A2-587230250AD9}"/>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E7AB654B-01E3-B71F-4AD0-67E2C4D6878E}"/>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797388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4E874-CE18-6EED-B86D-0D03BF14E630}"/>
              </a:ext>
            </a:extLst>
          </p:cNvPr>
          <p:cNvSpPr>
            <a:spLocks noGrp="1"/>
          </p:cNvSpPr>
          <p:nvPr>
            <p:ph type="title"/>
          </p:nvPr>
        </p:nvSpPr>
        <p:spPr>
          <a:xfrm>
            <a:off x="839788" y="365125"/>
            <a:ext cx="10515600" cy="1325563"/>
          </a:xfrm>
        </p:spPr>
        <p:txBody>
          <a:bodyPr/>
          <a:lstStyle/>
          <a:p>
            <a:r>
              <a:rPr lang="en-US"/>
              <a:t>Click to edit Master title style</a:t>
            </a:r>
            <a:endParaRPr lang="en-IE"/>
          </a:p>
        </p:txBody>
      </p:sp>
      <p:sp>
        <p:nvSpPr>
          <p:cNvPr id="3" name="Text Placeholder 2">
            <a:extLst>
              <a:ext uri="{FF2B5EF4-FFF2-40B4-BE49-F238E27FC236}">
                <a16:creationId xmlns:a16="http://schemas.microsoft.com/office/drawing/2014/main" id="{CCBFC698-BB1C-E4BB-3D75-A7B972F585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3CC8FA3-26B3-AD2D-7CEC-314F0C325D2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a:extLst>
              <a:ext uri="{FF2B5EF4-FFF2-40B4-BE49-F238E27FC236}">
                <a16:creationId xmlns:a16="http://schemas.microsoft.com/office/drawing/2014/main" id="{43C24521-6F24-F519-8C1A-6883FFC08D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B84742-180B-ADBF-ACEF-CD74902349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a:extLst>
              <a:ext uri="{FF2B5EF4-FFF2-40B4-BE49-F238E27FC236}">
                <a16:creationId xmlns:a16="http://schemas.microsoft.com/office/drawing/2014/main" id="{3D3562C8-8E52-1D01-8064-7DF5C02973E1}"/>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8" name="Footer Placeholder 7">
            <a:extLst>
              <a:ext uri="{FF2B5EF4-FFF2-40B4-BE49-F238E27FC236}">
                <a16:creationId xmlns:a16="http://schemas.microsoft.com/office/drawing/2014/main" id="{7CF472F3-BA65-F1A2-DFF7-948DC39FD243}"/>
              </a:ext>
            </a:extLst>
          </p:cNvPr>
          <p:cNvSpPr>
            <a:spLocks noGrp="1"/>
          </p:cNvSpPr>
          <p:nvPr>
            <p:ph type="ftr" sz="quarter" idx="11"/>
          </p:nvPr>
        </p:nvSpPr>
        <p:spPr/>
        <p:txBody>
          <a:bodyPr/>
          <a:lstStyle/>
          <a:p>
            <a:endParaRPr lang="en-IE"/>
          </a:p>
        </p:txBody>
      </p:sp>
      <p:sp>
        <p:nvSpPr>
          <p:cNvPr id="9" name="Slide Number Placeholder 8">
            <a:extLst>
              <a:ext uri="{FF2B5EF4-FFF2-40B4-BE49-F238E27FC236}">
                <a16:creationId xmlns:a16="http://schemas.microsoft.com/office/drawing/2014/main" id="{2CBE8B31-42EF-C1E0-0B0E-D963745C39BD}"/>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2472384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01853-A523-92F5-C991-758CBB0EB782}"/>
              </a:ext>
            </a:extLst>
          </p:cNvPr>
          <p:cNvSpPr>
            <a:spLocks noGrp="1"/>
          </p:cNvSpPr>
          <p:nvPr>
            <p:ph type="title"/>
          </p:nvPr>
        </p:nvSpPr>
        <p:spPr/>
        <p:txBody>
          <a:bodyPr/>
          <a:lstStyle/>
          <a:p>
            <a:r>
              <a:rPr lang="en-US"/>
              <a:t>Click to edit Master title style</a:t>
            </a:r>
            <a:endParaRPr lang="en-IE"/>
          </a:p>
        </p:txBody>
      </p:sp>
      <p:sp>
        <p:nvSpPr>
          <p:cNvPr id="3" name="Date Placeholder 2">
            <a:extLst>
              <a:ext uri="{FF2B5EF4-FFF2-40B4-BE49-F238E27FC236}">
                <a16:creationId xmlns:a16="http://schemas.microsoft.com/office/drawing/2014/main" id="{5F19F6E0-758E-5CD8-CFAF-89F135F636A0}"/>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4" name="Footer Placeholder 3">
            <a:extLst>
              <a:ext uri="{FF2B5EF4-FFF2-40B4-BE49-F238E27FC236}">
                <a16:creationId xmlns:a16="http://schemas.microsoft.com/office/drawing/2014/main" id="{F88C2BAC-6427-5922-6B75-3842CFB77B33}"/>
              </a:ext>
            </a:extLst>
          </p:cNvPr>
          <p:cNvSpPr>
            <a:spLocks noGrp="1"/>
          </p:cNvSpPr>
          <p:nvPr>
            <p:ph type="ftr" sz="quarter" idx="11"/>
          </p:nvPr>
        </p:nvSpPr>
        <p:spPr/>
        <p:txBody>
          <a:bodyPr/>
          <a:lstStyle/>
          <a:p>
            <a:endParaRPr lang="en-IE"/>
          </a:p>
        </p:txBody>
      </p:sp>
      <p:sp>
        <p:nvSpPr>
          <p:cNvPr id="5" name="Slide Number Placeholder 4">
            <a:extLst>
              <a:ext uri="{FF2B5EF4-FFF2-40B4-BE49-F238E27FC236}">
                <a16:creationId xmlns:a16="http://schemas.microsoft.com/office/drawing/2014/main" id="{DDB98D34-4D47-6161-FF0F-5140424CCC9D}"/>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1120735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FFD10EB-F716-89FE-0CA1-4C8BFF55B65F}"/>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3" name="Footer Placeholder 2">
            <a:extLst>
              <a:ext uri="{FF2B5EF4-FFF2-40B4-BE49-F238E27FC236}">
                <a16:creationId xmlns:a16="http://schemas.microsoft.com/office/drawing/2014/main" id="{938BF2E8-9988-8889-B3A3-FDDF8645AE9A}"/>
              </a:ext>
            </a:extLst>
          </p:cNvPr>
          <p:cNvSpPr>
            <a:spLocks noGrp="1"/>
          </p:cNvSpPr>
          <p:nvPr>
            <p:ph type="ftr" sz="quarter" idx="11"/>
          </p:nvPr>
        </p:nvSpPr>
        <p:spPr/>
        <p:txBody>
          <a:bodyPr/>
          <a:lstStyle/>
          <a:p>
            <a:endParaRPr lang="en-IE"/>
          </a:p>
        </p:txBody>
      </p:sp>
      <p:sp>
        <p:nvSpPr>
          <p:cNvPr id="4" name="Slide Number Placeholder 3">
            <a:extLst>
              <a:ext uri="{FF2B5EF4-FFF2-40B4-BE49-F238E27FC236}">
                <a16:creationId xmlns:a16="http://schemas.microsoft.com/office/drawing/2014/main" id="{FB8E5D93-9D11-18FD-89A8-BCDBE1F09BDE}"/>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3042771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DD79B-578A-8A89-AEAD-6AF3CF159C2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Content Placeholder 2">
            <a:extLst>
              <a:ext uri="{FF2B5EF4-FFF2-40B4-BE49-F238E27FC236}">
                <a16:creationId xmlns:a16="http://schemas.microsoft.com/office/drawing/2014/main" id="{29DF66B4-A11B-D33F-D5B6-160325E2E4B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a:extLst>
              <a:ext uri="{FF2B5EF4-FFF2-40B4-BE49-F238E27FC236}">
                <a16:creationId xmlns:a16="http://schemas.microsoft.com/office/drawing/2014/main" id="{B49FA36F-9A23-26A4-2E93-2630A4BF82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62E58-C15C-1B62-8659-BFAD21F8CEFC}"/>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6" name="Footer Placeholder 5">
            <a:extLst>
              <a:ext uri="{FF2B5EF4-FFF2-40B4-BE49-F238E27FC236}">
                <a16:creationId xmlns:a16="http://schemas.microsoft.com/office/drawing/2014/main" id="{65F7DB33-2FC8-87AC-55B1-C2DF29C4FAA8}"/>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9D63DACD-B5E7-0669-85FD-91BF2A377AA3}"/>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14227822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EEDE5-2BF9-183A-3B22-8E16703A8C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E"/>
          </a:p>
        </p:txBody>
      </p:sp>
      <p:sp>
        <p:nvSpPr>
          <p:cNvPr id="3" name="Picture Placeholder 2">
            <a:extLst>
              <a:ext uri="{FF2B5EF4-FFF2-40B4-BE49-F238E27FC236}">
                <a16:creationId xmlns:a16="http://schemas.microsoft.com/office/drawing/2014/main" id="{9ECA92EE-A15C-C343-F95C-BD5247A515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E"/>
          </a:p>
        </p:txBody>
      </p:sp>
      <p:sp>
        <p:nvSpPr>
          <p:cNvPr id="4" name="Text Placeholder 3">
            <a:extLst>
              <a:ext uri="{FF2B5EF4-FFF2-40B4-BE49-F238E27FC236}">
                <a16:creationId xmlns:a16="http://schemas.microsoft.com/office/drawing/2014/main" id="{9F78781A-F3A8-8B30-9DE4-6B62888126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40501D-9977-C9D2-5B29-0903DA4E4F03}"/>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6" name="Footer Placeholder 5">
            <a:extLst>
              <a:ext uri="{FF2B5EF4-FFF2-40B4-BE49-F238E27FC236}">
                <a16:creationId xmlns:a16="http://schemas.microsoft.com/office/drawing/2014/main" id="{0B3D6A4E-EE2D-4454-5589-03861A11E46A}"/>
              </a:ext>
            </a:extLst>
          </p:cNvPr>
          <p:cNvSpPr>
            <a:spLocks noGrp="1"/>
          </p:cNvSpPr>
          <p:nvPr>
            <p:ph type="ftr" sz="quarter" idx="11"/>
          </p:nvPr>
        </p:nvSpPr>
        <p:spPr/>
        <p:txBody>
          <a:bodyPr/>
          <a:lstStyle/>
          <a:p>
            <a:endParaRPr lang="en-IE"/>
          </a:p>
        </p:txBody>
      </p:sp>
      <p:sp>
        <p:nvSpPr>
          <p:cNvPr id="7" name="Slide Number Placeholder 6">
            <a:extLst>
              <a:ext uri="{FF2B5EF4-FFF2-40B4-BE49-F238E27FC236}">
                <a16:creationId xmlns:a16="http://schemas.microsoft.com/office/drawing/2014/main" id="{07CE2AF3-BB83-F67D-5526-66C918D5C19E}"/>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1619003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06C7A-5A0C-5E7A-1B6F-B1F358A6ED42}"/>
              </a:ext>
            </a:extLst>
          </p:cNvPr>
          <p:cNvSpPr>
            <a:spLocks noGrp="1"/>
          </p:cNvSpPr>
          <p:nvPr>
            <p:ph type="title"/>
          </p:nvPr>
        </p:nvSpPr>
        <p:spPr/>
        <p:txBody>
          <a:bodyPr/>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B33CADCA-FDBF-FE87-DBDA-2AC735D811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52A45ABC-868B-F2F0-9AAE-E19169395CA4}"/>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5" name="Footer Placeholder 4">
            <a:extLst>
              <a:ext uri="{FF2B5EF4-FFF2-40B4-BE49-F238E27FC236}">
                <a16:creationId xmlns:a16="http://schemas.microsoft.com/office/drawing/2014/main" id="{BEDF263C-2300-5854-C184-34D615A605F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82EBBCD5-7B10-C39F-F85F-E9B86FA9CD2B}"/>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37941684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FD0458-C8CB-162D-E680-C6334F0495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E"/>
          </a:p>
        </p:txBody>
      </p:sp>
      <p:sp>
        <p:nvSpPr>
          <p:cNvPr id="3" name="Vertical Text Placeholder 2">
            <a:extLst>
              <a:ext uri="{FF2B5EF4-FFF2-40B4-BE49-F238E27FC236}">
                <a16:creationId xmlns:a16="http://schemas.microsoft.com/office/drawing/2014/main" id="{3F2AD76D-954B-E5E0-0AFF-69DC2126EEC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9094290A-8196-7D7F-9900-A48FA09EA642}"/>
              </a:ext>
            </a:extLst>
          </p:cNvPr>
          <p:cNvSpPr>
            <a:spLocks noGrp="1"/>
          </p:cNvSpPr>
          <p:nvPr>
            <p:ph type="dt" sz="half" idx="10"/>
          </p:nvPr>
        </p:nvSpPr>
        <p:spPr/>
        <p:txBody>
          <a:bodyPr/>
          <a:lstStyle/>
          <a:p>
            <a:fld id="{29F1BF1E-E253-49B5-B0DF-E498EE5B41A6}" type="datetimeFigureOut">
              <a:rPr lang="en-IE" smtClean="0"/>
              <a:t>08/08/2025</a:t>
            </a:fld>
            <a:endParaRPr lang="en-IE"/>
          </a:p>
        </p:txBody>
      </p:sp>
      <p:sp>
        <p:nvSpPr>
          <p:cNvPr id="5" name="Footer Placeholder 4">
            <a:extLst>
              <a:ext uri="{FF2B5EF4-FFF2-40B4-BE49-F238E27FC236}">
                <a16:creationId xmlns:a16="http://schemas.microsoft.com/office/drawing/2014/main" id="{8987DAD1-93EE-6023-C780-ADD264974C8F}"/>
              </a:ext>
            </a:extLst>
          </p:cNvPr>
          <p:cNvSpPr>
            <a:spLocks noGrp="1"/>
          </p:cNvSpPr>
          <p:nvPr>
            <p:ph type="ftr" sz="quarter" idx="11"/>
          </p:nvPr>
        </p:nvSpPr>
        <p:spPr/>
        <p:txBody>
          <a:bodyPr/>
          <a:lstStyle/>
          <a:p>
            <a:endParaRPr lang="en-IE"/>
          </a:p>
        </p:txBody>
      </p:sp>
      <p:sp>
        <p:nvSpPr>
          <p:cNvPr id="6" name="Slide Number Placeholder 5">
            <a:extLst>
              <a:ext uri="{FF2B5EF4-FFF2-40B4-BE49-F238E27FC236}">
                <a16:creationId xmlns:a16="http://schemas.microsoft.com/office/drawing/2014/main" id="{24F1043F-35EB-B590-55F7-7EE37318C6A8}"/>
              </a:ext>
            </a:extLst>
          </p:cNvPr>
          <p:cNvSpPr>
            <a:spLocks noGrp="1"/>
          </p:cNvSpPr>
          <p:nvPr>
            <p:ph type="sldNum" sz="quarter" idx="12"/>
          </p:nvPr>
        </p:nvSpPr>
        <p:spPr/>
        <p:txBody>
          <a:bodyPr/>
          <a:lstStyle/>
          <a:p>
            <a:fld id="{451FA714-D399-4D9B-9E3C-6BB865AC8818}" type="slidenum">
              <a:rPr lang="en-IE" smtClean="0"/>
              <a:t>‹#›</a:t>
            </a:fld>
            <a:endParaRPr lang="en-IE"/>
          </a:p>
        </p:txBody>
      </p:sp>
    </p:spTree>
    <p:extLst>
      <p:ext uri="{BB962C8B-B14F-4D97-AF65-F5344CB8AC3E}">
        <p14:creationId xmlns:p14="http://schemas.microsoft.com/office/powerpoint/2010/main" val="283856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2CA9C3-0CC8-B396-5D51-5608E9D4D1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E"/>
          </a:p>
        </p:txBody>
      </p:sp>
      <p:sp>
        <p:nvSpPr>
          <p:cNvPr id="3" name="Text Placeholder 2">
            <a:extLst>
              <a:ext uri="{FF2B5EF4-FFF2-40B4-BE49-F238E27FC236}">
                <a16:creationId xmlns:a16="http://schemas.microsoft.com/office/drawing/2014/main" id="{8F020059-AA5F-C125-F8B6-F7BABA039F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a:extLst>
              <a:ext uri="{FF2B5EF4-FFF2-40B4-BE49-F238E27FC236}">
                <a16:creationId xmlns:a16="http://schemas.microsoft.com/office/drawing/2014/main" id="{8E99ADAF-03DE-0C59-2016-169C66CA7B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F1BF1E-E253-49B5-B0DF-E498EE5B41A6}" type="datetimeFigureOut">
              <a:rPr lang="en-IE" smtClean="0"/>
              <a:t>08/08/2025</a:t>
            </a:fld>
            <a:endParaRPr lang="en-IE"/>
          </a:p>
        </p:txBody>
      </p:sp>
      <p:sp>
        <p:nvSpPr>
          <p:cNvPr id="5" name="Footer Placeholder 4">
            <a:extLst>
              <a:ext uri="{FF2B5EF4-FFF2-40B4-BE49-F238E27FC236}">
                <a16:creationId xmlns:a16="http://schemas.microsoft.com/office/drawing/2014/main" id="{E6A73476-15DE-1D1D-C58A-8B27DADBAB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E"/>
          </a:p>
        </p:txBody>
      </p:sp>
      <p:sp>
        <p:nvSpPr>
          <p:cNvPr id="6" name="Slide Number Placeholder 5">
            <a:extLst>
              <a:ext uri="{FF2B5EF4-FFF2-40B4-BE49-F238E27FC236}">
                <a16:creationId xmlns:a16="http://schemas.microsoft.com/office/drawing/2014/main" id="{D493825E-F3E4-99CF-6763-2E396258A1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1FA714-D399-4D9B-9E3C-6BB865AC8818}" type="slidenum">
              <a:rPr lang="en-IE" smtClean="0"/>
              <a:t>‹#›</a:t>
            </a:fld>
            <a:endParaRPr lang="en-IE"/>
          </a:p>
        </p:txBody>
      </p:sp>
    </p:spTree>
    <p:extLst>
      <p:ext uri="{BB962C8B-B14F-4D97-AF65-F5344CB8AC3E}">
        <p14:creationId xmlns:p14="http://schemas.microsoft.com/office/powerpoint/2010/main" val="664437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image" Target="../media/image2.png"/><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hyperlink" Target="https://www.ssrn.com/abstract=4633965" TargetMode="External"/><Relationship Id="rId3" Type="http://schemas.openxmlformats.org/officeDocument/2006/relationships/hyperlink" Target="https://www.microsoft.com/en-us/security/security-insider/intelligencereports/microsoft-digital-defense-report-2024" TargetMode="External"/><Relationship Id="rId7" Type="http://schemas.openxmlformats.org/officeDocument/2006/relationships/hyperlink" Target="http://link.springer.com/10.1007/s11409-019-09197-5"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hyperlink" Target="https://linkinghub.elsevier.com/retrieve/pii/S0167404824004346" TargetMode="External"/><Relationship Id="rId5" Type="http://schemas.openxmlformats.org/officeDocument/2006/relationships/hyperlink" Target="https://www.sciencedirect.com/science/article/pii/S0167404824002451" TargetMode="External"/><Relationship Id="rId4" Type="http://schemas.openxmlformats.org/officeDocument/2006/relationships/hyperlink" Target="https://www.sciencedirect.com/science/article/pii/S0167404823005813" TargetMode="External"/><Relationship Id="rId9" Type="http://schemas.openxmlformats.org/officeDocument/2006/relationships/hyperlink" Target="https://doi.org/10.1007/s44192-025-00149-x"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5" name="Picture 4" descr="Checkmate move on chessboard">
            <a:extLst>
              <a:ext uri="{FF2B5EF4-FFF2-40B4-BE49-F238E27FC236}">
                <a16:creationId xmlns:a16="http://schemas.microsoft.com/office/drawing/2014/main" id="{B029D169-61D2-9930-0EBA-3A943F60C5E2}"/>
              </a:ext>
            </a:extLst>
          </p:cNvPr>
          <p:cNvPicPr>
            <a:picLocks noChangeAspect="1"/>
          </p:cNvPicPr>
          <p:nvPr/>
        </p:nvPicPr>
        <p:blipFill>
          <a:blip r:embed="rId2">
            <a:alphaModFix amt="60000"/>
          </a:blip>
          <a:srcRect t="15414"/>
          <a:stretch>
            <a:fillRect/>
          </a:stretch>
        </p:blipFill>
        <p:spPr>
          <a:xfrm>
            <a:off x="-1" y="10"/>
            <a:ext cx="12192001" cy="6857990"/>
          </a:xfrm>
          <a:prstGeom prst="rect">
            <a:avLst/>
          </a:prstGeom>
        </p:spPr>
      </p:pic>
      <p:sp>
        <p:nvSpPr>
          <p:cNvPr id="2" name="Title 1">
            <a:extLst>
              <a:ext uri="{FF2B5EF4-FFF2-40B4-BE49-F238E27FC236}">
                <a16:creationId xmlns:a16="http://schemas.microsoft.com/office/drawing/2014/main" id="{CA7F2AA5-C3F9-96B8-F62C-A5CA62777FA8}"/>
              </a:ext>
            </a:extLst>
          </p:cNvPr>
          <p:cNvSpPr>
            <a:spLocks noGrp="1"/>
          </p:cNvSpPr>
          <p:nvPr>
            <p:ph type="ctrTitle"/>
          </p:nvPr>
        </p:nvSpPr>
        <p:spPr>
          <a:xfrm>
            <a:off x="1198181" y="1122363"/>
            <a:ext cx="9795637" cy="2220775"/>
          </a:xfrm>
        </p:spPr>
        <p:txBody>
          <a:bodyPr>
            <a:normAutofit/>
          </a:bodyPr>
          <a:lstStyle/>
          <a:p>
            <a:r>
              <a:rPr lang="en-US" sz="4800">
                <a:solidFill>
                  <a:srgbClr val="FFFFFF"/>
                </a:solidFill>
              </a:rPr>
              <a:t>Phishing Detection, Chess Cognition, and the Future of SOC Analyst Training</a:t>
            </a:r>
            <a:endParaRPr lang="en-IE" sz="4800">
              <a:solidFill>
                <a:srgbClr val="FFFFFF"/>
              </a:solidFill>
            </a:endParaRPr>
          </a:p>
        </p:txBody>
      </p:sp>
      <p:sp>
        <p:nvSpPr>
          <p:cNvPr id="3" name="Subtitle 2">
            <a:extLst>
              <a:ext uri="{FF2B5EF4-FFF2-40B4-BE49-F238E27FC236}">
                <a16:creationId xmlns:a16="http://schemas.microsoft.com/office/drawing/2014/main" id="{6C2AE11B-F15C-5FE4-688B-E7B432D89583}"/>
              </a:ext>
            </a:extLst>
          </p:cNvPr>
          <p:cNvSpPr>
            <a:spLocks noGrp="1"/>
          </p:cNvSpPr>
          <p:nvPr>
            <p:ph type="subTitle" idx="1"/>
          </p:nvPr>
        </p:nvSpPr>
        <p:spPr>
          <a:xfrm>
            <a:off x="1198181" y="3514853"/>
            <a:ext cx="9795637" cy="2057043"/>
          </a:xfrm>
        </p:spPr>
        <p:txBody>
          <a:bodyPr>
            <a:normAutofit/>
          </a:bodyPr>
          <a:lstStyle/>
          <a:p>
            <a:r>
              <a:rPr lang="en-IE" dirty="0">
                <a:solidFill>
                  <a:srgbClr val="FFFFFF"/>
                </a:solidFill>
              </a:rPr>
              <a:t>Ioana Macovei</a:t>
            </a:r>
          </a:p>
          <a:p>
            <a:r>
              <a:rPr lang="en-IE" dirty="0">
                <a:solidFill>
                  <a:srgbClr val="FFFFFF"/>
                </a:solidFill>
              </a:rPr>
              <a:t>Research affiliated with University of Sunderland</a:t>
            </a:r>
          </a:p>
          <a:p>
            <a:r>
              <a:rPr lang="en-IE" dirty="0">
                <a:solidFill>
                  <a:srgbClr val="FFFFFF"/>
                </a:solidFill>
              </a:rPr>
              <a:t>Upcoming Munster Technological University PhD Student</a:t>
            </a:r>
          </a:p>
        </p:txBody>
      </p:sp>
    </p:spTree>
    <p:extLst>
      <p:ext uri="{BB962C8B-B14F-4D97-AF65-F5344CB8AC3E}">
        <p14:creationId xmlns:p14="http://schemas.microsoft.com/office/powerpoint/2010/main" val="19639571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1500"/>
                                  </p:stCondLst>
                                  <p:iterate>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F00CD0-B908-AF04-3FE5-54BD34A0BACE}"/>
              </a:ext>
            </a:extLst>
          </p:cNvPr>
          <p:cNvSpPr>
            <a:spLocks noGrp="1"/>
          </p:cNvSpPr>
          <p:nvPr>
            <p:ph type="title"/>
          </p:nvPr>
        </p:nvSpPr>
        <p:spPr>
          <a:xfrm>
            <a:off x="4837129" y="114676"/>
            <a:ext cx="3193473" cy="1133499"/>
          </a:xfrm>
        </p:spPr>
        <p:txBody>
          <a:bodyPr vert="horz" lIns="91440" tIns="45720" rIns="91440" bIns="45720" rtlCol="0">
            <a:noAutofit/>
          </a:bodyPr>
          <a:lstStyle/>
          <a:p>
            <a:pPr algn="ctr"/>
            <a:r>
              <a:rPr lang="en-US" kern="1200" dirty="0">
                <a:latin typeface="+mj-lt"/>
                <a:ea typeface="+mj-ea"/>
                <a:cs typeface="+mj-cs"/>
              </a:rPr>
              <a:t>About me…</a:t>
            </a:r>
          </a:p>
        </p:txBody>
      </p:sp>
      <p:graphicFrame>
        <p:nvGraphicFramePr>
          <p:cNvPr id="6" name="TextBox 3">
            <a:extLst>
              <a:ext uri="{FF2B5EF4-FFF2-40B4-BE49-F238E27FC236}">
                <a16:creationId xmlns:a16="http://schemas.microsoft.com/office/drawing/2014/main" id="{0033BAD1-2FFA-810C-F06F-E433544A9BCC}"/>
              </a:ext>
            </a:extLst>
          </p:cNvPr>
          <p:cNvGraphicFramePr/>
          <p:nvPr>
            <p:extLst>
              <p:ext uri="{D42A27DB-BD31-4B8C-83A1-F6EECF244321}">
                <p14:modId xmlns:p14="http://schemas.microsoft.com/office/powerpoint/2010/main" val="3953878235"/>
              </p:ext>
            </p:extLst>
          </p:nvPr>
        </p:nvGraphicFramePr>
        <p:xfrm>
          <a:off x="354237" y="1898676"/>
          <a:ext cx="4128655"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TextBox 3">
            <a:extLst>
              <a:ext uri="{FF2B5EF4-FFF2-40B4-BE49-F238E27FC236}">
                <a16:creationId xmlns:a16="http://schemas.microsoft.com/office/drawing/2014/main" id="{C5F0D54C-8D11-E29C-260A-C2EBB9EC5E43}"/>
              </a:ext>
            </a:extLst>
          </p:cNvPr>
          <p:cNvGraphicFramePr/>
          <p:nvPr>
            <p:extLst>
              <p:ext uri="{D42A27DB-BD31-4B8C-83A1-F6EECF244321}">
                <p14:modId xmlns:p14="http://schemas.microsoft.com/office/powerpoint/2010/main" val="3996316381"/>
              </p:ext>
            </p:extLst>
          </p:nvPr>
        </p:nvGraphicFramePr>
        <p:xfrm>
          <a:off x="7356764" y="1828799"/>
          <a:ext cx="4561610" cy="4166756"/>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TextBox 6">
            <a:extLst>
              <a:ext uri="{FF2B5EF4-FFF2-40B4-BE49-F238E27FC236}">
                <a16:creationId xmlns:a16="http://schemas.microsoft.com/office/drawing/2014/main" id="{C28A8256-50E0-F431-B492-B684BA6E3DC5}"/>
              </a:ext>
            </a:extLst>
          </p:cNvPr>
          <p:cNvSpPr txBox="1"/>
          <p:nvPr/>
        </p:nvSpPr>
        <p:spPr>
          <a:xfrm>
            <a:off x="9109777" y="1431718"/>
            <a:ext cx="1811068" cy="369332"/>
          </a:xfrm>
          <a:prstGeom prst="rect">
            <a:avLst/>
          </a:prstGeom>
          <a:noFill/>
        </p:spPr>
        <p:txBody>
          <a:bodyPr wrap="square" rtlCol="0">
            <a:spAutoFit/>
          </a:bodyPr>
          <a:lstStyle/>
          <a:p>
            <a:r>
              <a:rPr lang="en-IE" dirty="0"/>
              <a:t>-the chess side-</a:t>
            </a:r>
          </a:p>
        </p:txBody>
      </p:sp>
      <p:sp>
        <p:nvSpPr>
          <p:cNvPr id="8" name="TextBox 7">
            <a:extLst>
              <a:ext uri="{FF2B5EF4-FFF2-40B4-BE49-F238E27FC236}">
                <a16:creationId xmlns:a16="http://schemas.microsoft.com/office/drawing/2014/main" id="{467BB3A5-37AB-7EF9-D7FC-64EFF3C1E2A2}"/>
              </a:ext>
            </a:extLst>
          </p:cNvPr>
          <p:cNvSpPr txBox="1"/>
          <p:nvPr/>
        </p:nvSpPr>
        <p:spPr>
          <a:xfrm>
            <a:off x="1364673" y="1510268"/>
            <a:ext cx="2424545" cy="369332"/>
          </a:xfrm>
          <a:prstGeom prst="rect">
            <a:avLst/>
          </a:prstGeom>
          <a:noFill/>
        </p:spPr>
        <p:txBody>
          <a:bodyPr wrap="square" rtlCol="0">
            <a:spAutoFit/>
          </a:bodyPr>
          <a:lstStyle/>
          <a:p>
            <a:r>
              <a:rPr lang="en-IE" dirty="0"/>
              <a:t>-the professional side-</a:t>
            </a:r>
          </a:p>
        </p:txBody>
      </p:sp>
      <p:pic>
        <p:nvPicPr>
          <p:cNvPr id="15" name="Picture 14">
            <a:extLst>
              <a:ext uri="{FF2B5EF4-FFF2-40B4-BE49-F238E27FC236}">
                <a16:creationId xmlns:a16="http://schemas.microsoft.com/office/drawing/2014/main" id="{9FB0025E-2320-69E9-DB4E-DCFCC366FC98}"/>
              </a:ext>
            </a:extLst>
          </p:cNvPr>
          <p:cNvPicPr>
            <a:picLocks noChangeAspect="1"/>
          </p:cNvPicPr>
          <p:nvPr/>
        </p:nvPicPr>
        <p:blipFill>
          <a:blip r:embed="rId13"/>
          <a:stretch>
            <a:fillRect/>
          </a:stretch>
        </p:blipFill>
        <p:spPr>
          <a:xfrm>
            <a:off x="4868180" y="2716899"/>
            <a:ext cx="2103296" cy="2716098"/>
          </a:xfrm>
          <a:prstGeom prst="rect">
            <a:avLst/>
          </a:prstGeom>
        </p:spPr>
      </p:pic>
    </p:spTree>
    <p:extLst>
      <p:ext uri="{BB962C8B-B14F-4D97-AF65-F5344CB8AC3E}">
        <p14:creationId xmlns:p14="http://schemas.microsoft.com/office/powerpoint/2010/main" val="134859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Businessman looking at tablet">
            <a:extLst>
              <a:ext uri="{FF2B5EF4-FFF2-40B4-BE49-F238E27FC236}">
                <a16:creationId xmlns:a16="http://schemas.microsoft.com/office/drawing/2014/main" id="{01701103-9F0F-7308-AADC-E0600409EC59}"/>
              </a:ext>
            </a:extLst>
          </p:cNvPr>
          <p:cNvPicPr>
            <a:picLocks noChangeAspect="1"/>
          </p:cNvPicPr>
          <p:nvPr/>
        </p:nvPicPr>
        <p:blipFill>
          <a:blip r:embed="rId3">
            <a:extLst>
              <a:ext uri="{28A0092B-C50C-407E-A947-70E740481C1C}">
                <a14:useLocalDpi xmlns:a14="http://schemas.microsoft.com/office/drawing/2010/main" val="0"/>
              </a:ext>
            </a:extLst>
          </a:blip>
          <a:srcRect l="2032" r="3851" b="-1"/>
          <a:stretch>
            <a:fillRect/>
          </a:stretch>
        </p:blipFill>
        <p:spPr>
          <a:xfrm>
            <a:off x="2522356" y="10"/>
            <a:ext cx="9669642" cy="6857990"/>
          </a:xfrm>
          <a:prstGeom prst="rect">
            <a:avLst/>
          </a:prstGeom>
        </p:spPr>
      </p:pic>
      <p:sp>
        <p:nvSpPr>
          <p:cNvPr id="20" name="Rectangle 1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A965FBDE-CDE1-BF83-3B05-4D3A596FBBD9}"/>
              </a:ext>
            </a:extLst>
          </p:cNvPr>
          <p:cNvSpPr txBox="1"/>
          <p:nvPr/>
        </p:nvSpPr>
        <p:spPr>
          <a:xfrm>
            <a:off x="1097276" y="1918708"/>
            <a:ext cx="3822189" cy="3742762"/>
          </a:xfrm>
          <a:prstGeom prst="rect">
            <a:avLst/>
          </a:prstGeom>
        </p:spPr>
        <p:txBody>
          <a:bodyPr vert="horz" lIns="91440" tIns="45720" rIns="91440" bIns="45720" rtlCol="0">
            <a:normAutofit/>
          </a:bodyPr>
          <a:lstStyle/>
          <a:p>
            <a:pPr>
              <a:lnSpc>
                <a:spcPct val="90000"/>
              </a:lnSpc>
              <a:spcAft>
                <a:spcPts val="600"/>
              </a:spcAft>
            </a:pPr>
            <a:endParaRPr lang="en-US" sz="2000" dirty="0"/>
          </a:p>
          <a:p>
            <a:pPr>
              <a:lnSpc>
                <a:spcPct val="90000"/>
              </a:lnSpc>
              <a:spcAft>
                <a:spcPts val="600"/>
              </a:spcAft>
            </a:pPr>
            <a:r>
              <a:rPr lang="en-US" sz="2000" dirty="0"/>
              <a:t>Phishing is still dominant</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2024 Microsoft Digital Defense Report: 107 word mentions</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Technology helps but…</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b="1" i="1" dirty="0"/>
              <a:t>The human layer is still the weakest link</a:t>
            </a:r>
          </a:p>
        </p:txBody>
      </p:sp>
      <p:sp>
        <p:nvSpPr>
          <p:cNvPr id="7" name="TextBox 6">
            <a:extLst>
              <a:ext uri="{FF2B5EF4-FFF2-40B4-BE49-F238E27FC236}">
                <a16:creationId xmlns:a16="http://schemas.microsoft.com/office/drawing/2014/main" id="{529B3327-CEE3-4EDF-EB27-9E91E92E9AD5}"/>
              </a:ext>
            </a:extLst>
          </p:cNvPr>
          <p:cNvSpPr txBox="1"/>
          <p:nvPr/>
        </p:nvSpPr>
        <p:spPr>
          <a:xfrm>
            <a:off x="792868" y="543856"/>
            <a:ext cx="4398264" cy="830997"/>
          </a:xfrm>
          <a:prstGeom prst="rect">
            <a:avLst/>
          </a:prstGeom>
          <a:noFill/>
        </p:spPr>
        <p:txBody>
          <a:bodyPr wrap="square" rtlCol="0">
            <a:spAutoFit/>
          </a:bodyPr>
          <a:lstStyle/>
          <a:p>
            <a:r>
              <a:rPr lang="en-US" sz="4800" dirty="0"/>
              <a:t>The Problem</a:t>
            </a:r>
          </a:p>
        </p:txBody>
      </p:sp>
    </p:spTree>
    <p:extLst>
      <p:ext uri="{BB962C8B-B14F-4D97-AF65-F5344CB8AC3E}">
        <p14:creationId xmlns:p14="http://schemas.microsoft.com/office/powerpoint/2010/main" val="161111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07EE94-0542-6F8B-B30D-53EE2419B506}"/>
            </a:ext>
          </a:extLst>
        </p:cNvPr>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Files on shelves">
            <a:extLst>
              <a:ext uri="{FF2B5EF4-FFF2-40B4-BE49-F238E27FC236}">
                <a16:creationId xmlns:a16="http://schemas.microsoft.com/office/drawing/2014/main" id="{7DF946C3-0C20-4D1D-371B-5EC9979F336D}"/>
              </a:ext>
            </a:extLst>
          </p:cNvPr>
          <p:cNvPicPr>
            <a:picLocks noChangeAspect="1"/>
          </p:cNvPicPr>
          <p:nvPr/>
        </p:nvPicPr>
        <p:blipFill>
          <a:blip r:embed="rId3">
            <a:extLst>
              <a:ext uri="{28A0092B-C50C-407E-A947-70E740481C1C}">
                <a14:useLocalDpi xmlns:a14="http://schemas.microsoft.com/office/drawing/2010/main" val="0"/>
              </a:ext>
            </a:extLst>
          </a:blip>
          <a:srcRect r="6237"/>
          <a:stretch>
            <a:fillRect/>
          </a:stretch>
        </p:blipFill>
        <p:spPr>
          <a:xfrm>
            <a:off x="2522356" y="10"/>
            <a:ext cx="9669642" cy="6857990"/>
          </a:xfrm>
          <a:prstGeom prst="rect">
            <a:avLst/>
          </a:prstGeom>
        </p:spPr>
      </p:pic>
      <p:sp>
        <p:nvSpPr>
          <p:cNvPr id="30" name="Rectangle 2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C9AF67CD-3B7A-3004-B818-658BE6229D76}"/>
              </a:ext>
            </a:extLst>
          </p:cNvPr>
          <p:cNvSpPr txBox="1"/>
          <p:nvPr/>
        </p:nvSpPr>
        <p:spPr>
          <a:xfrm>
            <a:off x="277091" y="313904"/>
            <a:ext cx="3822189" cy="1899912"/>
          </a:xfrm>
          <a:prstGeom prst="rect">
            <a:avLst/>
          </a:prstGeom>
        </p:spPr>
        <p:txBody>
          <a:bodyPr vert="horz" lIns="91440" tIns="45720" rIns="91440" bIns="45720" rtlCol="0" anchor="ctr">
            <a:normAutofit fontScale="92500"/>
          </a:bodyPr>
          <a:lstStyle/>
          <a:p>
            <a:pPr>
              <a:lnSpc>
                <a:spcPct val="90000"/>
              </a:lnSpc>
              <a:spcBef>
                <a:spcPct val="0"/>
              </a:spcBef>
              <a:spcAft>
                <a:spcPts val="600"/>
              </a:spcAft>
            </a:pPr>
            <a:r>
              <a:rPr lang="en-US" sz="4000" dirty="0">
                <a:latin typeface="+mj-lt"/>
                <a:ea typeface="+mj-ea"/>
                <a:cs typeface="+mj-cs"/>
              </a:rPr>
              <a:t>How THIS *ONGOING* research started…</a:t>
            </a:r>
          </a:p>
        </p:txBody>
      </p:sp>
      <p:sp>
        <p:nvSpPr>
          <p:cNvPr id="4" name="TextBox 3">
            <a:extLst>
              <a:ext uri="{FF2B5EF4-FFF2-40B4-BE49-F238E27FC236}">
                <a16:creationId xmlns:a16="http://schemas.microsoft.com/office/drawing/2014/main" id="{9BC2E2CC-6F3A-2ECA-15F1-CF16835C858F}"/>
              </a:ext>
            </a:extLst>
          </p:cNvPr>
          <p:cNvSpPr txBox="1"/>
          <p:nvPr/>
        </p:nvSpPr>
        <p:spPr>
          <a:xfrm>
            <a:off x="277091" y="2527719"/>
            <a:ext cx="3822189" cy="3742762"/>
          </a:xfrm>
          <a:prstGeom prst="rect">
            <a:avLst/>
          </a:prstGeom>
        </p:spPr>
        <p:txBody>
          <a:bodyPr vert="horz" lIns="91440" tIns="45720" rIns="91440" bIns="45720" rtlCol="0">
            <a:normAutofit fontScale="92500" lnSpcReduction="10000"/>
          </a:bodyPr>
          <a:lstStyle/>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Original research opportunity!</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Chess trains how we switch between </a:t>
            </a:r>
            <a:r>
              <a:rPr lang="en-US" sz="2000" i="1" dirty="0"/>
              <a:t>fast intuition </a:t>
            </a:r>
            <a:r>
              <a:rPr lang="en-US" sz="2000" dirty="0"/>
              <a:t>and </a:t>
            </a:r>
            <a:r>
              <a:rPr lang="en-US" sz="2000" i="1" dirty="0"/>
              <a:t>slow analysis</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dirty="0"/>
              <a:t>This exact cognitive tension is exploited by phishing attacks!</a:t>
            </a:r>
          </a:p>
          <a:p>
            <a:pPr indent="-228600">
              <a:lnSpc>
                <a:spcPct val="90000"/>
              </a:lnSpc>
              <a:spcAft>
                <a:spcPts val="600"/>
              </a:spcAft>
              <a:buFont typeface="Arial" panose="020B0604020202020204" pitchFamily="34" charset="0"/>
              <a:buChar char="•"/>
            </a:pPr>
            <a:endParaRPr lang="en-US" sz="2000" dirty="0"/>
          </a:p>
          <a:p>
            <a:pPr>
              <a:lnSpc>
                <a:spcPct val="90000"/>
              </a:lnSpc>
              <a:spcAft>
                <a:spcPts val="600"/>
              </a:spcAft>
            </a:pPr>
            <a:r>
              <a:rPr lang="en-US" sz="2000" b="1" dirty="0"/>
              <a:t>Would chess players be better at spotting phishing emails?</a:t>
            </a:r>
          </a:p>
        </p:txBody>
      </p:sp>
    </p:spTree>
    <p:extLst>
      <p:ext uri="{BB962C8B-B14F-4D97-AF65-F5344CB8AC3E}">
        <p14:creationId xmlns:p14="http://schemas.microsoft.com/office/powerpoint/2010/main" val="26302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935"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924" name="Title 1048923"/>
          <p:cNvSpPr>
            <a:spLocks noGrp="1"/>
          </p:cNvSpPr>
          <p:nvPr>
            <p:ph type="title"/>
          </p:nvPr>
        </p:nvSpPr>
        <p:spPr>
          <a:xfrm>
            <a:off x="761800" y="141112"/>
            <a:ext cx="5334197" cy="1708242"/>
          </a:xfrm>
        </p:spPr>
        <p:txBody>
          <a:bodyPr anchor="ctr">
            <a:normAutofit/>
          </a:bodyPr>
          <a:lstStyle/>
          <a:p>
            <a:r>
              <a:rPr lang="en-US" altLang="en-GB" sz="4000" dirty="0"/>
              <a:t>Cognitive Psychology &amp; Chess</a:t>
            </a:r>
            <a:endParaRPr lang="en-GB" sz="4000" dirty="0"/>
          </a:p>
        </p:txBody>
      </p:sp>
      <p:sp>
        <p:nvSpPr>
          <p:cNvPr id="1048925" name="Content Placeholder 1048924"/>
          <p:cNvSpPr>
            <a:spLocks noGrp="1"/>
          </p:cNvSpPr>
          <p:nvPr>
            <p:ph idx="1"/>
          </p:nvPr>
        </p:nvSpPr>
        <p:spPr>
          <a:xfrm>
            <a:off x="761800" y="1591734"/>
            <a:ext cx="5334197" cy="5009590"/>
          </a:xfrm>
        </p:spPr>
        <p:txBody>
          <a:bodyPr anchor="ctr">
            <a:normAutofit fontScale="92500" lnSpcReduction="20000"/>
          </a:bodyPr>
          <a:lstStyle/>
          <a:p>
            <a:pPr marL="0" indent="0">
              <a:buNone/>
            </a:pPr>
            <a:r>
              <a:rPr lang="en-US" altLang="en-GB" sz="1800" dirty="0"/>
              <a:t>Two seminal works</a:t>
            </a:r>
            <a:endParaRPr lang="en-GB" sz="1800" dirty="0"/>
          </a:p>
          <a:p>
            <a:r>
              <a:rPr lang="en-US" altLang="en-GB" sz="1800" dirty="0"/>
              <a:t>A de Groot – </a:t>
            </a:r>
            <a:r>
              <a:rPr lang="en-US" altLang="en-GB" sz="1800" i="1" dirty="0"/>
              <a:t>Thought and Choice in Chess </a:t>
            </a:r>
            <a:r>
              <a:rPr lang="en-US" altLang="en-GB" sz="1800" dirty="0"/>
              <a:t>(1965) </a:t>
            </a:r>
            <a:endParaRPr lang="en-GB" sz="1800" i="1" dirty="0"/>
          </a:p>
          <a:p>
            <a:pPr marL="342900" indent="-342900">
              <a:buFont typeface="+mj-lt"/>
              <a:buAutoNum type="arabicPeriod"/>
            </a:pPr>
            <a:r>
              <a:rPr lang="en-US" altLang="en-GB" sz="1800" dirty="0"/>
              <a:t>Masters didn’t look further ahead than amateurs in number of moves.</a:t>
            </a:r>
            <a:endParaRPr lang="en-GB" sz="1800" dirty="0"/>
          </a:p>
          <a:p>
            <a:pPr marL="342900" indent="-342900">
              <a:buFont typeface="+mj-lt"/>
              <a:buAutoNum type="arabicPeriod"/>
            </a:pPr>
            <a:r>
              <a:rPr lang="en-US" altLang="en-GB" sz="1800" dirty="0"/>
              <a:t>Instead, they had better pattern recognition, leading to faster, more accurate decisions. </a:t>
            </a:r>
            <a:endParaRPr lang="en-GB" sz="1800" dirty="0"/>
          </a:p>
          <a:p>
            <a:pPr marL="342900" indent="-342900">
              <a:buFont typeface="+mj-lt"/>
              <a:buAutoNum type="arabicPeriod"/>
            </a:pPr>
            <a:r>
              <a:rPr lang="en-US" altLang="en-GB" sz="1800" dirty="0"/>
              <a:t>Introduced the idea that expertise relies on chunking, storing meaningful patterns in memory.</a:t>
            </a:r>
            <a:endParaRPr lang="en-GB" sz="1800" dirty="0"/>
          </a:p>
          <a:p>
            <a:endParaRPr lang="en-GB" sz="1800" dirty="0"/>
          </a:p>
          <a:p>
            <a:r>
              <a:rPr lang="en-US" altLang="en-GB" sz="1800" dirty="0"/>
              <a:t>Chase and Simon – </a:t>
            </a:r>
            <a:r>
              <a:rPr lang="en-US" altLang="en-GB" sz="1800" i="1" dirty="0"/>
              <a:t>Perception in Chess </a:t>
            </a:r>
            <a:r>
              <a:rPr lang="en-US" altLang="en-GB" sz="1800" dirty="0"/>
              <a:t>(1973) used memory recall experiments with chess positions that showed:</a:t>
            </a:r>
            <a:endParaRPr lang="en-GB" sz="1800" dirty="0"/>
          </a:p>
          <a:p>
            <a:pPr marL="342900" indent="-342900">
              <a:buFont typeface="+mj-lt"/>
              <a:buAutoNum type="arabicPeriod"/>
            </a:pPr>
            <a:r>
              <a:rPr lang="en-US" altLang="en-GB" sz="1800" dirty="0"/>
              <a:t>Masters could recall real (structured) chess positions almost perfectly. But they performed no better than novices with random positions.</a:t>
            </a:r>
            <a:endParaRPr lang="en-GB" sz="1800" dirty="0"/>
          </a:p>
          <a:p>
            <a:pPr marL="342900" indent="-342900">
              <a:buFont typeface="+mj-lt"/>
              <a:buAutoNum type="arabicPeriod"/>
            </a:pPr>
            <a:r>
              <a:rPr lang="en-US" altLang="en-GB" sz="1800" dirty="0"/>
              <a:t>This confirmed that expertise comes from recognizing meaningful chunks, not general memory ability.</a:t>
            </a:r>
            <a:endParaRPr lang="en-GB" sz="1800" dirty="0"/>
          </a:p>
        </p:txBody>
      </p:sp>
      <p:pic>
        <p:nvPicPr>
          <p:cNvPr id="1048936" name="Picture 1048935" descr="A line of black pawns">
            <a:extLst>
              <a:ext uri="{FF2B5EF4-FFF2-40B4-BE49-F238E27FC236}">
                <a16:creationId xmlns:a16="http://schemas.microsoft.com/office/drawing/2014/main" id="{F2873578-4919-931C-CDEB-2B98010C5658}"/>
              </a:ext>
            </a:extLst>
          </p:cNvPr>
          <p:cNvPicPr>
            <a:picLocks noChangeAspect="1"/>
          </p:cNvPicPr>
          <p:nvPr/>
        </p:nvPicPr>
        <p:blipFill>
          <a:blip r:embed="rId3"/>
          <a:srcRect l="48164" r="-1"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9D7E975-9161-4F2D-AC53-69E1912F6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633401C-86A3-FA58-75E5-253980E352B2}"/>
              </a:ext>
            </a:extLst>
          </p:cNvPr>
          <p:cNvPicPr>
            <a:picLocks noChangeAspect="1"/>
          </p:cNvPicPr>
          <p:nvPr/>
        </p:nvPicPr>
        <p:blipFill>
          <a:blip r:embed="rId3"/>
          <a:stretch>
            <a:fillRect/>
          </a:stretch>
        </p:blipFill>
        <p:spPr>
          <a:xfrm>
            <a:off x="683004" y="1130609"/>
            <a:ext cx="6589537" cy="3805458"/>
          </a:xfrm>
          <a:prstGeom prst="rect">
            <a:avLst/>
          </a:prstGeom>
        </p:spPr>
      </p:pic>
      <p:sp>
        <p:nvSpPr>
          <p:cNvPr id="13"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63E6235-1649-4B47-9862-4026FC473B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9A4CE6-D687-7FAE-6569-2B75505DC1E5}"/>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6" name="TextBox 5">
            <a:extLst>
              <a:ext uri="{FF2B5EF4-FFF2-40B4-BE49-F238E27FC236}">
                <a16:creationId xmlns:a16="http://schemas.microsoft.com/office/drawing/2014/main" id="{851556F4-DB38-BA31-40DB-D43A08F5F85D}"/>
              </a:ext>
            </a:extLst>
          </p:cNvPr>
          <p:cNvSpPr txBox="1"/>
          <p:nvPr/>
        </p:nvSpPr>
        <p:spPr>
          <a:xfrm>
            <a:off x="1061707" y="4659587"/>
            <a:ext cx="2705619" cy="762618"/>
          </a:xfrm>
          <a:prstGeom prst="rect">
            <a:avLst/>
          </a:prstGeom>
        </p:spPr>
        <p:txBody>
          <a:bodyPr vert="horz" lIns="91440" tIns="45720" rIns="91440" bIns="45720" rtlCol="0" anchor="t">
            <a:normAutofit/>
          </a:bodyPr>
          <a:lstStyle/>
          <a:p>
            <a:pPr>
              <a:lnSpc>
                <a:spcPct val="90000"/>
              </a:lnSpc>
              <a:spcBef>
                <a:spcPts val="1000"/>
              </a:spcBef>
            </a:pPr>
            <a:r>
              <a:rPr lang="en-US" sz="1100" kern="1200" dirty="0">
                <a:solidFill>
                  <a:schemeClr val="tx1"/>
                </a:solidFill>
                <a:latin typeface="+mn-lt"/>
                <a:ea typeface="+mn-ea"/>
                <a:cs typeface="+mn-cs"/>
              </a:rPr>
              <a:t>Credit: structural-learning.com</a:t>
            </a:r>
          </a:p>
        </p:txBody>
      </p:sp>
      <p:sp>
        <p:nvSpPr>
          <p:cNvPr id="7" name="TextBox 6">
            <a:extLst>
              <a:ext uri="{FF2B5EF4-FFF2-40B4-BE49-F238E27FC236}">
                <a16:creationId xmlns:a16="http://schemas.microsoft.com/office/drawing/2014/main" id="{B6F73046-AB5D-E80F-504B-9FD9E869CF39}"/>
              </a:ext>
            </a:extLst>
          </p:cNvPr>
          <p:cNvSpPr txBox="1"/>
          <p:nvPr/>
        </p:nvSpPr>
        <p:spPr>
          <a:xfrm>
            <a:off x="1527220" y="4994470"/>
            <a:ext cx="5486400" cy="369332"/>
          </a:xfrm>
          <a:prstGeom prst="rect">
            <a:avLst/>
          </a:prstGeom>
          <a:noFill/>
        </p:spPr>
        <p:txBody>
          <a:bodyPr wrap="square" rtlCol="0">
            <a:spAutoFit/>
          </a:bodyPr>
          <a:lstStyle/>
          <a:p>
            <a:r>
              <a:rPr lang="en-US" dirty="0"/>
              <a:t>As initially studied by Evans and Stankovich (2013)</a:t>
            </a:r>
            <a:endParaRPr lang="en-IE" dirty="0"/>
          </a:p>
        </p:txBody>
      </p:sp>
    </p:spTree>
    <p:extLst>
      <p:ext uri="{BB962C8B-B14F-4D97-AF65-F5344CB8AC3E}">
        <p14:creationId xmlns:p14="http://schemas.microsoft.com/office/powerpoint/2010/main" val="1914084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EE0592-2106-6735-E4D3-ADA211F58A0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CE3562A-A496-AD37-ACE3-6F715AAF4C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2583D77E-448A-7E00-2F72-22F98EBF62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C28AE39-BDB1-394B-9371-C9A566322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1497FE-9D0D-E4A1-0DA8-D15DEFB8CDB6}"/>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D3E1087D-A7A7-8515-2548-1BD7F59A2246}"/>
              </a:ext>
            </a:extLst>
          </p:cNvPr>
          <p:cNvSpPr txBox="1"/>
          <p:nvPr/>
        </p:nvSpPr>
        <p:spPr>
          <a:xfrm>
            <a:off x="421744" y="789709"/>
            <a:ext cx="3138054" cy="4893647"/>
          </a:xfrm>
          <a:prstGeom prst="rect">
            <a:avLst/>
          </a:prstGeom>
          <a:noFill/>
        </p:spPr>
        <p:txBody>
          <a:bodyPr wrap="square" rtlCol="0">
            <a:spAutoFit/>
          </a:bodyPr>
          <a:lstStyle/>
          <a:p>
            <a:r>
              <a:rPr lang="en-IE" sz="2400" b="1" dirty="0"/>
              <a:t>Chess</a:t>
            </a:r>
          </a:p>
          <a:p>
            <a:endParaRPr lang="en-IE" sz="2400" dirty="0"/>
          </a:p>
          <a:p>
            <a:r>
              <a:rPr lang="en-IE" sz="2400" b="1" i="1" dirty="0"/>
              <a:t>System 1 </a:t>
            </a:r>
          </a:p>
          <a:p>
            <a:r>
              <a:rPr lang="en-IE" sz="2400" dirty="0"/>
              <a:t>“That pawn move looks familiar, probably a Queen’s Gambit”.</a:t>
            </a:r>
          </a:p>
          <a:p>
            <a:endParaRPr lang="en-IE" sz="2400" dirty="0"/>
          </a:p>
          <a:p>
            <a:r>
              <a:rPr lang="en-IE" sz="2400" b="1" i="1" dirty="0"/>
              <a:t>System 2 </a:t>
            </a:r>
          </a:p>
          <a:p>
            <a:r>
              <a:rPr lang="en-IE" sz="2400" dirty="0"/>
              <a:t>“Wait… if I accept the gambit, I lose tempo and weaken my King side. Better decline it.”</a:t>
            </a:r>
          </a:p>
        </p:txBody>
      </p:sp>
      <p:sp>
        <p:nvSpPr>
          <p:cNvPr id="8" name="TextBox 7">
            <a:extLst>
              <a:ext uri="{FF2B5EF4-FFF2-40B4-BE49-F238E27FC236}">
                <a16:creationId xmlns:a16="http://schemas.microsoft.com/office/drawing/2014/main" id="{E3F8774C-DCDB-ED1F-AD0D-7B13931669EA}"/>
              </a:ext>
            </a:extLst>
          </p:cNvPr>
          <p:cNvSpPr txBox="1"/>
          <p:nvPr/>
        </p:nvSpPr>
        <p:spPr>
          <a:xfrm>
            <a:off x="4080831" y="789709"/>
            <a:ext cx="3130381" cy="4893647"/>
          </a:xfrm>
          <a:prstGeom prst="rect">
            <a:avLst/>
          </a:prstGeom>
          <a:noFill/>
        </p:spPr>
        <p:txBody>
          <a:bodyPr wrap="square" rtlCol="0">
            <a:spAutoFit/>
          </a:bodyPr>
          <a:lstStyle/>
          <a:p>
            <a:r>
              <a:rPr lang="en-IE" sz="2400" b="1" dirty="0"/>
              <a:t>Phishing detection</a:t>
            </a:r>
          </a:p>
          <a:p>
            <a:endParaRPr lang="en-IE" sz="2400" dirty="0"/>
          </a:p>
          <a:p>
            <a:r>
              <a:rPr lang="en-IE" sz="2400" b="1" i="1" dirty="0"/>
              <a:t>System 1 </a:t>
            </a:r>
          </a:p>
          <a:p>
            <a:r>
              <a:rPr lang="en-IE" sz="2400" dirty="0"/>
              <a:t>“It’s an Amazon email, I’ve seen this a million times. Must be safe”.</a:t>
            </a:r>
          </a:p>
          <a:p>
            <a:endParaRPr lang="en-IE" sz="2400" dirty="0"/>
          </a:p>
          <a:p>
            <a:r>
              <a:rPr lang="en-IE" sz="2400" b="1" i="1" dirty="0"/>
              <a:t>System 2 </a:t>
            </a:r>
          </a:p>
          <a:p>
            <a:r>
              <a:rPr lang="en-IE" sz="2400" dirty="0"/>
              <a:t>“Hm, the email asks me to reset a password, but the address is suspicious…”</a:t>
            </a:r>
          </a:p>
        </p:txBody>
      </p:sp>
    </p:spTree>
    <p:extLst>
      <p:ext uri="{BB962C8B-B14F-4D97-AF65-F5344CB8AC3E}">
        <p14:creationId xmlns:p14="http://schemas.microsoft.com/office/powerpoint/2010/main" val="2656612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28CDCA8-257A-A7E0-97A5-77BA11E1603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45CCD58-B3B1-285C-C396-F681C50A0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7A2C1468-3467-4918-CD4A-BB7A85044C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09A4811-A7A5-C829-5D18-20CEE9914F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E9A88D-3A3B-EF90-CDE1-02B1D9A2F2B2}"/>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3" name="TextBox 2">
            <a:extLst>
              <a:ext uri="{FF2B5EF4-FFF2-40B4-BE49-F238E27FC236}">
                <a16:creationId xmlns:a16="http://schemas.microsoft.com/office/drawing/2014/main" id="{B37CCBF4-26DC-BA61-5418-984062EA4C63}"/>
              </a:ext>
            </a:extLst>
          </p:cNvPr>
          <p:cNvSpPr txBox="1"/>
          <p:nvPr/>
        </p:nvSpPr>
        <p:spPr>
          <a:xfrm>
            <a:off x="693470" y="1367882"/>
            <a:ext cx="6141334" cy="5386090"/>
          </a:xfrm>
          <a:prstGeom prst="rect">
            <a:avLst/>
          </a:prstGeom>
          <a:noFill/>
        </p:spPr>
        <p:txBody>
          <a:bodyPr wrap="square" rtlCol="0">
            <a:spAutoFit/>
          </a:bodyPr>
          <a:lstStyle/>
          <a:p>
            <a:r>
              <a:rPr lang="en-US" sz="2400" dirty="0"/>
              <a:t>Chess players are trained to flip between these systems constantly (“c.d.”).</a:t>
            </a:r>
          </a:p>
          <a:p>
            <a:endParaRPr lang="en-US" sz="2400" dirty="0"/>
          </a:p>
          <a:p>
            <a:r>
              <a:rPr lang="en-IE" sz="2400" dirty="0"/>
              <a:t>Modern </a:t>
            </a:r>
            <a:r>
              <a:rPr lang="en-US" sz="2400" dirty="0"/>
              <a:t>anti-phishing training revolves around training the analytical </a:t>
            </a:r>
            <a:r>
              <a:rPr lang="en-IE" sz="2400" dirty="0"/>
              <a:t>thinking system.</a:t>
            </a:r>
            <a:br>
              <a:rPr lang="en-US" sz="2400" dirty="0"/>
            </a:br>
            <a:endParaRPr lang="en-US" sz="2400" dirty="0"/>
          </a:p>
          <a:p>
            <a:r>
              <a:rPr lang="en-US" sz="2400" dirty="0"/>
              <a:t>In phishing, attackers exploit your fast, instinctive System 1.</a:t>
            </a:r>
          </a:p>
          <a:p>
            <a:endParaRPr lang="en-US" sz="2400" dirty="0"/>
          </a:p>
          <a:p>
            <a:r>
              <a:rPr lang="en-US" sz="2400" dirty="0">
                <a:highlight>
                  <a:srgbClr val="FFFF00"/>
                </a:highlight>
              </a:rPr>
              <a:t>Benefits to training both systems and the switching between them?</a:t>
            </a:r>
            <a:endParaRPr lang="en-US" sz="2800" dirty="0">
              <a:highlight>
                <a:srgbClr val="FFFF00"/>
              </a:highlight>
            </a:endParaRPr>
          </a:p>
          <a:p>
            <a:endParaRPr lang="en-US" sz="2800" dirty="0"/>
          </a:p>
          <a:p>
            <a:endParaRPr lang="en-US" sz="2800" dirty="0"/>
          </a:p>
        </p:txBody>
      </p:sp>
      <p:sp>
        <p:nvSpPr>
          <p:cNvPr id="5" name="TextBox 4">
            <a:extLst>
              <a:ext uri="{FF2B5EF4-FFF2-40B4-BE49-F238E27FC236}">
                <a16:creationId xmlns:a16="http://schemas.microsoft.com/office/drawing/2014/main" id="{8E4C40DF-B8C7-1AC9-5361-B74CA2AABE34}"/>
              </a:ext>
            </a:extLst>
          </p:cNvPr>
          <p:cNvSpPr txBox="1"/>
          <p:nvPr/>
        </p:nvSpPr>
        <p:spPr>
          <a:xfrm>
            <a:off x="644621" y="353291"/>
            <a:ext cx="4634345" cy="523220"/>
          </a:xfrm>
          <a:prstGeom prst="rect">
            <a:avLst/>
          </a:prstGeom>
          <a:noFill/>
        </p:spPr>
        <p:txBody>
          <a:bodyPr wrap="square" rtlCol="0">
            <a:spAutoFit/>
          </a:bodyPr>
          <a:lstStyle/>
          <a:p>
            <a:r>
              <a:rPr lang="en-IE" sz="2800" dirty="0"/>
              <a:t>Cognitive Decoupling</a:t>
            </a:r>
          </a:p>
        </p:txBody>
      </p:sp>
    </p:spTree>
    <p:extLst>
      <p:ext uri="{BB962C8B-B14F-4D97-AF65-F5344CB8AC3E}">
        <p14:creationId xmlns:p14="http://schemas.microsoft.com/office/powerpoint/2010/main" val="200053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5B549B-BCEA-FA59-946F-A036BE46978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37BAB5C-A269-D66B-98B8-22A7F0C006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E2AA5BAE-5F2D-10F1-2B30-AD1CA162FB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E13D32E-3495-4787-64D1-72F13FF95D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B3CBAA-3F86-3E14-EF46-C85C2A16017B}"/>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9BC53205-8EAC-8D9B-38C9-47A94D82B210}"/>
              </a:ext>
            </a:extLst>
          </p:cNvPr>
          <p:cNvSpPr txBox="1"/>
          <p:nvPr/>
        </p:nvSpPr>
        <p:spPr>
          <a:xfrm>
            <a:off x="1309255" y="1597063"/>
            <a:ext cx="5237018" cy="4832092"/>
          </a:xfrm>
          <a:prstGeom prst="rect">
            <a:avLst/>
          </a:prstGeom>
          <a:noFill/>
        </p:spPr>
        <p:txBody>
          <a:bodyPr wrap="square" rtlCol="0">
            <a:spAutoFit/>
          </a:bodyPr>
          <a:lstStyle/>
          <a:p>
            <a:r>
              <a:rPr lang="en-US" sz="2800" dirty="0"/>
              <a:t>Phishing emails are designed to manipulate Cognitive Biases or Type 1 Thinking faults and weaknesses, such as emotions:</a:t>
            </a:r>
          </a:p>
          <a:p>
            <a:endParaRPr lang="en-US" sz="2800" dirty="0"/>
          </a:p>
          <a:p>
            <a:pPr marL="285750" indent="-285750">
              <a:buFont typeface="Arial" panose="020B0604020202020204" pitchFamily="34" charset="0"/>
              <a:buChar char="•"/>
            </a:pPr>
            <a:r>
              <a:rPr lang="en-US" sz="2800" dirty="0"/>
              <a:t>curiosity</a:t>
            </a:r>
          </a:p>
          <a:p>
            <a:pPr marL="285750" indent="-285750">
              <a:buFont typeface="Arial" panose="020B0604020202020204" pitchFamily="34" charset="0"/>
              <a:buChar char="•"/>
            </a:pPr>
            <a:r>
              <a:rPr lang="en-US" sz="2800" dirty="0"/>
              <a:t>fear</a:t>
            </a:r>
          </a:p>
          <a:p>
            <a:pPr marL="285750" indent="-285750">
              <a:buFont typeface="Arial" panose="020B0604020202020204" pitchFamily="34" charset="0"/>
              <a:buChar char="•"/>
            </a:pPr>
            <a:r>
              <a:rPr lang="en-US" sz="2800" dirty="0"/>
              <a:t>excitement</a:t>
            </a:r>
          </a:p>
          <a:p>
            <a:pPr marL="285750" indent="-285750">
              <a:buFont typeface="Arial" panose="020B0604020202020204" pitchFamily="34" charset="0"/>
              <a:buChar char="•"/>
            </a:pPr>
            <a:r>
              <a:rPr lang="en-US" sz="2800" dirty="0"/>
              <a:t>pity</a:t>
            </a:r>
          </a:p>
          <a:p>
            <a:pPr marL="285750" indent="-285750">
              <a:buFont typeface="Arial" panose="020B0604020202020204" pitchFamily="34" charset="0"/>
              <a:buChar char="•"/>
            </a:pPr>
            <a:r>
              <a:rPr lang="en-US" sz="2800" dirty="0"/>
              <a:t>urgency (David &amp; Bode-Asa, 2023</a:t>
            </a:r>
            <a:r>
              <a:rPr lang="en-US" dirty="0"/>
              <a:t>)</a:t>
            </a:r>
          </a:p>
        </p:txBody>
      </p:sp>
      <p:sp>
        <p:nvSpPr>
          <p:cNvPr id="7" name="TextBox 6">
            <a:extLst>
              <a:ext uri="{FF2B5EF4-FFF2-40B4-BE49-F238E27FC236}">
                <a16:creationId xmlns:a16="http://schemas.microsoft.com/office/drawing/2014/main" id="{AFE6DEB9-D8D6-F040-981C-C9EFEB67DA8A}"/>
              </a:ext>
            </a:extLst>
          </p:cNvPr>
          <p:cNvSpPr txBox="1"/>
          <p:nvPr/>
        </p:nvSpPr>
        <p:spPr>
          <a:xfrm>
            <a:off x="1309255" y="623275"/>
            <a:ext cx="4873336" cy="769441"/>
          </a:xfrm>
          <a:prstGeom prst="rect">
            <a:avLst/>
          </a:prstGeom>
          <a:noFill/>
        </p:spPr>
        <p:txBody>
          <a:bodyPr wrap="square" rtlCol="0">
            <a:spAutoFit/>
          </a:bodyPr>
          <a:lstStyle/>
          <a:p>
            <a:r>
              <a:rPr lang="en-IE" sz="4400" dirty="0"/>
              <a:t>Phishing Emails</a:t>
            </a:r>
          </a:p>
        </p:txBody>
      </p:sp>
    </p:spTree>
    <p:extLst>
      <p:ext uri="{BB962C8B-B14F-4D97-AF65-F5344CB8AC3E}">
        <p14:creationId xmlns:p14="http://schemas.microsoft.com/office/powerpoint/2010/main" val="3611690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3AF070B-D3F4-3B6F-478B-80001F547F2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3B23C94-C185-B115-83B3-5EA47ECB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51522584-7978-F5EC-3BDB-2E3C7B6F46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3E956DA-57D5-E15D-9796-4831088C6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0D1F58-3EE2-0A2D-145E-B9292187EA25}"/>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B8534398-BC04-D7FC-8532-4B3A520C8255}"/>
              </a:ext>
            </a:extLst>
          </p:cNvPr>
          <p:cNvSpPr txBox="1"/>
          <p:nvPr/>
        </p:nvSpPr>
        <p:spPr>
          <a:xfrm>
            <a:off x="1423554" y="1652155"/>
            <a:ext cx="5237018" cy="3970318"/>
          </a:xfrm>
          <a:prstGeom prst="rect">
            <a:avLst/>
          </a:prstGeom>
          <a:noFill/>
        </p:spPr>
        <p:txBody>
          <a:bodyPr wrap="square" rtlCol="0">
            <a:spAutoFit/>
          </a:bodyPr>
          <a:lstStyle/>
          <a:p>
            <a:r>
              <a:rPr lang="en-IE" sz="2800" dirty="0"/>
              <a:t>Psychological attack vectors:</a:t>
            </a:r>
          </a:p>
          <a:p>
            <a:endParaRPr lang="en-US" sz="2800" dirty="0"/>
          </a:p>
          <a:p>
            <a:pPr marL="285750" indent="-285750">
              <a:buFont typeface="Arial" panose="020B0604020202020204" pitchFamily="34" charset="0"/>
              <a:buChar char="•"/>
            </a:pPr>
            <a:r>
              <a:rPr lang="en-US" sz="2800" dirty="0"/>
              <a:t>consistency</a:t>
            </a:r>
          </a:p>
          <a:p>
            <a:pPr marL="285750" indent="-285750">
              <a:buFont typeface="Arial" panose="020B0604020202020204" pitchFamily="34" charset="0"/>
              <a:buChar char="•"/>
            </a:pPr>
            <a:r>
              <a:rPr lang="en-US" sz="2800" dirty="0"/>
              <a:t>urgency</a:t>
            </a:r>
          </a:p>
          <a:p>
            <a:pPr marL="285750" indent="-285750">
              <a:buFont typeface="Arial" panose="020B0604020202020204" pitchFamily="34" charset="0"/>
              <a:buChar char="•"/>
            </a:pPr>
            <a:r>
              <a:rPr lang="en-US" sz="2800" dirty="0"/>
              <a:t>scarcity</a:t>
            </a:r>
          </a:p>
          <a:p>
            <a:pPr marL="285750" indent="-285750">
              <a:buFont typeface="Arial" panose="020B0604020202020204" pitchFamily="34" charset="0"/>
              <a:buChar char="•"/>
            </a:pPr>
            <a:r>
              <a:rPr lang="en-US" sz="2800" dirty="0"/>
              <a:t>liking</a:t>
            </a:r>
          </a:p>
          <a:p>
            <a:pPr marL="285750" indent="-285750">
              <a:buFont typeface="Arial" panose="020B0604020202020204" pitchFamily="34" charset="0"/>
              <a:buChar char="•"/>
            </a:pPr>
            <a:r>
              <a:rPr lang="en-US" sz="2800" dirty="0"/>
              <a:t>social proof</a:t>
            </a:r>
          </a:p>
          <a:p>
            <a:pPr marL="285750" indent="-285750">
              <a:buFont typeface="Arial" panose="020B0604020202020204" pitchFamily="34" charset="0"/>
              <a:buChar char="•"/>
            </a:pPr>
            <a:r>
              <a:rPr lang="en-IE" sz="2800" dirty="0"/>
              <a:t>authority</a:t>
            </a:r>
          </a:p>
          <a:p>
            <a:pPr marL="285750" indent="-285750">
              <a:buFont typeface="Arial" panose="020B0604020202020204" pitchFamily="34" charset="0"/>
              <a:buChar char="•"/>
            </a:pPr>
            <a:r>
              <a:rPr lang="en-IE" sz="2800" dirty="0"/>
              <a:t>Reciprocity (Gallo et. al., 2024)</a:t>
            </a:r>
            <a:endParaRPr lang="en-US" sz="2800" dirty="0"/>
          </a:p>
        </p:txBody>
      </p:sp>
      <p:sp>
        <p:nvSpPr>
          <p:cNvPr id="7" name="TextBox 6">
            <a:extLst>
              <a:ext uri="{FF2B5EF4-FFF2-40B4-BE49-F238E27FC236}">
                <a16:creationId xmlns:a16="http://schemas.microsoft.com/office/drawing/2014/main" id="{F94C38F4-F07B-BCBB-E0CC-1CE8C64C84F5}"/>
              </a:ext>
            </a:extLst>
          </p:cNvPr>
          <p:cNvSpPr txBox="1"/>
          <p:nvPr/>
        </p:nvSpPr>
        <p:spPr>
          <a:xfrm>
            <a:off x="1309255" y="623275"/>
            <a:ext cx="4873336" cy="769441"/>
          </a:xfrm>
          <a:prstGeom prst="rect">
            <a:avLst/>
          </a:prstGeom>
          <a:noFill/>
        </p:spPr>
        <p:txBody>
          <a:bodyPr wrap="square" rtlCol="0">
            <a:spAutoFit/>
          </a:bodyPr>
          <a:lstStyle/>
          <a:p>
            <a:r>
              <a:rPr lang="en-IE" sz="4400" dirty="0"/>
              <a:t>Phishing Emails</a:t>
            </a:r>
          </a:p>
        </p:txBody>
      </p:sp>
    </p:spTree>
    <p:extLst>
      <p:ext uri="{BB962C8B-B14F-4D97-AF65-F5344CB8AC3E}">
        <p14:creationId xmlns:p14="http://schemas.microsoft.com/office/powerpoint/2010/main" val="28752438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343CFA-C723-BD96-EB9A-90CE230E8E1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CEA466-D4FE-F823-54EB-BD9202E2D6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F1BFD6FA-7D50-A23C-882A-79E5ADE165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6DFA50E-9642-6455-3B45-2A023BE5E5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AC2B65-6504-4641-0D8D-AEA952F60E20}"/>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CE9FCFB3-EB8D-9646-01E8-2C86E52B6655}"/>
              </a:ext>
            </a:extLst>
          </p:cNvPr>
          <p:cNvSpPr txBox="1"/>
          <p:nvPr/>
        </p:nvSpPr>
        <p:spPr>
          <a:xfrm>
            <a:off x="1309255" y="2151061"/>
            <a:ext cx="5237018" cy="3539430"/>
          </a:xfrm>
          <a:prstGeom prst="rect">
            <a:avLst/>
          </a:prstGeom>
          <a:noFill/>
        </p:spPr>
        <p:txBody>
          <a:bodyPr wrap="square" rtlCol="0">
            <a:spAutoFit/>
          </a:bodyPr>
          <a:lstStyle/>
          <a:p>
            <a:r>
              <a:rPr lang="en-IE" sz="2800" dirty="0"/>
              <a:t>Implicit Cues:</a:t>
            </a:r>
          </a:p>
          <a:p>
            <a:pPr marL="285750" indent="-285750">
              <a:buFont typeface="Arial" panose="020B0604020202020204" pitchFamily="34" charset="0"/>
              <a:buChar char="•"/>
            </a:pPr>
            <a:r>
              <a:rPr lang="en-IE" sz="2800" dirty="0"/>
              <a:t>lack of personalization</a:t>
            </a:r>
          </a:p>
          <a:p>
            <a:pPr marL="285750" indent="-285750">
              <a:buFont typeface="Arial" panose="020B0604020202020204" pitchFamily="34" charset="0"/>
              <a:buChar char="•"/>
            </a:pPr>
            <a:r>
              <a:rPr lang="en-IE" sz="2800" dirty="0"/>
              <a:t>sense of urgency</a:t>
            </a:r>
          </a:p>
          <a:p>
            <a:endParaRPr lang="en-IE" sz="2800" dirty="0"/>
          </a:p>
          <a:p>
            <a:r>
              <a:rPr lang="en-IE" sz="2800" dirty="0"/>
              <a:t>Explicit Cues:</a:t>
            </a:r>
          </a:p>
          <a:p>
            <a:pPr marL="285750" indent="-285750">
              <a:buFont typeface="Arial" panose="020B0604020202020204" pitchFamily="34" charset="0"/>
              <a:buChar char="•"/>
            </a:pPr>
            <a:r>
              <a:rPr lang="en-IE" sz="2800" dirty="0"/>
              <a:t>security warnings prompted by an email tool (</a:t>
            </a:r>
            <a:r>
              <a:rPr lang="en-US" sz="2800" dirty="0" err="1"/>
              <a:t>Baltuttis</a:t>
            </a:r>
            <a:r>
              <a:rPr lang="en-US" sz="2800" dirty="0"/>
              <a:t> &amp; Teubner, 2024)</a:t>
            </a:r>
          </a:p>
        </p:txBody>
      </p:sp>
      <p:sp>
        <p:nvSpPr>
          <p:cNvPr id="7" name="TextBox 6">
            <a:extLst>
              <a:ext uri="{FF2B5EF4-FFF2-40B4-BE49-F238E27FC236}">
                <a16:creationId xmlns:a16="http://schemas.microsoft.com/office/drawing/2014/main" id="{D124A390-E24E-4139-0D1B-10FEF1FA8053}"/>
              </a:ext>
            </a:extLst>
          </p:cNvPr>
          <p:cNvSpPr txBox="1"/>
          <p:nvPr/>
        </p:nvSpPr>
        <p:spPr>
          <a:xfrm>
            <a:off x="1309255" y="623275"/>
            <a:ext cx="4873336" cy="2123658"/>
          </a:xfrm>
          <a:prstGeom prst="rect">
            <a:avLst/>
          </a:prstGeom>
          <a:noFill/>
        </p:spPr>
        <p:txBody>
          <a:bodyPr wrap="square" rtlCol="0">
            <a:spAutoFit/>
          </a:bodyPr>
          <a:lstStyle/>
          <a:p>
            <a:r>
              <a:rPr lang="en-IE" sz="4400" dirty="0"/>
              <a:t>Phishing Emails</a:t>
            </a:r>
          </a:p>
          <a:p>
            <a:r>
              <a:rPr lang="en-IE" sz="4400" dirty="0"/>
              <a:t>Cue Utilization</a:t>
            </a:r>
          </a:p>
          <a:p>
            <a:endParaRPr lang="en-IE" sz="4400" dirty="0"/>
          </a:p>
        </p:txBody>
      </p:sp>
    </p:spTree>
    <p:extLst>
      <p:ext uri="{BB962C8B-B14F-4D97-AF65-F5344CB8AC3E}">
        <p14:creationId xmlns:p14="http://schemas.microsoft.com/office/powerpoint/2010/main" val="2265727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D02724-C0C1-A752-FC7D-276F4A382C6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5469B21-C190-C6CE-43A0-1E8D7CBAAE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9B89338D-EB1A-ABDD-549D-EE2456BE5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04764C6-72EA-F38A-F293-B20AE49D13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D25A03-8364-1EEF-4633-06297B1CFCC5}"/>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95C3F057-551C-0FF1-A468-EA763054619D}"/>
              </a:ext>
            </a:extLst>
          </p:cNvPr>
          <p:cNvSpPr txBox="1"/>
          <p:nvPr/>
        </p:nvSpPr>
        <p:spPr>
          <a:xfrm>
            <a:off x="1309255" y="2181705"/>
            <a:ext cx="5237018" cy="4154984"/>
          </a:xfrm>
          <a:prstGeom prst="rect">
            <a:avLst/>
          </a:prstGeom>
          <a:noFill/>
        </p:spPr>
        <p:txBody>
          <a:bodyPr wrap="square" rtlCol="0">
            <a:spAutoFit/>
          </a:bodyPr>
          <a:lstStyle/>
          <a:p>
            <a:r>
              <a:rPr lang="en-IE" sz="2400" dirty="0"/>
              <a:t>Intuition-based decision-making process </a:t>
            </a:r>
            <a:r>
              <a:rPr lang="en-US" sz="2400" dirty="0"/>
              <a:t>(Type 1 thinking) has been linked to </a:t>
            </a:r>
            <a:r>
              <a:rPr lang="en-US" sz="2400" b="1" dirty="0"/>
              <a:t>greater </a:t>
            </a:r>
            <a:r>
              <a:rPr lang="en-US" sz="2400" dirty="0"/>
              <a:t>phishing susceptibility</a:t>
            </a:r>
          </a:p>
          <a:p>
            <a:endParaRPr lang="en-US" sz="2400" dirty="0"/>
          </a:p>
          <a:p>
            <a:r>
              <a:rPr lang="en-US" sz="2400" dirty="0"/>
              <a:t>Tendency towards a less intuitive</a:t>
            </a:r>
          </a:p>
          <a:p>
            <a:r>
              <a:rPr lang="en-US" sz="2400" dirty="0"/>
              <a:t>way of thinking (Type 2</a:t>
            </a:r>
            <a:r>
              <a:rPr lang="en-IE" sz="2400" dirty="0"/>
              <a:t>)</a:t>
            </a:r>
            <a:r>
              <a:rPr lang="en-IE" sz="2400" b="1" dirty="0"/>
              <a:t> reduces </a:t>
            </a:r>
            <a:r>
              <a:rPr lang="en-IE" sz="2400" dirty="0"/>
              <a:t>phishing susceptibility </a:t>
            </a:r>
            <a:r>
              <a:rPr lang="en-US" sz="2400" dirty="0"/>
              <a:t>(Sturman et. Al., 2025)</a:t>
            </a:r>
          </a:p>
          <a:p>
            <a:endParaRPr lang="en-US" sz="2400" dirty="0"/>
          </a:p>
          <a:p>
            <a:r>
              <a:rPr lang="en-US" sz="2400" dirty="0"/>
              <a:t>…are we missing something?</a:t>
            </a:r>
          </a:p>
        </p:txBody>
      </p:sp>
      <p:sp>
        <p:nvSpPr>
          <p:cNvPr id="7" name="TextBox 6">
            <a:extLst>
              <a:ext uri="{FF2B5EF4-FFF2-40B4-BE49-F238E27FC236}">
                <a16:creationId xmlns:a16="http://schemas.microsoft.com/office/drawing/2014/main" id="{C75D5198-ACB7-24C7-63B4-403784F0FDDF}"/>
              </a:ext>
            </a:extLst>
          </p:cNvPr>
          <p:cNvSpPr txBox="1"/>
          <p:nvPr/>
        </p:nvSpPr>
        <p:spPr>
          <a:xfrm>
            <a:off x="1309255" y="623275"/>
            <a:ext cx="4873336" cy="1446550"/>
          </a:xfrm>
          <a:prstGeom prst="rect">
            <a:avLst/>
          </a:prstGeom>
          <a:noFill/>
        </p:spPr>
        <p:txBody>
          <a:bodyPr wrap="square" rtlCol="0">
            <a:spAutoFit/>
          </a:bodyPr>
          <a:lstStyle/>
          <a:p>
            <a:r>
              <a:rPr lang="en-IE" sz="4400" dirty="0"/>
              <a:t>Phishing Emails</a:t>
            </a:r>
          </a:p>
          <a:p>
            <a:r>
              <a:rPr lang="en-IE" sz="4400" dirty="0"/>
              <a:t>Cue Utilization</a:t>
            </a:r>
          </a:p>
        </p:txBody>
      </p:sp>
    </p:spTree>
    <p:extLst>
      <p:ext uri="{BB962C8B-B14F-4D97-AF65-F5344CB8AC3E}">
        <p14:creationId xmlns:p14="http://schemas.microsoft.com/office/powerpoint/2010/main" val="14127158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F8EC744-21DC-CB70-9E98-2AFBEC05D74E}"/>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89CFB29-02CE-FB78-B5E4-255988B7A8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3DFBD252-49A2-A3C8-D814-256A7BC52C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0B5B5ED-4348-FB3A-D373-ACD1EA2D9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061A4D-7A26-1030-5D4B-AC14A5F8B265}"/>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dirty="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B43805D2-6B89-2D6E-8B73-663D0E27253A}"/>
              </a:ext>
            </a:extLst>
          </p:cNvPr>
          <p:cNvSpPr txBox="1"/>
          <p:nvPr/>
        </p:nvSpPr>
        <p:spPr>
          <a:xfrm>
            <a:off x="1309255" y="2306533"/>
            <a:ext cx="5237018" cy="3785652"/>
          </a:xfrm>
          <a:prstGeom prst="rect">
            <a:avLst/>
          </a:prstGeom>
          <a:noFill/>
        </p:spPr>
        <p:txBody>
          <a:bodyPr wrap="square" rtlCol="0">
            <a:spAutoFit/>
          </a:bodyPr>
          <a:lstStyle/>
          <a:p>
            <a:r>
              <a:rPr lang="en-US" sz="2000" b="1" dirty="0"/>
              <a:t>Orientation Phase</a:t>
            </a:r>
          </a:p>
          <a:p>
            <a:r>
              <a:rPr lang="en-US" sz="2000" dirty="0"/>
              <a:t>Chess players rely on specific cues</a:t>
            </a:r>
          </a:p>
          <a:p>
            <a:r>
              <a:rPr lang="en-US" sz="2000" dirty="0"/>
              <a:t>(like piece tensions, open lines, threats) to orient themselves</a:t>
            </a:r>
          </a:p>
          <a:p>
            <a:endParaRPr lang="en-US" sz="2000" dirty="0"/>
          </a:p>
          <a:p>
            <a:r>
              <a:rPr lang="en-IE" sz="2000" dirty="0"/>
              <a:t>This activates pattern </a:t>
            </a:r>
            <a:r>
              <a:rPr lang="en-US" sz="2000" dirty="0"/>
              <a:t>recognition in chess players</a:t>
            </a:r>
          </a:p>
          <a:p>
            <a:r>
              <a:rPr lang="en-US" sz="2000" dirty="0"/>
              <a:t>What follows?</a:t>
            </a:r>
          </a:p>
          <a:p>
            <a:endParaRPr lang="en-US" sz="2000" dirty="0"/>
          </a:p>
          <a:p>
            <a:r>
              <a:rPr lang="en-US" sz="2000" b="1" dirty="0"/>
              <a:t>Proof Phase</a:t>
            </a:r>
          </a:p>
          <a:p>
            <a:r>
              <a:rPr lang="en-US" sz="2000" dirty="0"/>
              <a:t>Chess players analytically verify their pattern-based intuition (De Groot, 1965)</a:t>
            </a:r>
          </a:p>
        </p:txBody>
      </p:sp>
      <p:sp>
        <p:nvSpPr>
          <p:cNvPr id="7" name="TextBox 6">
            <a:extLst>
              <a:ext uri="{FF2B5EF4-FFF2-40B4-BE49-F238E27FC236}">
                <a16:creationId xmlns:a16="http://schemas.microsoft.com/office/drawing/2014/main" id="{8D3A67EF-8347-8C9A-D5BE-0B24E4352C82}"/>
              </a:ext>
            </a:extLst>
          </p:cNvPr>
          <p:cNvSpPr txBox="1"/>
          <p:nvPr/>
        </p:nvSpPr>
        <p:spPr>
          <a:xfrm>
            <a:off x="1309255" y="623275"/>
            <a:ext cx="4873336" cy="1446550"/>
          </a:xfrm>
          <a:prstGeom prst="rect">
            <a:avLst/>
          </a:prstGeom>
          <a:noFill/>
        </p:spPr>
        <p:txBody>
          <a:bodyPr wrap="square" rtlCol="0">
            <a:spAutoFit/>
          </a:bodyPr>
          <a:lstStyle/>
          <a:p>
            <a:r>
              <a:rPr lang="en-IE" sz="4400" dirty="0"/>
              <a:t>Chess</a:t>
            </a:r>
          </a:p>
          <a:p>
            <a:r>
              <a:rPr lang="en-IE" sz="4400" dirty="0"/>
              <a:t>Cue Utilization</a:t>
            </a:r>
          </a:p>
        </p:txBody>
      </p:sp>
    </p:spTree>
    <p:extLst>
      <p:ext uri="{BB962C8B-B14F-4D97-AF65-F5344CB8AC3E}">
        <p14:creationId xmlns:p14="http://schemas.microsoft.com/office/powerpoint/2010/main" val="40857310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A0FE59-C565-43E5-C327-7D3FE283470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EF271E2-1207-FF5B-624C-A395F1584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5B3C09C0-8256-CEE0-98D9-FD0B7241F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943DEF7-0FC2-A25E-6F48-2CCA8CF9A4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A0EA01-CB21-048D-064C-98F6DB66A5E1}"/>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a:solidFill>
                  <a:schemeClr val="tx1"/>
                </a:solidFill>
                <a:latin typeface="+mj-lt"/>
                <a:ea typeface="+mj-ea"/>
                <a:cs typeface="+mj-cs"/>
              </a:rPr>
              <a:t>Dual Process Theory</a:t>
            </a:r>
          </a:p>
        </p:txBody>
      </p:sp>
      <p:sp>
        <p:nvSpPr>
          <p:cNvPr id="4" name="TextBox 3">
            <a:extLst>
              <a:ext uri="{FF2B5EF4-FFF2-40B4-BE49-F238E27FC236}">
                <a16:creationId xmlns:a16="http://schemas.microsoft.com/office/drawing/2014/main" id="{547AD42F-960C-8FEE-D7C9-F4552AA12618}"/>
              </a:ext>
            </a:extLst>
          </p:cNvPr>
          <p:cNvSpPr txBox="1"/>
          <p:nvPr/>
        </p:nvSpPr>
        <p:spPr>
          <a:xfrm>
            <a:off x="1236519" y="2069825"/>
            <a:ext cx="5237018" cy="4770537"/>
          </a:xfrm>
          <a:prstGeom prst="rect">
            <a:avLst/>
          </a:prstGeom>
          <a:noFill/>
        </p:spPr>
        <p:txBody>
          <a:bodyPr wrap="square" rtlCol="0">
            <a:spAutoFit/>
          </a:bodyPr>
          <a:lstStyle/>
          <a:p>
            <a:r>
              <a:rPr lang="en-IE" sz="3200" dirty="0"/>
              <a:t>What other cybersecurity professionals engage both systems under pressure…</a:t>
            </a:r>
          </a:p>
          <a:p>
            <a:endParaRPr lang="en-IE" sz="3200" dirty="0"/>
          </a:p>
          <a:p>
            <a:pPr marL="342900" indent="-342900">
              <a:buAutoNum type="arabicPeriod"/>
            </a:pPr>
            <a:r>
              <a:rPr lang="en-IE" sz="3200" dirty="0"/>
              <a:t>Quick pattern recognition</a:t>
            </a:r>
          </a:p>
          <a:p>
            <a:pPr marL="342900" indent="-342900">
              <a:buAutoNum type="arabicPeriod"/>
            </a:pPr>
            <a:r>
              <a:rPr lang="en-IE" sz="3200" dirty="0"/>
              <a:t>Deliberate analysis</a:t>
            </a:r>
          </a:p>
          <a:p>
            <a:pPr marL="342900" indent="-342900">
              <a:buAutoNum type="arabicPeriod"/>
            </a:pPr>
            <a:endParaRPr lang="en-IE" sz="2800" b="1" dirty="0"/>
          </a:p>
          <a:p>
            <a:pPr marL="342900" indent="-342900">
              <a:buAutoNum type="arabicPeriod"/>
            </a:pPr>
            <a:endParaRPr lang="en-IE" sz="2800" b="1" dirty="0"/>
          </a:p>
          <a:p>
            <a:pPr marL="342900" indent="-342900">
              <a:buAutoNum type="arabicPeriod"/>
            </a:pPr>
            <a:endParaRPr lang="en-IE" sz="2800" b="1" dirty="0"/>
          </a:p>
          <a:p>
            <a:r>
              <a:rPr lang="en-IE" sz="2800" b="1" dirty="0">
                <a:highlight>
                  <a:srgbClr val="FFFF00"/>
                </a:highlight>
              </a:rPr>
              <a:t>To discuss later…</a:t>
            </a:r>
            <a:endParaRPr lang="en-US" sz="2800" dirty="0">
              <a:highlight>
                <a:srgbClr val="FFFF00"/>
              </a:highlight>
            </a:endParaRPr>
          </a:p>
        </p:txBody>
      </p:sp>
      <p:sp>
        <p:nvSpPr>
          <p:cNvPr id="7" name="TextBox 6">
            <a:extLst>
              <a:ext uri="{FF2B5EF4-FFF2-40B4-BE49-F238E27FC236}">
                <a16:creationId xmlns:a16="http://schemas.microsoft.com/office/drawing/2014/main" id="{18DA9775-CA48-8CF9-6DDE-05D9A03153D6}"/>
              </a:ext>
            </a:extLst>
          </p:cNvPr>
          <p:cNvSpPr txBox="1"/>
          <p:nvPr/>
        </p:nvSpPr>
        <p:spPr>
          <a:xfrm>
            <a:off x="1309255" y="623275"/>
            <a:ext cx="4873336" cy="1446550"/>
          </a:xfrm>
          <a:prstGeom prst="rect">
            <a:avLst/>
          </a:prstGeom>
          <a:noFill/>
        </p:spPr>
        <p:txBody>
          <a:bodyPr wrap="square" rtlCol="0">
            <a:spAutoFit/>
          </a:bodyPr>
          <a:lstStyle/>
          <a:p>
            <a:r>
              <a:rPr lang="en-IE" sz="4400" dirty="0"/>
              <a:t>?</a:t>
            </a:r>
          </a:p>
          <a:p>
            <a:r>
              <a:rPr lang="en-IE" sz="4400" dirty="0"/>
              <a:t>Cue Utilization</a:t>
            </a:r>
          </a:p>
        </p:txBody>
      </p:sp>
    </p:spTree>
    <p:extLst>
      <p:ext uri="{BB962C8B-B14F-4D97-AF65-F5344CB8AC3E}">
        <p14:creationId xmlns:p14="http://schemas.microsoft.com/office/powerpoint/2010/main" val="6496881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 name="Rectangle 31">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779D88A-59FB-F7DC-A600-7BD555341401}"/>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600" kern="1200">
                <a:solidFill>
                  <a:schemeClr val="tx1"/>
                </a:solidFill>
                <a:latin typeface="+mj-lt"/>
                <a:ea typeface="+mj-ea"/>
                <a:cs typeface="+mj-cs"/>
              </a:rPr>
              <a:t>Research Methodology</a:t>
            </a:r>
          </a:p>
        </p:txBody>
      </p:sp>
      <p:sp>
        <p:nvSpPr>
          <p:cNvPr id="34"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6DCA8A5-B987-2D2E-1A46-D4034A10E3CC}"/>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Bef>
                <a:spcPts val="1000"/>
              </a:spcBef>
              <a:spcAft>
                <a:spcPts val="600"/>
              </a:spcAft>
              <a:buFont typeface="Arial" panose="020B0604020202020204" pitchFamily="34" charset="0"/>
              <a:buChar char="•"/>
            </a:pPr>
            <a:r>
              <a:rPr lang="en-US" sz="2200" dirty="0"/>
              <a:t>Microsoft Forms Survey</a:t>
            </a:r>
          </a:p>
          <a:p>
            <a:pPr indent="-228600">
              <a:lnSpc>
                <a:spcPct val="90000"/>
              </a:lnSpc>
              <a:spcBef>
                <a:spcPts val="1000"/>
              </a:spcBef>
              <a:spcAft>
                <a:spcPts val="600"/>
              </a:spcAft>
              <a:buFont typeface="Arial" panose="020B0604020202020204" pitchFamily="34" charset="0"/>
              <a:buChar char="•"/>
            </a:pPr>
            <a:r>
              <a:rPr lang="en-US" sz="2200" dirty="0"/>
              <a:t>2 weeks open, early 2025</a:t>
            </a:r>
          </a:p>
          <a:p>
            <a:pPr indent="-228600">
              <a:lnSpc>
                <a:spcPct val="90000"/>
              </a:lnSpc>
              <a:spcBef>
                <a:spcPts val="1000"/>
              </a:spcBef>
              <a:spcAft>
                <a:spcPts val="600"/>
              </a:spcAft>
              <a:buFont typeface="Arial" panose="020B0604020202020204" pitchFamily="34" charset="0"/>
              <a:buChar char="•"/>
            </a:pPr>
            <a:r>
              <a:rPr lang="en-US" sz="2200" dirty="0"/>
              <a:t>61 participants (33 chess/ 28 non-chess)</a:t>
            </a:r>
          </a:p>
          <a:p>
            <a:pPr indent="-228600">
              <a:lnSpc>
                <a:spcPct val="90000"/>
              </a:lnSpc>
              <a:spcBef>
                <a:spcPts val="1000"/>
              </a:spcBef>
              <a:spcAft>
                <a:spcPts val="600"/>
              </a:spcAft>
              <a:buFont typeface="Arial" panose="020B0604020202020204" pitchFamily="34" charset="0"/>
              <a:buChar char="•"/>
            </a:pPr>
            <a:r>
              <a:rPr lang="en-US" sz="2200" dirty="0"/>
              <a:t>14 questions, followed by 12 phishing emails </a:t>
            </a:r>
          </a:p>
        </p:txBody>
      </p:sp>
      <p:pic>
        <p:nvPicPr>
          <p:cNvPr id="8" name="Picture 7" descr="A diagram of a training program&#10;&#10;AI-generated content may be incorrect.">
            <a:extLst>
              <a:ext uri="{FF2B5EF4-FFF2-40B4-BE49-F238E27FC236}">
                <a16:creationId xmlns:a16="http://schemas.microsoft.com/office/drawing/2014/main" id="{5A6C86EE-07B5-9571-B398-8C41B326D046}"/>
              </a:ext>
            </a:extLst>
          </p:cNvPr>
          <p:cNvPicPr>
            <a:picLocks noChangeAspect="1"/>
          </p:cNvPicPr>
          <p:nvPr/>
        </p:nvPicPr>
        <p:blipFill>
          <a:blip r:embed="rId3"/>
          <a:srcRect t="4776" r="-3" b="-3"/>
          <a:stretch>
            <a:fillRect/>
          </a:stretch>
        </p:blipFill>
        <p:spPr>
          <a:xfrm>
            <a:off x="4654296" y="1087009"/>
            <a:ext cx="6903720" cy="4683981"/>
          </a:xfrm>
          <a:prstGeom prst="rect">
            <a:avLst/>
          </a:prstGeom>
        </p:spPr>
      </p:pic>
    </p:spTree>
    <p:extLst>
      <p:ext uri="{BB962C8B-B14F-4D97-AF65-F5344CB8AC3E}">
        <p14:creationId xmlns:p14="http://schemas.microsoft.com/office/powerpoint/2010/main" val="283305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9C867835-A917-4A2B-8424-3AFAF7436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ED8D03E-F375-4E67-B932-FF9B007BB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344152" y="387180"/>
            <a:ext cx="3850317" cy="6538623"/>
          </a:xfrm>
          <a:custGeom>
            <a:avLst/>
            <a:gdLst>
              <a:gd name="connsiteX0" fmla="*/ 0 w 3850317"/>
              <a:gd name="connsiteY0" fmla="*/ 0 h 5978116"/>
              <a:gd name="connsiteX1" fmla="*/ 3850317 w 3850317"/>
              <a:gd name="connsiteY1" fmla="*/ 0 h 5978116"/>
              <a:gd name="connsiteX2" fmla="*/ 3840373 w 3850317"/>
              <a:gd name="connsiteY2" fmla="*/ 258313 h 5978116"/>
              <a:gd name="connsiteX3" fmla="*/ 3755448 w 3850317"/>
              <a:gd name="connsiteY3" fmla="*/ 1537847 h 5978116"/>
              <a:gd name="connsiteX4" fmla="*/ 3150490 w 3850317"/>
              <a:gd name="connsiteY4" fmla="*/ 3989537 h 5978116"/>
              <a:gd name="connsiteX5" fmla="*/ 3089544 w 3850317"/>
              <a:gd name="connsiteY5" fmla="*/ 3606200 h 5978116"/>
              <a:gd name="connsiteX6" fmla="*/ 2922635 w 3850317"/>
              <a:gd name="connsiteY6" fmla="*/ 4519351 h 5978116"/>
              <a:gd name="connsiteX7" fmla="*/ 2904628 w 3850317"/>
              <a:gd name="connsiteY7" fmla="*/ 4466023 h 5978116"/>
              <a:gd name="connsiteX8" fmla="*/ 2825329 w 3850317"/>
              <a:gd name="connsiteY8" fmla="*/ 4562983 h 5978116"/>
              <a:gd name="connsiteX9" fmla="*/ 2695127 w 3850317"/>
              <a:gd name="connsiteY9" fmla="*/ 4973329 h 5978116"/>
              <a:gd name="connsiteX10" fmla="*/ 2501208 w 3850317"/>
              <a:gd name="connsiteY10" fmla="*/ 4457366 h 5978116"/>
              <a:gd name="connsiteX11" fmla="*/ 2209291 w 3850317"/>
              <a:gd name="connsiteY11" fmla="*/ 5028388 h 5978116"/>
              <a:gd name="connsiteX12" fmla="*/ 2135532 w 3850317"/>
              <a:gd name="connsiteY12" fmla="*/ 5321344 h 5978116"/>
              <a:gd name="connsiteX13" fmla="*/ 2009139 w 3850317"/>
              <a:gd name="connsiteY13" fmla="*/ 4714655 h 5978116"/>
              <a:gd name="connsiteX14" fmla="*/ 1918759 w 3850317"/>
              <a:gd name="connsiteY14" fmla="*/ 4486454 h 5978116"/>
              <a:gd name="connsiteX15" fmla="*/ 1800676 w 3850317"/>
              <a:gd name="connsiteY15" fmla="*/ 4608346 h 5978116"/>
              <a:gd name="connsiteX16" fmla="*/ 1614721 w 3850317"/>
              <a:gd name="connsiteY16" fmla="*/ 5319612 h 5978116"/>
              <a:gd name="connsiteX17" fmla="*/ 1530921 w 3850317"/>
              <a:gd name="connsiteY17" fmla="*/ 5433540 h 5978116"/>
              <a:gd name="connsiteX18" fmla="*/ 1569705 w 3850317"/>
              <a:gd name="connsiteY18" fmla="*/ 4803650 h 5978116"/>
              <a:gd name="connsiteX19" fmla="*/ 1517416 w 3850317"/>
              <a:gd name="connsiteY19" fmla="*/ 4640204 h 5978116"/>
              <a:gd name="connsiteX20" fmla="*/ 1425997 w 3850317"/>
              <a:gd name="connsiteY20" fmla="*/ 4800187 h 5978116"/>
              <a:gd name="connsiteX21" fmla="*/ 1348083 w 3850317"/>
              <a:gd name="connsiteY21" fmla="*/ 5363245 h 5978116"/>
              <a:gd name="connsiteX22" fmla="*/ 1200566 w 3850317"/>
              <a:gd name="connsiteY22" fmla="*/ 5526691 h 5978116"/>
              <a:gd name="connsiteX23" fmla="*/ 1027770 w 3850317"/>
              <a:gd name="connsiteY23" fmla="*/ 5803718 h 5978116"/>
              <a:gd name="connsiteX24" fmla="*/ 892373 w 3850317"/>
              <a:gd name="connsiteY24" fmla="*/ 5604950 h 5978116"/>
              <a:gd name="connsiteX25" fmla="*/ 681487 w 3850317"/>
              <a:gd name="connsiteY25" fmla="*/ 5914528 h 5978116"/>
              <a:gd name="connsiteX26" fmla="*/ 414155 w 3850317"/>
              <a:gd name="connsiteY26" fmla="*/ 5817569 h 5978116"/>
              <a:gd name="connsiteX27" fmla="*/ 360135 w 3850317"/>
              <a:gd name="connsiteY27" fmla="*/ 5287062 h 5978116"/>
              <a:gd name="connsiteX28" fmla="*/ 281875 w 3850317"/>
              <a:gd name="connsiteY28" fmla="*/ 4677256 h 5978116"/>
              <a:gd name="connsiteX29" fmla="*/ 237897 w 3850317"/>
              <a:gd name="connsiteY29" fmla="*/ 4207696 h 5978116"/>
              <a:gd name="connsiteX30" fmla="*/ 145093 w 3850317"/>
              <a:gd name="connsiteY30" fmla="*/ 3878379 h 5978116"/>
              <a:gd name="connsiteX31" fmla="*/ 72373 w 3850317"/>
              <a:gd name="connsiteY31" fmla="*/ 2447189 h 5978116"/>
              <a:gd name="connsiteX32" fmla="*/ 0 w 3850317"/>
              <a:gd name="connsiteY32" fmla="*/ 0 h 597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850317" h="5978116">
                <a:moveTo>
                  <a:pt x="0" y="0"/>
                </a:moveTo>
                <a:lnTo>
                  <a:pt x="3850317" y="0"/>
                </a:lnTo>
                <a:lnTo>
                  <a:pt x="3840373" y="258313"/>
                </a:lnTo>
                <a:cubicBezTo>
                  <a:pt x="3816350" y="852957"/>
                  <a:pt x="3786959" y="1372106"/>
                  <a:pt x="3755448" y="1537847"/>
                </a:cubicBezTo>
                <a:cubicBezTo>
                  <a:pt x="3300085" y="3936555"/>
                  <a:pt x="3150490" y="3989537"/>
                  <a:pt x="3150490" y="3989537"/>
                </a:cubicBezTo>
                <a:cubicBezTo>
                  <a:pt x="3150490" y="3989537"/>
                  <a:pt x="3124172" y="3732940"/>
                  <a:pt x="3089544" y="3606200"/>
                </a:cubicBezTo>
                <a:cubicBezTo>
                  <a:pt x="3082618" y="3784537"/>
                  <a:pt x="2946529" y="4491302"/>
                  <a:pt x="2922635" y="4519351"/>
                </a:cubicBezTo>
                <a:cubicBezTo>
                  <a:pt x="2916749" y="4502729"/>
                  <a:pt x="2910515" y="4484030"/>
                  <a:pt x="2904628" y="4466023"/>
                </a:cubicBezTo>
                <a:cubicBezTo>
                  <a:pt x="2884890" y="4501344"/>
                  <a:pt x="2859958" y="4534241"/>
                  <a:pt x="2825329" y="4562983"/>
                </a:cubicBezTo>
                <a:cubicBezTo>
                  <a:pt x="2706208" y="4662020"/>
                  <a:pt x="2743260" y="4833430"/>
                  <a:pt x="2695127" y="4973329"/>
                </a:cubicBezTo>
                <a:cubicBezTo>
                  <a:pt x="2446495" y="4877408"/>
                  <a:pt x="2545186" y="4641589"/>
                  <a:pt x="2501208" y="4457366"/>
                </a:cubicBezTo>
                <a:cubicBezTo>
                  <a:pt x="2341225" y="4936277"/>
                  <a:pt x="2267120" y="4837932"/>
                  <a:pt x="2209291" y="5028388"/>
                </a:cubicBezTo>
                <a:cubicBezTo>
                  <a:pt x="2137610" y="5264900"/>
                  <a:pt x="2135532" y="5321344"/>
                  <a:pt x="2135532" y="5321344"/>
                </a:cubicBezTo>
                <a:cubicBezTo>
                  <a:pt x="2004983" y="5137467"/>
                  <a:pt x="2054502" y="4933506"/>
                  <a:pt x="2009139" y="4714655"/>
                </a:cubicBezTo>
                <a:cubicBezTo>
                  <a:pt x="1956503" y="4642281"/>
                  <a:pt x="1932264" y="4565753"/>
                  <a:pt x="1918759" y="4486454"/>
                </a:cubicBezTo>
                <a:cubicBezTo>
                  <a:pt x="1889671" y="4439359"/>
                  <a:pt x="1848463" y="4656479"/>
                  <a:pt x="1800676" y="4608346"/>
                </a:cubicBezTo>
                <a:cubicBezTo>
                  <a:pt x="1760507" y="4832391"/>
                  <a:pt x="1681208" y="5047087"/>
                  <a:pt x="1614721" y="5319612"/>
                </a:cubicBezTo>
                <a:cubicBezTo>
                  <a:pt x="1580786" y="5457780"/>
                  <a:pt x="1530574" y="5446352"/>
                  <a:pt x="1530921" y="5433540"/>
                </a:cubicBezTo>
                <a:cubicBezTo>
                  <a:pt x="1532998" y="5109418"/>
                  <a:pt x="1600177" y="5128464"/>
                  <a:pt x="1569705" y="4803650"/>
                </a:cubicBezTo>
                <a:cubicBezTo>
                  <a:pt x="1566242" y="4746167"/>
                  <a:pt x="1596022" y="4651631"/>
                  <a:pt x="1517416" y="4640204"/>
                </a:cubicBezTo>
                <a:cubicBezTo>
                  <a:pt x="1415608" y="4628430"/>
                  <a:pt x="1436385" y="4747898"/>
                  <a:pt x="1425997" y="4800187"/>
                </a:cubicBezTo>
                <a:cubicBezTo>
                  <a:pt x="1389291" y="5009342"/>
                  <a:pt x="1370938" y="5149241"/>
                  <a:pt x="1348083" y="5363245"/>
                </a:cubicBezTo>
                <a:cubicBezTo>
                  <a:pt x="1336655" y="5453625"/>
                  <a:pt x="1352931" y="5563743"/>
                  <a:pt x="1200566" y="5526691"/>
                </a:cubicBezTo>
                <a:cubicBezTo>
                  <a:pt x="1051664" y="5551623"/>
                  <a:pt x="1099105" y="5719570"/>
                  <a:pt x="1027770" y="5803718"/>
                </a:cubicBezTo>
                <a:cubicBezTo>
                  <a:pt x="945009" y="5758701"/>
                  <a:pt x="1003184" y="5640964"/>
                  <a:pt x="892373" y="5604950"/>
                </a:cubicBezTo>
                <a:cubicBezTo>
                  <a:pt x="925963" y="5772552"/>
                  <a:pt x="680448" y="5747619"/>
                  <a:pt x="681487" y="5914528"/>
                </a:cubicBezTo>
                <a:cubicBezTo>
                  <a:pt x="534662" y="6049233"/>
                  <a:pt x="467137" y="5947425"/>
                  <a:pt x="414155" y="5817569"/>
                </a:cubicBezTo>
                <a:cubicBezTo>
                  <a:pt x="348015" y="5648929"/>
                  <a:pt x="370177" y="5468515"/>
                  <a:pt x="360135" y="5287062"/>
                </a:cubicBezTo>
                <a:cubicBezTo>
                  <a:pt x="338319" y="5059207"/>
                  <a:pt x="278758" y="4907881"/>
                  <a:pt x="281875" y="4677256"/>
                </a:cubicBezTo>
                <a:cubicBezTo>
                  <a:pt x="237204" y="4527316"/>
                  <a:pt x="250017" y="4367332"/>
                  <a:pt x="237897" y="4207696"/>
                </a:cubicBezTo>
                <a:cubicBezTo>
                  <a:pt x="210194" y="3969452"/>
                  <a:pt x="176258" y="4119047"/>
                  <a:pt x="145093" y="3878379"/>
                </a:cubicBezTo>
                <a:cubicBezTo>
                  <a:pt x="114274" y="3641175"/>
                  <a:pt x="72720" y="2448920"/>
                  <a:pt x="72373" y="2447189"/>
                </a:cubicBezTo>
                <a:cubicBezTo>
                  <a:pt x="72720" y="2447189"/>
                  <a:pt x="12120" y="1233809"/>
                  <a:pt x="0" y="0"/>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4E98A52F-0ADD-08C1-4E62-CD67C5A30EB1}"/>
              </a:ext>
            </a:extLst>
          </p:cNvPr>
          <p:cNvSpPr txBox="1"/>
          <p:nvPr/>
        </p:nvSpPr>
        <p:spPr>
          <a:xfrm>
            <a:off x="535387" y="2248263"/>
            <a:ext cx="3768917" cy="160616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700" kern="1200">
                <a:solidFill>
                  <a:schemeClr val="tx1"/>
                </a:solidFill>
                <a:latin typeface="+mj-lt"/>
                <a:ea typeface="+mj-ea"/>
                <a:cs typeface="+mj-cs"/>
              </a:rPr>
              <a:t>Obvious Phishing Email example</a:t>
            </a:r>
          </a:p>
        </p:txBody>
      </p:sp>
      <p:pic>
        <p:nvPicPr>
          <p:cNvPr id="8" name="Picture 7">
            <a:extLst>
              <a:ext uri="{FF2B5EF4-FFF2-40B4-BE49-F238E27FC236}">
                <a16:creationId xmlns:a16="http://schemas.microsoft.com/office/drawing/2014/main" id="{A05CE435-D9F9-C756-B21B-9F3E5694DB2B}"/>
              </a:ext>
            </a:extLst>
          </p:cNvPr>
          <p:cNvPicPr>
            <a:picLocks noChangeAspect="1"/>
          </p:cNvPicPr>
          <p:nvPr/>
        </p:nvPicPr>
        <p:blipFill>
          <a:blip r:embed="rId3"/>
          <a:stretch>
            <a:fillRect/>
          </a:stretch>
        </p:blipFill>
        <p:spPr>
          <a:xfrm>
            <a:off x="4047913" y="680484"/>
            <a:ext cx="7505334" cy="5103628"/>
          </a:xfrm>
          <a:prstGeom prst="rect">
            <a:avLst/>
          </a:prstGeom>
        </p:spPr>
      </p:pic>
    </p:spTree>
    <p:extLst>
      <p:ext uri="{BB962C8B-B14F-4D97-AF65-F5344CB8AC3E}">
        <p14:creationId xmlns:p14="http://schemas.microsoft.com/office/powerpoint/2010/main" val="1408352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A97C304-7441-E092-1327-F605B25A5B7D}"/>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9C867835-A917-4A2B-8424-3AFAF74363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EED8D03E-F375-4E67-B932-FF9B007BB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344152" y="387180"/>
            <a:ext cx="3850317" cy="6538623"/>
          </a:xfrm>
          <a:custGeom>
            <a:avLst/>
            <a:gdLst>
              <a:gd name="connsiteX0" fmla="*/ 0 w 3850317"/>
              <a:gd name="connsiteY0" fmla="*/ 0 h 5978116"/>
              <a:gd name="connsiteX1" fmla="*/ 3850317 w 3850317"/>
              <a:gd name="connsiteY1" fmla="*/ 0 h 5978116"/>
              <a:gd name="connsiteX2" fmla="*/ 3840373 w 3850317"/>
              <a:gd name="connsiteY2" fmla="*/ 258313 h 5978116"/>
              <a:gd name="connsiteX3" fmla="*/ 3755448 w 3850317"/>
              <a:gd name="connsiteY3" fmla="*/ 1537847 h 5978116"/>
              <a:gd name="connsiteX4" fmla="*/ 3150490 w 3850317"/>
              <a:gd name="connsiteY4" fmla="*/ 3989537 h 5978116"/>
              <a:gd name="connsiteX5" fmla="*/ 3089544 w 3850317"/>
              <a:gd name="connsiteY5" fmla="*/ 3606200 h 5978116"/>
              <a:gd name="connsiteX6" fmla="*/ 2922635 w 3850317"/>
              <a:gd name="connsiteY6" fmla="*/ 4519351 h 5978116"/>
              <a:gd name="connsiteX7" fmla="*/ 2904628 w 3850317"/>
              <a:gd name="connsiteY7" fmla="*/ 4466023 h 5978116"/>
              <a:gd name="connsiteX8" fmla="*/ 2825329 w 3850317"/>
              <a:gd name="connsiteY8" fmla="*/ 4562983 h 5978116"/>
              <a:gd name="connsiteX9" fmla="*/ 2695127 w 3850317"/>
              <a:gd name="connsiteY9" fmla="*/ 4973329 h 5978116"/>
              <a:gd name="connsiteX10" fmla="*/ 2501208 w 3850317"/>
              <a:gd name="connsiteY10" fmla="*/ 4457366 h 5978116"/>
              <a:gd name="connsiteX11" fmla="*/ 2209291 w 3850317"/>
              <a:gd name="connsiteY11" fmla="*/ 5028388 h 5978116"/>
              <a:gd name="connsiteX12" fmla="*/ 2135532 w 3850317"/>
              <a:gd name="connsiteY12" fmla="*/ 5321344 h 5978116"/>
              <a:gd name="connsiteX13" fmla="*/ 2009139 w 3850317"/>
              <a:gd name="connsiteY13" fmla="*/ 4714655 h 5978116"/>
              <a:gd name="connsiteX14" fmla="*/ 1918759 w 3850317"/>
              <a:gd name="connsiteY14" fmla="*/ 4486454 h 5978116"/>
              <a:gd name="connsiteX15" fmla="*/ 1800676 w 3850317"/>
              <a:gd name="connsiteY15" fmla="*/ 4608346 h 5978116"/>
              <a:gd name="connsiteX16" fmla="*/ 1614721 w 3850317"/>
              <a:gd name="connsiteY16" fmla="*/ 5319612 h 5978116"/>
              <a:gd name="connsiteX17" fmla="*/ 1530921 w 3850317"/>
              <a:gd name="connsiteY17" fmla="*/ 5433540 h 5978116"/>
              <a:gd name="connsiteX18" fmla="*/ 1569705 w 3850317"/>
              <a:gd name="connsiteY18" fmla="*/ 4803650 h 5978116"/>
              <a:gd name="connsiteX19" fmla="*/ 1517416 w 3850317"/>
              <a:gd name="connsiteY19" fmla="*/ 4640204 h 5978116"/>
              <a:gd name="connsiteX20" fmla="*/ 1425997 w 3850317"/>
              <a:gd name="connsiteY20" fmla="*/ 4800187 h 5978116"/>
              <a:gd name="connsiteX21" fmla="*/ 1348083 w 3850317"/>
              <a:gd name="connsiteY21" fmla="*/ 5363245 h 5978116"/>
              <a:gd name="connsiteX22" fmla="*/ 1200566 w 3850317"/>
              <a:gd name="connsiteY22" fmla="*/ 5526691 h 5978116"/>
              <a:gd name="connsiteX23" fmla="*/ 1027770 w 3850317"/>
              <a:gd name="connsiteY23" fmla="*/ 5803718 h 5978116"/>
              <a:gd name="connsiteX24" fmla="*/ 892373 w 3850317"/>
              <a:gd name="connsiteY24" fmla="*/ 5604950 h 5978116"/>
              <a:gd name="connsiteX25" fmla="*/ 681487 w 3850317"/>
              <a:gd name="connsiteY25" fmla="*/ 5914528 h 5978116"/>
              <a:gd name="connsiteX26" fmla="*/ 414155 w 3850317"/>
              <a:gd name="connsiteY26" fmla="*/ 5817569 h 5978116"/>
              <a:gd name="connsiteX27" fmla="*/ 360135 w 3850317"/>
              <a:gd name="connsiteY27" fmla="*/ 5287062 h 5978116"/>
              <a:gd name="connsiteX28" fmla="*/ 281875 w 3850317"/>
              <a:gd name="connsiteY28" fmla="*/ 4677256 h 5978116"/>
              <a:gd name="connsiteX29" fmla="*/ 237897 w 3850317"/>
              <a:gd name="connsiteY29" fmla="*/ 4207696 h 5978116"/>
              <a:gd name="connsiteX30" fmla="*/ 145093 w 3850317"/>
              <a:gd name="connsiteY30" fmla="*/ 3878379 h 5978116"/>
              <a:gd name="connsiteX31" fmla="*/ 72373 w 3850317"/>
              <a:gd name="connsiteY31" fmla="*/ 2447189 h 5978116"/>
              <a:gd name="connsiteX32" fmla="*/ 0 w 3850317"/>
              <a:gd name="connsiteY32" fmla="*/ 0 h 5978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850317" h="5978116">
                <a:moveTo>
                  <a:pt x="0" y="0"/>
                </a:moveTo>
                <a:lnTo>
                  <a:pt x="3850317" y="0"/>
                </a:lnTo>
                <a:lnTo>
                  <a:pt x="3840373" y="258313"/>
                </a:lnTo>
                <a:cubicBezTo>
                  <a:pt x="3816350" y="852957"/>
                  <a:pt x="3786959" y="1372106"/>
                  <a:pt x="3755448" y="1537847"/>
                </a:cubicBezTo>
                <a:cubicBezTo>
                  <a:pt x="3300085" y="3936555"/>
                  <a:pt x="3150490" y="3989537"/>
                  <a:pt x="3150490" y="3989537"/>
                </a:cubicBezTo>
                <a:cubicBezTo>
                  <a:pt x="3150490" y="3989537"/>
                  <a:pt x="3124172" y="3732940"/>
                  <a:pt x="3089544" y="3606200"/>
                </a:cubicBezTo>
                <a:cubicBezTo>
                  <a:pt x="3082618" y="3784537"/>
                  <a:pt x="2946529" y="4491302"/>
                  <a:pt x="2922635" y="4519351"/>
                </a:cubicBezTo>
                <a:cubicBezTo>
                  <a:pt x="2916749" y="4502729"/>
                  <a:pt x="2910515" y="4484030"/>
                  <a:pt x="2904628" y="4466023"/>
                </a:cubicBezTo>
                <a:cubicBezTo>
                  <a:pt x="2884890" y="4501344"/>
                  <a:pt x="2859958" y="4534241"/>
                  <a:pt x="2825329" y="4562983"/>
                </a:cubicBezTo>
                <a:cubicBezTo>
                  <a:pt x="2706208" y="4662020"/>
                  <a:pt x="2743260" y="4833430"/>
                  <a:pt x="2695127" y="4973329"/>
                </a:cubicBezTo>
                <a:cubicBezTo>
                  <a:pt x="2446495" y="4877408"/>
                  <a:pt x="2545186" y="4641589"/>
                  <a:pt x="2501208" y="4457366"/>
                </a:cubicBezTo>
                <a:cubicBezTo>
                  <a:pt x="2341225" y="4936277"/>
                  <a:pt x="2267120" y="4837932"/>
                  <a:pt x="2209291" y="5028388"/>
                </a:cubicBezTo>
                <a:cubicBezTo>
                  <a:pt x="2137610" y="5264900"/>
                  <a:pt x="2135532" y="5321344"/>
                  <a:pt x="2135532" y="5321344"/>
                </a:cubicBezTo>
                <a:cubicBezTo>
                  <a:pt x="2004983" y="5137467"/>
                  <a:pt x="2054502" y="4933506"/>
                  <a:pt x="2009139" y="4714655"/>
                </a:cubicBezTo>
                <a:cubicBezTo>
                  <a:pt x="1956503" y="4642281"/>
                  <a:pt x="1932264" y="4565753"/>
                  <a:pt x="1918759" y="4486454"/>
                </a:cubicBezTo>
                <a:cubicBezTo>
                  <a:pt x="1889671" y="4439359"/>
                  <a:pt x="1848463" y="4656479"/>
                  <a:pt x="1800676" y="4608346"/>
                </a:cubicBezTo>
                <a:cubicBezTo>
                  <a:pt x="1760507" y="4832391"/>
                  <a:pt x="1681208" y="5047087"/>
                  <a:pt x="1614721" y="5319612"/>
                </a:cubicBezTo>
                <a:cubicBezTo>
                  <a:pt x="1580786" y="5457780"/>
                  <a:pt x="1530574" y="5446352"/>
                  <a:pt x="1530921" y="5433540"/>
                </a:cubicBezTo>
                <a:cubicBezTo>
                  <a:pt x="1532998" y="5109418"/>
                  <a:pt x="1600177" y="5128464"/>
                  <a:pt x="1569705" y="4803650"/>
                </a:cubicBezTo>
                <a:cubicBezTo>
                  <a:pt x="1566242" y="4746167"/>
                  <a:pt x="1596022" y="4651631"/>
                  <a:pt x="1517416" y="4640204"/>
                </a:cubicBezTo>
                <a:cubicBezTo>
                  <a:pt x="1415608" y="4628430"/>
                  <a:pt x="1436385" y="4747898"/>
                  <a:pt x="1425997" y="4800187"/>
                </a:cubicBezTo>
                <a:cubicBezTo>
                  <a:pt x="1389291" y="5009342"/>
                  <a:pt x="1370938" y="5149241"/>
                  <a:pt x="1348083" y="5363245"/>
                </a:cubicBezTo>
                <a:cubicBezTo>
                  <a:pt x="1336655" y="5453625"/>
                  <a:pt x="1352931" y="5563743"/>
                  <a:pt x="1200566" y="5526691"/>
                </a:cubicBezTo>
                <a:cubicBezTo>
                  <a:pt x="1051664" y="5551623"/>
                  <a:pt x="1099105" y="5719570"/>
                  <a:pt x="1027770" y="5803718"/>
                </a:cubicBezTo>
                <a:cubicBezTo>
                  <a:pt x="945009" y="5758701"/>
                  <a:pt x="1003184" y="5640964"/>
                  <a:pt x="892373" y="5604950"/>
                </a:cubicBezTo>
                <a:cubicBezTo>
                  <a:pt x="925963" y="5772552"/>
                  <a:pt x="680448" y="5747619"/>
                  <a:pt x="681487" y="5914528"/>
                </a:cubicBezTo>
                <a:cubicBezTo>
                  <a:pt x="534662" y="6049233"/>
                  <a:pt x="467137" y="5947425"/>
                  <a:pt x="414155" y="5817569"/>
                </a:cubicBezTo>
                <a:cubicBezTo>
                  <a:pt x="348015" y="5648929"/>
                  <a:pt x="370177" y="5468515"/>
                  <a:pt x="360135" y="5287062"/>
                </a:cubicBezTo>
                <a:cubicBezTo>
                  <a:pt x="338319" y="5059207"/>
                  <a:pt x="278758" y="4907881"/>
                  <a:pt x="281875" y="4677256"/>
                </a:cubicBezTo>
                <a:cubicBezTo>
                  <a:pt x="237204" y="4527316"/>
                  <a:pt x="250017" y="4367332"/>
                  <a:pt x="237897" y="4207696"/>
                </a:cubicBezTo>
                <a:cubicBezTo>
                  <a:pt x="210194" y="3969452"/>
                  <a:pt x="176258" y="4119047"/>
                  <a:pt x="145093" y="3878379"/>
                </a:cubicBezTo>
                <a:cubicBezTo>
                  <a:pt x="114274" y="3641175"/>
                  <a:pt x="72720" y="2448920"/>
                  <a:pt x="72373" y="2447189"/>
                </a:cubicBezTo>
                <a:cubicBezTo>
                  <a:pt x="72720" y="2447189"/>
                  <a:pt x="12120" y="1233809"/>
                  <a:pt x="0" y="0"/>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CBADE633-CBCA-4CC2-F7E2-91EFD6213824}"/>
              </a:ext>
            </a:extLst>
          </p:cNvPr>
          <p:cNvSpPr txBox="1"/>
          <p:nvPr/>
        </p:nvSpPr>
        <p:spPr>
          <a:xfrm>
            <a:off x="535387" y="2248263"/>
            <a:ext cx="3768917" cy="1606163"/>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kern="1200">
                <a:solidFill>
                  <a:schemeClr val="tx1"/>
                </a:solidFill>
                <a:latin typeface="+mj-lt"/>
                <a:ea typeface="+mj-ea"/>
                <a:cs typeface="+mj-cs"/>
              </a:rPr>
              <a:t>Sophisticated Phishing Email example</a:t>
            </a:r>
          </a:p>
        </p:txBody>
      </p:sp>
      <p:pic>
        <p:nvPicPr>
          <p:cNvPr id="7" name="Picture 6">
            <a:extLst>
              <a:ext uri="{FF2B5EF4-FFF2-40B4-BE49-F238E27FC236}">
                <a16:creationId xmlns:a16="http://schemas.microsoft.com/office/drawing/2014/main" id="{8D7054C8-DBE2-ABE6-8121-3AF8317656F8}"/>
              </a:ext>
            </a:extLst>
          </p:cNvPr>
          <p:cNvPicPr>
            <a:picLocks noChangeAspect="1"/>
          </p:cNvPicPr>
          <p:nvPr/>
        </p:nvPicPr>
        <p:blipFill>
          <a:blip r:embed="rId3"/>
          <a:stretch>
            <a:fillRect/>
          </a:stretch>
        </p:blipFill>
        <p:spPr>
          <a:xfrm>
            <a:off x="3381498" y="1063256"/>
            <a:ext cx="8171747" cy="4678325"/>
          </a:xfrm>
          <a:prstGeom prst="rect">
            <a:avLst/>
          </a:prstGeom>
        </p:spPr>
      </p:pic>
    </p:spTree>
    <p:extLst>
      <p:ext uri="{BB962C8B-B14F-4D97-AF65-F5344CB8AC3E}">
        <p14:creationId xmlns:p14="http://schemas.microsoft.com/office/powerpoint/2010/main" val="198314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D39068-2B4C-ED6E-BD7B-42F813F1B3D3}"/>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B7BD7FCF-A254-4A97-A15C-319B676226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6">
            <a:extLst>
              <a:ext uri="{FF2B5EF4-FFF2-40B4-BE49-F238E27FC236}">
                <a16:creationId xmlns:a16="http://schemas.microsoft.com/office/drawing/2014/main" id="{52FFAF72-6204-4676-9C6F-9A4CC4D918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962785" cy="6858000"/>
          </a:xfrm>
          <a:custGeom>
            <a:avLst/>
            <a:gdLst>
              <a:gd name="connsiteX0" fmla="*/ 1044839 w 5962785"/>
              <a:gd name="connsiteY0" fmla="*/ 0 h 6858000"/>
              <a:gd name="connsiteX1" fmla="*/ 5962785 w 5962785"/>
              <a:gd name="connsiteY1" fmla="*/ 0 h 6858000"/>
              <a:gd name="connsiteX2" fmla="*/ 5962785 w 5962785"/>
              <a:gd name="connsiteY2" fmla="*/ 6858000 h 6858000"/>
              <a:gd name="connsiteX3" fmla="*/ 1469886 w 5962785"/>
              <a:gd name="connsiteY3" fmla="*/ 6858000 h 6858000"/>
              <a:gd name="connsiteX4" fmla="*/ 1416006 w 5962785"/>
              <a:gd name="connsiteY4" fmla="*/ 6823984 h 6858000"/>
              <a:gd name="connsiteX5" fmla="*/ 1232473 w 5962785"/>
              <a:gd name="connsiteY5" fmla="*/ 6733873 h 6858000"/>
              <a:gd name="connsiteX6" fmla="*/ 1075471 w 5962785"/>
              <a:gd name="connsiteY6" fmla="*/ 6503186 h 6858000"/>
              <a:gd name="connsiteX7" fmla="*/ 1020229 w 5962785"/>
              <a:gd name="connsiteY7" fmla="*/ 6438306 h 6858000"/>
              <a:gd name="connsiteX8" fmla="*/ 883579 w 5962785"/>
              <a:gd name="connsiteY8" fmla="*/ 6351798 h 6858000"/>
              <a:gd name="connsiteX9" fmla="*/ 645167 w 5962785"/>
              <a:gd name="connsiteY9" fmla="*/ 6167969 h 6858000"/>
              <a:gd name="connsiteX10" fmla="*/ 732391 w 5962785"/>
              <a:gd name="connsiteY10" fmla="*/ 6124716 h 6858000"/>
              <a:gd name="connsiteX11" fmla="*/ 985339 w 5962785"/>
              <a:gd name="connsiteY11" fmla="*/ 6236455 h 6858000"/>
              <a:gd name="connsiteX12" fmla="*/ 1168509 w 5962785"/>
              <a:gd name="connsiteY12" fmla="*/ 6265291 h 6858000"/>
              <a:gd name="connsiteX13" fmla="*/ 909746 w 5962785"/>
              <a:gd name="connsiteY13" fmla="*/ 6070649 h 6858000"/>
              <a:gd name="connsiteX14" fmla="*/ 659704 w 5962785"/>
              <a:gd name="connsiteY14" fmla="*/ 5818335 h 6858000"/>
              <a:gd name="connsiteX15" fmla="*/ 851597 w 5962785"/>
              <a:gd name="connsiteY15" fmla="*/ 5865193 h 6858000"/>
              <a:gd name="connsiteX16" fmla="*/ 860319 w 5962785"/>
              <a:gd name="connsiteY16" fmla="*/ 5832753 h 6858000"/>
              <a:gd name="connsiteX17" fmla="*/ 691686 w 5962785"/>
              <a:gd name="connsiteY17" fmla="*/ 5533581 h 6858000"/>
              <a:gd name="connsiteX18" fmla="*/ 610278 w 5962785"/>
              <a:gd name="connsiteY18" fmla="*/ 5411029 h 6858000"/>
              <a:gd name="connsiteX19" fmla="*/ 238123 w 5962785"/>
              <a:gd name="connsiteY19" fmla="*/ 5046976 h 6858000"/>
              <a:gd name="connsiteX20" fmla="*/ 592833 w 5962785"/>
              <a:gd name="connsiteY20" fmla="*/ 5209177 h 6858000"/>
              <a:gd name="connsiteX21" fmla="*/ 226494 w 5962785"/>
              <a:gd name="connsiteY21" fmla="*/ 4855939 h 6858000"/>
              <a:gd name="connsiteX22" fmla="*/ 49139 w 5962785"/>
              <a:gd name="connsiteY22" fmla="*/ 4726177 h 6858000"/>
              <a:gd name="connsiteX23" fmla="*/ 5527 w 5962785"/>
              <a:gd name="connsiteY23" fmla="*/ 4650483 h 6858000"/>
              <a:gd name="connsiteX24" fmla="*/ 84029 w 5962785"/>
              <a:gd name="connsiteY24" fmla="*/ 4632460 h 6858000"/>
              <a:gd name="connsiteX25" fmla="*/ 325347 w 5962785"/>
              <a:gd name="connsiteY25" fmla="*/ 4661296 h 6858000"/>
              <a:gd name="connsiteX26" fmla="*/ 25879 w 5962785"/>
              <a:gd name="connsiteY26" fmla="*/ 4423401 h 6858000"/>
              <a:gd name="connsiteX27" fmla="*/ 249753 w 5962785"/>
              <a:gd name="connsiteY27" fmla="*/ 4459446 h 6858000"/>
              <a:gd name="connsiteX28" fmla="*/ 313718 w 5962785"/>
              <a:gd name="connsiteY28" fmla="*/ 4365729 h 6858000"/>
              <a:gd name="connsiteX29" fmla="*/ 418386 w 5962785"/>
              <a:gd name="connsiteY29" fmla="*/ 4214341 h 6858000"/>
              <a:gd name="connsiteX30" fmla="*/ 491072 w 5962785"/>
              <a:gd name="connsiteY30" fmla="*/ 4131438 h 6858000"/>
              <a:gd name="connsiteX31" fmla="*/ 520147 w 5962785"/>
              <a:gd name="connsiteY31" fmla="*/ 3864706 h 6858000"/>
              <a:gd name="connsiteX32" fmla="*/ 459090 w 5962785"/>
              <a:gd name="connsiteY32" fmla="*/ 3572743 h 6858000"/>
              <a:gd name="connsiteX33" fmla="*/ 290458 w 5962785"/>
              <a:gd name="connsiteY33" fmla="*/ 3424959 h 6858000"/>
              <a:gd name="connsiteX34" fmla="*/ 339884 w 5962785"/>
              <a:gd name="connsiteY34" fmla="*/ 3259153 h 6858000"/>
              <a:gd name="connsiteX35" fmla="*/ 697501 w 5962785"/>
              <a:gd name="connsiteY35" fmla="*/ 3360078 h 6858000"/>
              <a:gd name="connsiteX36" fmla="*/ 165437 w 5962785"/>
              <a:gd name="connsiteY36" fmla="*/ 2967190 h 6858000"/>
              <a:gd name="connsiteX37" fmla="*/ 255568 w 5962785"/>
              <a:gd name="connsiteY37" fmla="*/ 2949167 h 6858000"/>
              <a:gd name="connsiteX38" fmla="*/ 578296 w 5962785"/>
              <a:gd name="connsiteY38" fmla="*/ 2725691 h 6858000"/>
              <a:gd name="connsiteX39" fmla="*/ 595740 w 5962785"/>
              <a:gd name="connsiteY39" fmla="*/ 2714876 h 6858000"/>
              <a:gd name="connsiteX40" fmla="*/ 650982 w 5962785"/>
              <a:gd name="connsiteY40" fmla="*/ 2574301 h 6858000"/>
              <a:gd name="connsiteX41" fmla="*/ 825429 w 5962785"/>
              <a:gd name="connsiteY41" fmla="*/ 2552674 h 6858000"/>
              <a:gd name="connsiteX42" fmla="*/ 970802 w 5962785"/>
              <a:gd name="connsiteY42" fmla="*/ 2585115 h 6858000"/>
              <a:gd name="connsiteX43" fmla="*/ 1127805 w 5962785"/>
              <a:gd name="connsiteY43" fmla="*/ 2545465 h 6858000"/>
              <a:gd name="connsiteX44" fmla="*/ 1267362 w 5962785"/>
              <a:gd name="connsiteY44" fmla="*/ 2563488 h 6858000"/>
              <a:gd name="connsiteX45" fmla="*/ 1386568 w 5962785"/>
              <a:gd name="connsiteY45" fmla="*/ 2538257 h 6858000"/>
              <a:gd name="connsiteX46" fmla="*/ 1270270 w 5962785"/>
              <a:gd name="connsiteY46" fmla="*/ 2419309 h 6858000"/>
              <a:gd name="connsiteX47" fmla="*/ 1107453 w 5962785"/>
              <a:gd name="connsiteY47" fmla="*/ 2419309 h 6858000"/>
              <a:gd name="connsiteX48" fmla="*/ 991154 w 5962785"/>
              <a:gd name="connsiteY48" fmla="*/ 2343615 h 6858000"/>
              <a:gd name="connsiteX49" fmla="*/ 880671 w 5962785"/>
              <a:gd name="connsiteY49" fmla="*/ 2206645 h 6858000"/>
              <a:gd name="connsiteX50" fmla="*/ 491072 w 5962785"/>
              <a:gd name="connsiteY50" fmla="*/ 1986771 h 6858000"/>
              <a:gd name="connsiteX51" fmla="*/ 421293 w 5962785"/>
              <a:gd name="connsiteY51" fmla="*/ 1903868 h 6858000"/>
              <a:gd name="connsiteX52" fmla="*/ 1531941 w 5962785"/>
              <a:gd name="connsiteY52" fmla="*/ 2224667 h 6858000"/>
              <a:gd name="connsiteX53" fmla="*/ 1188861 w 5962785"/>
              <a:gd name="connsiteY53" fmla="*/ 2091301 h 6858000"/>
              <a:gd name="connsiteX54" fmla="*/ 1421458 w 5962785"/>
              <a:gd name="connsiteY54" fmla="*/ 2116532 h 6858000"/>
              <a:gd name="connsiteX55" fmla="*/ 1549386 w 5962785"/>
              <a:gd name="connsiteY55" fmla="*/ 2026420 h 6858000"/>
              <a:gd name="connsiteX56" fmla="*/ 1549386 w 5962785"/>
              <a:gd name="connsiteY56" fmla="*/ 1997584 h 6858000"/>
              <a:gd name="connsiteX57" fmla="*/ 1453440 w 5962785"/>
              <a:gd name="connsiteY57" fmla="*/ 1914682 h 6858000"/>
              <a:gd name="connsiteX58" fmla="*/ 1398198 w 5962785"/>
              <a:gd name="connsiteY58" fmla="*/ 1860614 h 6858000"/>
              <a:gd name="connsiteX59" fmla="*/ 1247011 w 5962785"/>
              <a:gd name="connsiteY59" fmla="*/ 1665972 h 6858000"/>
              <a:gd name="connsiteX60" fmla="*/ 1354586 w 5962785"/>
              <a:gd name="connsiteY60" fmla="*/ 1644345 h 6858000"/>
              <a:gd name="connsiteX61" fmla="*/ 1395290 w 5962785"/>
              <a:gd name="connsiteY61" fmla="*/ 1604696 h 6858000"/>
              <a:gd name="connsiteX62" fmla="*/ 1366216 w 5962785"/>
              <a:gd name="connsiteY62" fmla="*/ 1547025 h 6858000"/>
              <a:gd name="connsiteX63" fmla="*/ 1031858 w 5962785"/>
              <a:gd name="connsiteY63" fmla="*/ 1370405 h 6858000"/>
              <a:gd name="connsiteX64" fmla="*/ 1005692 w 5962785"/>
              <a:gd name="connsiteY64" fmla="*/ 1233435 h 6858000"/>
              <a:gd name="connsiteX65" fmla="*/ 1069655 w 5962785"/>
              <a:gd name="connsiteY65" fmla="*/ 1211808 h 6858000"/>
              <a:gd name="connsiteX66" fmla="*/ 1142342 w 5962785"/>
              <a:gd name="connsiteY66" fmla="*/ 1222621 h 6858000"/>
              <a:gd name="connsiteX67" fmla="*/ 1084193 w 5962785"/>
              <a:gd name="connsiteY67" fmla="*/ 1114487 h 6858000"/>
              <a:gd name="connsiteX68" fmla="*/ 848689 w 5962785"/>
              <a:gd name="connsiteY68" fmla="*/ 1006353 h 6858000"/>
              <a:gd name="connsiteX69" fmla="*/ 805077 w 5962785"/>
              <a:gd name="connsiteY69" fmla="*/ 948681 h 6858000"/>
              <a:gd name="connsiteX70" fmla="*/ 863226 w 5962785"/>
              <a:gd name="connsiteY70" fmla="*/ 919844 h 6858000"/>
              <a:gd name="connsiteX71" fmla="*/ 906838 w 5962785"/>
              <a:gd name="connsiteY71" fmla="*/ 909031 h 6858000"/>
              <a:gd name="connsiteX72" fmla="*/ 5527 w 5962785"/>
              <a:gd name="connsiteY72" fmla="*/ 458471 h 6858000"/>
              <a:gd name="connsiteX73" fmla="*/ 209049 w 5962785"/>
              <a:gd name="connsiteY73" fmla="*/ 454867 h 6858000"/>
              <a:gd name="connsiteX74" fmla="*/ 409664 w 5962785"/>
              <a:gd name="connsiteY74" fmla="*/ 526956 h 6858000"/>
              <a:gd name="connsiteX75" fmla="*/ 621908 w 5962785"/>
              <a:gd name="connsiteY75" fmla="*/ 516143 h 6858000"/>
              <a:gd name="connsiteX76" fmla="*/ 822522 w 5962785"/>
              <a:gd name="connsiteY76" fmla="*/ 552188 h 6858000"/>
              <a:gd name="connsiteX77" fmla="*/ 996969 w 5962785"/>
              <a:gd name="connsiteY77" fmla="*/ 552188 h 6858000"/>
              <a:gd name="connsiteX78" fmla="*/ 834151 w 5962785"/>
              <a:gd name="connsiteY78" fmla="*/ 498120 h 6858000"/>
              <a:gd name="connsiteX79" fmla="*/ 773095 w 5962785"/>
              <a:gd name="connsiteY79" fmla="*/ 408008 h 6858000"/>
              <a:gd name="connsiteX80" fmla="*/ 793447 w 5962785"/>
              <a:gd name="connsiteY80" fmla="*/ 325106 h 6858000"/>
              <a:gd name="connsiteX81" fmla="*/ 860319 w 5962785"/>
              <a:gd name="connsiteY81" fmla="*/ 350336 h 6858000"/>
              <a:gd name="connsiteX82" fmla="*/ 938820 w 5962785"/>
              <a:gd name="connsiteY82" fmla="*/ 444054 h 6858000"/>
              <a:gd name="connsiteX83" fmla="*/ 956265 w 5962785"/>
              <a:gd name="connsiteY83" fmla="*/ 386381 h 6858000"/>
              <a:gd name="connsiteX84" fmla="*/ 1002784 w 5962785"/>
              <a:gd name="connsiteY84" fmla="*/ 343127 h 6858000"/>
              <a:gd name="connsiteX85" fmla="*/ 1270270 w 5962785"/>
              <a:gd name="connsiteY85" fmla="*/ 364755 h 6858000"/>
              <a:gd name="connsiteX86" fmla="*/ 1092915 w 5962785"/>
              <a:gd name="connsiteY86" fmla="*/ 180926 h 6858000"/>
              <a:gd name="connsiteX87" fmla="*/ 979525 w 5962785"/>
              <a:gd name="connsiteY87" fmla="*/ 152090 h 6858000"/>
              <a:gd name="connsiteX88" fmla="*/ 953358 w 5962785"/>
              <a:gd name="connsiteY88" fmla="*/ 76396 h 6858000"/>
              <a:gd name="connsiteX89" fmla="*/ 1005692 w 5962785"/>
              <a:gd name="connsiteY89" fmla="*/ 58373 h 6858000"/>
              <a:gd name="connsiteX90" fmla="*/ 1267362 w 5962785"/>
              <a:gd name="connsiteY90" fmla="*/ 123254 h 6858000"/>
              <a:gd name="connsiteX91" fmla="*/ 1310975 w 5962785"/>
              <a:gd name="connsiteY91" fmla="*/ 98023 h 6858000"/>
              <a:gd name="connsiteX92" fmla="*/ 1159787 w 5962785"/>
              <a:gd name="connsiteY92" fmla="*/ 4350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p>
        </p:txBody>
      </p:sp>
      <p:sp>
        <p:nvSpPr>
          <p:cNvPr id="4" name="TextBox 3">
            <a:extLst>
              <a:ext uri="{FF2B5EF4-FFF2-40B4-BE49-F238E27FC236}">
                <a16:creationId xmlns:a16="http://schemas.microsoft.com/office/drawing/2014/main" id="{4C79777D-9EB8-7B11-B32A-8B62CF7D1CDE}"/>
              </a:ext>
            </a:extLst>
          </p:cNvPr>
          <p:cNvSpPr txBox="1"/>
          <p:nvPr/>
        </p:nvSpPr>
        <p:spPr>
          <a:xfrm>
            <a:off x="643468" y="643467"/>
            <a:ext cx="2588830" cy="456713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kern="1200" dirty="0">
                <a:solidFill>
                  <a:schemeClr val="tx1"/>
                </a:solidFill>
                <a:latin typeface="+mj-lt"/>
                <a:ea typeface="+mj-ea"/>
                <a:cs typeface="+mj-cs"/>
              </a:rPr>
              <a:t>Legitimate Email example</a:t>
            </a:r>
          </a:p>
        </p:txBody>
      </p:sp>
      <p:pic>
        <p:nvPicPr>
          <p:cNvPr id="6" name="Picture 5">
            <a:extLst>
              <a:ext uri="{FF2B5EF4-FFF2-40B4-BE49-F238E27FC236}">
                <a16:creationId xmlns:a16="http://schemas.microsoft.com/office/drawing/2014/main" id="{46ACFA66-B719-31D0-BD1B-ABC5C11F89BC}"/>
              </a:ext>
            </a:extLst>
          </p:cNvPr>
          <p:cNvPicPr>
            <a:picLocks noChangeAspect="1"/>
          </p:cNvPicPr>
          <p:nvPr/>
        </p:nvPicPr>
        <p:blipFill>
          <a:blip r:embed="rId3"/>
          <a:stretch>
            <a:fillRect/>
          </a:stretch>
        </p:blipFill>
        <p:spPr>
          <a:xfrm>
            <a:off x="3653876" y="1097957"/>
            <a:ext cx="8362489" cy="4662086"/>
          </a:xfrm>
          <a:prstGeom prst="rect">
            <a:avLst/>
          </a:prstGeom>
        </p:spPr>
      </p:pic>
    </p:spTree>
    <p:extLst>
      <p:ext uri="{BB962C8B-B14F-4D97-AF65-F5344CB8AC3E}">
        <p14:creationId xmlns:p14="http://schemas.microsoft.com/office/powerpoint/2010/main" val="34398885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BBCA427-DDDF-BBF7-EF8E-CE73E4D9A057}"/>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kern="1200" dirty="0">
                <a:solidFill>
                  <a:schemeClr val="tx1"/>
                </a:solidFill>
                <a:latin typeface="+mj-lt"/>
                <a:ea typeface="+mj-ea"/>
                <a:cs typeface="+mj-cs"/>
              </a:rPr>
              <a:t>Key Results</a:t>
            </a:r>
          </a:p>
        </p:txBody>
      </p:sp>
      <p:sp>
        <p:nvSpPr>
          <p:cNvPr id="2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161BB4E9-A4E9-4FB6-4845-546A6FA259FE}"/>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r>
              <a:rPr lang="en-US" sz="2200" dirty="0"/>
              <a:t>Chess players </a:t>
            </a:r>
            <a:r>
              <a:rPr lang="en-US" sz="2200" b="1" dirty="0"/>
              <a:t>significantly</a:t>
            </a:r>
            <a:r>
              <a:rPr lang="en-US" sz="2200" dirty="0"/>
              <a:t> outperform non-chess players in phishing detection</a:t>
            </a:r>
          </a:p>
          <a:p>
            <a:pPr>
              <a:lnSpc>
                <a:spcPct val="90000"/>
              </a:lnSpc>
              <a:spcAft>
                <a:spcPts val="600"/>
              </a:spcAft>
            </a:pPr>
            <a:endParaRPr lang="en-US" sz="2200" dirty="0"/>
          </a:p>
        </p:txBody>
      </p:sp>
      <p:pic>
        <p:nvPicPr>
          <p:cNvPr id="7" name="Picture 6">
            <a:extLst>
              <a:ext uri="{FF2B5EF4-FFF2-40B4-BE49-F238E27FC236}">
                <a16:creationId xmlns:a16="http://schemas.microsoft.com/office/drawing/2014/main" id="{BAB29591-BFEE-4A6B-9CC8-7AAB000A82AE}"/>
              </a:ext>
            </a:extLst>
          </p:cNvPr>
          <p:cNvPicPr>
            <a:picLocks noChangeAspect="1"/>
          </p:cNvPicPr>
          <p:nvPr/>
        </p:nvPicPr>
        <p:blipFill>
          <a:blip r:embed="rId3"/>
          <a:stretch>
            <a:fillRect/>
          </a:stretch>
        </p:blipFill>
        <p:spPr>
          <a:xfrm>
            <a:off x="4654296" y="1314735"/>
            <a:ext cx="6903720" cy="4228529"/>
          </a:xfrm>
          <a:prstGeom prst="rect">
            <a:avLst/>
          </a:prstGeom>
        </p:spPr>
      </p:pic>
    </p:spTree>
    <p:extLst>
      <p:ext uri="{BB962C8B-B14F-4D97-AF65-F5344CB8AC3E}">
        <p14:creationId xmlns:p14="http://schemas.microsoft.com/office/powerpoint/2010/main" val="16066821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85C9777-3A1C-2525-6B22-41BF9EBB56F0}"/>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kern="1200">
                <a:solidFill>
                  <a:schemeClr val="tx1"/>
                </a:solidFill>
                <a:latin typeface="+mj-lt"/>
                <a:ea typeface="+mj-ea"/>
                <a:cs typeface="+mj-cs"/>
              </a:rPr>
              <a:t>Cybersecurity training ≠ better phishing detection</a:t>
            </a:r>
          </a:p>
        </p:txBody>
      </p:sp>
      <p:sp>
        <p:nvSpPr>
          <p:cNvPr id="1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233225E-F537-3D9F-242E-7CE10327A907}"/>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t>Cyber training did not reach significance</a:t>
            </a:r>
          </a:p>
          <a:p>
            <a:pPr indent="-228600">
              <a:lnSpc>
                <a:spcPct val="90000"/>
              </a:lnSpc>
              <a:spcAft>
                <a:spcPts val="600"/>
              </a:spcAft>
              <a:buFont typeface="Arial" panose="020B0604020202020204" pitchFamily="34" charset="0"/>
              <a:buChar char="•"/>
            </a:pPr>
            <a:r>
              <a:rPr lang="en-US" sz="2200" dirty="0"/>
              <a:t>In general, the cyber training program does not have a strong impact on accuracy</a:t>
            </a:r>
          </a:p>
        </p:txBody>
      </p:sp>
      <p:pic>
        <p:nvPicPr>
          <p:cNvPr id="3" name="Picture 2">
            <a:extLst>
              <a:ext uri="{FF2B5EF4-FFF2-40B4-BE49-F238E27FC236}">
                <a16:creationId xmlns:a16="http://schemas.microsoft.com/office/drawing/2014/main" id="{096A6A40-A1EB-FCEF-2E03-33CAF65A30D3}"/>
              </a:ext>
            </a:extLst>
          </p:cNvPr>
          <p:cNvPicPr>
            <a:picLocks noChangeAspect="1"/>
          </p:cNvPicPr>
          <p:nvPr/>
        </p:nvPicPr>
        <p:blipFill>
          <a:blip r:embed="rId3"/>
          <a:stretch>
            <a:fillRect/>
          </a:stretch>
        </p:blipFill>
        <p:spPr>
          <a:xfrm>
            <a:off x="4654296" y="883253"/>
            <a:ext cx="6903720" cy="5091494"/>
          </a:xfrm>
          <a:prstGeom prst="rect">
            <a:avLst/>
          </a:prstGeom>
        </p:spPr>
      </p:pic>
    </p:spTree>
    <p:extLst>
      <p:ext uri="{BB962C8B-B14F-4D97-AF65-F5344CB8AC3E}">
        <p14:creationId xmlns:p14="http://schemas.microsoft.com/office/powerpoint/2010/main" val="523366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1B5B15-BF6F-736D-4976-E5B923383E31}"/>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8D087EC-8E7D-91D3-B565-463DC7321AB1}"/>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kern="1200" dirty="0">
                <a:solidFill>
                  <a:schemeClr val="tx1"/>
                </a:solidFill>
                <a:latin typeface="+mj-lt"/>
                <a:ea typeface="+mj-ea"/>
                <a:cs typeface="+mj-cs"/>
              </a:rPr>
              <a:t>Key Results</a:t>
            </a:r>
          </a:p>
        </p:txBody>
      </p:sp>
      <p:sp>
        <p:nvSpPr>
          <p:cNvPr id="28"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2658E71-6A4F-977D-44BB-A611DDA65FAB}"/>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r>
              <a:rPr lang="en-US" sz="2200" dirty="0"/>
              <a:t>Within-group analysis found that beginner/ amateur and intermediate chess players outperformed chess professionals! </a:t>
            </a:r>
          </a:p>
        </p:txBody>
      </p:sp>
      <p:pic>
        <p:nvPicPr>
          <p:cNvPr id="3" name="Picture 2">
            <a:extLst>
              <a:ext uri="{FF2B5EF4-FFF2-40B4-BE49-F238E27FC236}">
                <a16:creationId xmlns:a16="http://schemas.microsoft.com/office/drawing/2014/main" id="{512080FF-3E8F-35A0-417D-05D35B4BA94C}"/>
              </a:ext>
            </a:extLst>
          </p:cNvPr>
          <p:cNvPicPr>
            <a:picLocks noChangeAspect="1"/>
          </p:cNvPicPr>
          <p:nvPr/>
        </p:nvPicPr>
        <p:blipFill>
          <a:blip r:embed="rId3"/>
          <a:stretch>
            <a:fillRect/>
          </a:stretch>
        </p:blipFill>
        <p:spPr>
          <a:xfrm>
            <a:off x="4654296" y="1211180"/>
            <a:ext cx="6903720" cy="4435640"/>
          </a:xfrm>
          <a:prstGeom prst="rect">
            <a:avLst/>
          </a:prstGeom>
        </p:spPr>
      </p:pic>
    </p:spTree>
    <p:extLst>
      <p:ext uri="{BB962C8B-B14F-4D97-AF65-F5344CB8AC3E}">
        <p14:creationId xmlns:p14="http://schemas.microsoft.com/office/powerpoint/2010/main" val="13129397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17746E5-880E-1D1F-6B58-4517FAC29795}"/>
            </a:ext>
          </a:extLst>
        </p:cNvPr>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6D67B34D-792D-9343-B48D-20B867231E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6CAFCDA-C918-577B-F65C-1400E1A5B4A7}"/>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kern="1200" dirty="0">
                <a:solidFill>
                  <a:schemeClr val="tx1"/>
                </a:solidFill>
                <a:latin typeface="+mj-lt"/>
                <a:ea typeface="+mj-ea"/>
                <a:cs typeface="+mj-cs"/>
              </a:rPr>
              <a:t>Key Results</a:t>
            </a:r>
          </a:p>
        </p:txBody>
      </p:sp>
      <p:sp>
        <p:nvSpPr>
          <p:cNvPr id="28" name="sketch line">
            <a:extLst>
              <a:ext uri="{FF2B5EF4-FFF2-40B4-BE49-F238E27FC236}">
                <a16:creationId xmlns:a16="http://schemas.microsoft.com/office/drawing/2014/main" id="{7D0A94AF-98AC-7FD4-8CEE-1864F4408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EC3839A-605A-061B-1EFB-EB266110030E}"/>
              </a:ext>
            </a:extLst>
          </p:cNvPr>
          <p:cNvSpPr txBox="1"/>
          <p:nvPr/>
        </p:nvSpPr>
        <p:spPr>
          <a:xfrm>
            <a:off x="630936" y="2807208"/>
            <a:ext cx="3429000" cy="3410712"/>
          </a:xfrm>
          <a:prstGeom prst="rect">
            <a:avLst/>
          </a:prstGeom>
        </p:spPr>
        <p:txBody>
          <a:bodyPr vert="horz" lIns="91440" tIns="45720" rIns="91440" bIns="45720" rtlCol="0" anchor="t">
            <a:normAutofit/>
          </a:bodyPr>
          <a:lstStyle/>
          <a:p>
            <a:r>
              <a:rPr lang="en-US" sz="1600" dirty="0"/>
              <a:t>Higher self-confidence may influence a participant’s</a:t>
            </a:r>
          </a:p>
          <a:p>
            <a:r>
              <a:rPr lang="en-US" sz="1600" dirty="0"/>
              <a:t>phishing detection style, potentially leading to greater vigilance at the cost of false positives (no statistical significance observed)</a:t>
            </a:r>
          </a:p>
          <a:p>
            <a:endParaRPr lang="en-US" sz="2800" dirty="0"/>
          </a:p>
          <a:p>
            <a:r>
              <a:rPr lang="en-US" sz="1600" dirty="0"/>
              <a:t>Further reading: Canfield, Fischhoff and Davis did significantly find</a:t>
            </a:r>
          </a:p>
          <a:p>
            <a:r>
              <a:rPr lang="en-US" sz="1600" dirty="0"/>
              <a:t>that participants were consistently overconfident for phishing</a:t>
            </a:r>
          </a:p>
          <a:p>
            <a:r>
              <a:rPr lang="en-IE" sz="1600" dirty="0"/>
              <a:t>emails</a:t>
            </a:r>
            <a:endParaRPr lang="en-US" sz="2800" dirty="0"/>
          </a:p>
        </p:txBody>
      </p:sp>
      <p:pic>
        <p:nvPicPr>
          <p:cNvPr id="6" name="Picture 5">
            <a:extLst>
              <a:ext uri="{FF2B5EF4-FFF2-40B4-BE49-F238E27FC236}">
                <a16:creationId xmlns:a16="http://schemas.microsoft.com/office/drawing/2014/main" id="{98104A31-041A-66E6-32B7-B6659FD69116}"/>
              </a:ext>
            </a:extLst>
          </p:cNvPr>
          <p:cNvPicPr>
            <a:picLocks noChangeAspect="1"/>
          </p:cNvPicPr>
          <p:nvPr/>
        </p:nvPicPr>
        <p:blipFill>
          <a:blip r:embed="rId3"/>
          <a:stretch>
            <a:fillRect/>
          </a:stretch>
        </p:blipFill>
        <p:spPr>
          <a:xfrm>
            <a:off x="5241554" y="1669997"/>
            <a:ext cx="6104149" cy="3871295"/>
          </a:xfrm>
          <a:prstGeom prst="rect">
            <a:avLst/>
          </a:prstGeom>
        </p:spPr>
      </p:pic>
    </p:spTree>
    <p:extLst>
      <p:ext uri="{BB962C8B-B14F-4D97-AF65-F5344CB8AC3E}">
        <p14:creationId xmlns:p14="http://schemas.microsoft.com/office/powerpoint/2010/main" val="23913924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EFC75C-2E8F-9F6F-EA32-AEFA4BE6BF3B}"/>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5698E6F3-F780-8055-8A75-52CEF9351E79}"/>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kern="1200" dirty="0">
                <a:solidFill>
                  <a:schemeClr val="tx1"/>
                </a:solidFill>
                <a:latin typeface="+mj-lt"/>
                <a:ea typeface="+mj-ea"/>
                <a:cs typeface="+mj-cs"/>
              </a:rPr>
              <a:t>Key Results</a:t>
            </a:r>
          </a:p>
        </p:txBody>
      </p:sp>
      <p:sp>
        <p:nvSpPr>
          <p:cNvPr id="3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2709840-86CE-5C5E-6184-1411D8E7C2CB}"/>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r>
              <a:rPr lang="en-US" sz="2200" dirty="0"/>
              <a:t>Detection accuracy was significantly higher for obvious phishing compared to sophisticated phishing and for legitimate emails compared to sophisticated phishing</a:t>
            </a:r>
          </a:p>
        </p:txBody>
      </p:sp>
      <p:pic>
        <p:nvPicPr>
          <p:cNvPr id="8" name="Picture 7">
            <a:extLst>
              <a:ext uri="{FF2B5EF4-FFF2-40B4-BE49-F238E27FC236}">
                <a16:creationId xmlns:a16="http://schemas.microsoft.com/office/drawing/2014/main" id="{682FC4A7-5EA6-8E66-732B-A5DA937BCCF1}"/>
              </a:ext>
            </a:extLst>
          </p:cNvPr>
          <p:cNvPicPr>
            <a:picLocks noChangeAspect="1"/>
          </p:cNvPicPr>
          <p:nvPr/>
        </p:nvPicPr>
        <p:blipFill>
          <a:blip r:embed="rId3"/>
          <a:stretch>
            <a:fillRect/>
          </a:stretch>
        </p:blipFill>
        <p:spPr>
          <a:xfrm>
            <a:off x="4654296" y="2548776"/>
            <a:ext cx="6903720" cy="1760447"/>
          </a:xfrm>
          <a:prstGeom prst="rect">
            <a:avLst/>
          </a:prstGeom>
        </p:spPr>
      </p:pic>
    </p:spTree>
    <p:extLst>
      <p:ext uri="{BB962C8B-B14F-4D97-AF65-F5344CB8AC3E}">
        <p14:creationId xmlns:p14="http://schemas.microsoft.com/office/powerpoint/2010/main" val="30843975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E8AEB3-F826-890B-012B-28C093ABEAD5}"/>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8EC2CCC-E71E-A82D-131D-E5AE6262AA14}"/>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400" kern="1200">
                <a:solidFill>
                  <a:schemeClr val="tx1"/>
                </a:solidFill>
                <a:latin typeface="+mj-lt"/>
                <a:ea typeface="+mj-ea"/>
                <a:cs typeface="+mj-cs"/>
              </a:rPr>
              <a:t>Key Results</a:t>
            </a:r>
          </a:p>
        </p:txBody>
      </p:sp>
      <p:sp>
        <p:nvSpPr>
          <p:cNvPr id="56"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854308-2E44-4C35-2F69-A85097008C3E}"/>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t>Chess players identified obvious &amp; sophisticated better than legitimate</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Non-chess players also better at both phishing types than legitimate</a:t>
            </a:r>
          </a:p>
        </p:txBody>
      </p:sp>
      <p:sp>
        <p:nvSpPr>
          <p:cNvPr id="5" name="TextBox 4">
            <a:extLst>
              <a:ext uri="{FF2B5EF4-FFF2-40B4-BE49-F238E27FC236}">
                <a16:creationId xmlns:a16="http://schemas.microsoft.com/office/drawing/2014/main" id="{1BA71FD0-DEAC-91B1-4E08-FE638378A9AB}"/>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endParaRPr lang="en-US" sz="2200" dirty="0"/>
          </a:p>
        </p:txBody>
      </p:sp>
      <p:graphicFrame>
        <p:nvGraphicFramePr>
          <p:cNvPr id="2" name="Chart 1">
            <a:extLst>
              <a:ext uri="{FF2B5EF4-FFF2-40B4-BE49-F238E27FC236}">
                <a16:creationId xmlns:a16="http://schemas.microsoft.com/office/drawing/2014/main" id="{23D9CF60-4DD0-73F5-1935-62C655B1B25F}"/>
              </a:ext>
            </a:extLst>
          </p:cNvPr>
          <p:cNvGraphicFramePr>
            <a:graphicFrameLocks/>
          </p:cNvGraphicFramePr>
          <p:nvPr>
            <p:extLst>
              <p:ext uri="{D42A27DB-BD31-4B8C-83A1-F6EECF244321}">
                <p14:modId xmlns:p14="http://schemas.microsoft.com/office/powerpoint/2010/main" val="363756729"/>
              </p:ext>
            </p:extLst>
          </p:nvPr>
        </p:nvGraphicFramePr>
        <p:xfrm>
          <a:off x="4654296" y="640080"/>
          <a:ext cx="6903720" cy="55778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4251457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2E5D8A-72D9-35EF-436B-BA45D86231F2}"/>
            </a:ext>
          </a:extLst>
        </p:cNvPr>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8D1AA55E-40D5-461B-A5A8-4AE8AAB71B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78785053-79A5-8F89-A8E2-BDC039F77164}"/>
              </a:ext>
            </a:extLst>
          </p:cNvPr>
          <p:cNvSpPr txBox="1"/>
          <p:nvPr/>
        </p:nvSpPr>
        <p:spPr>
          <a:xfrm>
            <a:off x="838200" y="1336390"/>
            <a:ext cx="6155988" cy="1182927"/>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5600" kern="1200">
                <a:solidFill>
                  <a:schemeClr val="tx1"/>
                </a:solidFill>
                <a:latin typeface="+mj-lt"/>
                <a:ea typeface="+mj-ea"/>
                <a:cs typeface="+mj-cs"/>
              </a:rPr>
              <a:t>Key Results</a:t>
            </a:r>
          </a:p>
        </p:txBody>
      </p:sp>
      <p:cxnSp>
        <p:nvCxnSpPr>
          <p:cNvPr id="55" name="Straight Connector 54">
            <a:extLst>
              <a:ext uri="{FF2B5EF4-FFF2-40B4-BE49-F238E27FC236}">
                <a16:creationId xmlns:a16="http://schemas.microsoft.com/office/drawing/2014/main" id="{7EB498BD-8089-4626-91EA-4978EBEF535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806470"/>
            <a:ext cx="7903723" cy="0"/>
          </a:xfrm>
          <a:prstGeom prst="line">
            <a:avLst/>
          </a:prstGeom>
          <a:ln w="25400" cap="sq">
            <a:gradFill flip="none" rotWithShape="1">
              <a:gsLst>
                <a:gs pos="0">
                  <a:schemeClr val="accent1"/>
                </a:gs>
                <a:gs pos="100000">
                  <a:schemeClr val="accent2"/>
                </a:gs>
              </a:gsLst>
              <a:lin ang="10800000" scaled="0"/>
              <a:tileRect/>
            </a:gradFill>
            <a:beve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1955504-1F7B-6913-8F0B-893AD17FAFB2}"/>
              </a:ext>
            </a:extLst>
          </p:cNvPr>
          <p:cNvSpPr txBox="1"/>
          <p:nvPr/>
        </p:nvSpPr>
        <p:spPr>
          <a:xfrm>
            <a:off x="803776" y="2829330"/>
            <a:ext cx="6190412" cy="3344459"/>
          </a:xfrm>
          <a:prstGeom prst="rect">
            <a:avLst/>
          </a:prstGeom>
        </p:spPr>
        <p:txBody>
          <a:bodyPr vert="horz" lIns="91440" tIns="45720" rIns="91440" bIns="45720" rtlCol="0" anchor="t">
            <a:normAutofit/>
          </a:bodyPr>
          <a:lstStyle/>
          <a:p>
            <a:pPr>
              <a:lnSpc>
                <a:spcPct val="90000"/>
              </a:lnSpc>
              <a:spcAft>
                <a:spcPts val="600"/>
              </a:spcAft>
            </a:pPr>
            <a:r>
              <a:rPr lang="en-US" sz="2000" dirty="0">
                <a:solidFill>
                  <a:schemeClr val="tx1">
                    <a:alpha val="80000"/>
                  </a:schemeClr>
                </a:solidFill>
              </a:rPr>
              <a:t>Well, that’s worrying! </a:t>
            </a:r>
          </a:p>
          <a:p>
            <a:pPr indent="-228600">
              <a:lnSpc>
                <a:spcPct val="90000"/>
              </a:lnSpc>
              <a:spcAft>
                <a:spcPts val="600"/>
              </a:spcAft>
              <a:buFont typeface="Arial" panose="020B0604020202020204" pitchFamily="34" charset="0"/>
              <a:buChar char="•"/>
            </a:pPr>
            <a:endParaRPr lang="en-US" sz="2000" dirty="0">
              <a:solidFill>
                <a:schemeClr val="tx1">
                  <a:alpha val="80000"/>
                </a:schemeClr>
              </a:solidFill>
            </a:endParaRP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Over-cautiousness?</a:t>
            </a: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Bias towards suspecting deception?</a:t>
            </a:r>
          </a:p>
          <a:p>
            <a:pPr indent="-228600">
              <a:lnSpc>
                <a:spcPct val="90000"/>
              </a:lnSpc>
              <a:spcAft>
                <a:spcPts val="600"/>
              </a:spcAft>
              <a:buFont typeface="Arial" panose="020B0604020202020204" pitchFamily="34" charset="0"/>
              <a:buChar char="•"/>
            </a:pPr>
            <a:endParaRPr lang="en-US" sz="2000" dirty="0">
              <a:solidFill>
                <a:schemeClr val="tx1">
                  <a:alpha val="80000"/>
                </a:schemeClr>
              </a:solidFill>
            </a:endParaRPr>
          </a:p>
          <a:p>
            <a:pPr indent="-228600">
              <a:lnSpc>
                <a:spcPct val="90000"/>
              </a:lnSpc>
              <a:spcAft>
                <a:spcPts val="600"/>
              </a:spcAft>
              <a:buFont typeface="Arial" panose="020B0604020202020204" pitchFamily="34" charset="0"/>
              <a:buChar char="•"/>
            </a:pPr>
            <a:r>
              <a:rPr lang="en-US" sz="2000" dirty="0">
                <a:solidFill>
                  <a:schemeClr val="tx1">
                    <a:alpha val="80000"/>
                  </a:schemeClr>
                </a:solidFill>
              </a:rPr>
              <a:t>Aligned with System 1 thinking – quick, emotional, risk-averse reaction</a:t>
            </a:r>
          </a:p>
        </p:txBody>
      </p:sp>
      <p:pic>
        <p:nvPicPr>
          <p:cNvPr id="6" name="Picture 5">
            <a:extLst>
              <a:ext uri="{FF2B5EF4-FFF2-40B4-BE49-F238E27FC236}">
                <a16:creationId xmlns:a16="http://schemas.microsoft.com/office/drawing/2014/main" id="{B38103B4-4EE8-9076-4965-BEB52A1E8BF2}"/>
              </a:ext>
            </a:extLst>
          </p:cNvPr>
          <p:cNvPicPr>
            <a:picLocks noChangeAspect="1"/>
          </p:cNvPicPr>
          <p:nvPr/>
        </p:nvPicPr>
        <p:blipFill>
          <a:blip r:embed="rId3"/>
          <a:stretch>
            <a:fillRect/>
          </a:stretch>
        </p:blipFill>
        <p:spPr>
          <a:xfrm>
            <a:off x="8367505" y="1336390"/>
            <a:ext cx="1958699" cy="4837394"/>
          </a:xfrm>
          <a:prstGeom prst="rect">
            <a:avLst/>
          </a:prstGeom>
        </p:spPr>
      </p:pic>
      <p:sp>
        <p:nvSpPr>
          <p:cNvPr id="56"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24552" y="1899284"/>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1"/>
          </a:solidFill>
          <a:ln w="603" cap="flat">
            <a:noFill/>
            <a:prstDash val="solid"/>
            <a:miter/>
          </a:ln>
        </p:spPr>
        <p:txBody>
          <a:bodyPr rtlCol="0" anchor="ctr"/>
          <a:lstStyle/>
          <a:p>
            <a:endParaRPr lang="en-US"/>
          </a:p>
        </p:txBody>
      </p:sp>
      <p:sp>
        <p:nvSpPr>
          <p:cNvPr id="53"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6862" y="2189928"/>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1"/>
          </a:solidFill>
          <a:ln w="422"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2F1BC94B-F3EC-3AC3-604B-E64D927705A7}"/>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endParaRPr lang="en-US" sz="2200" dirty="0"/>
          </a:p>
        </p:txBody>
      </p:sp>
    </p:spTree>
    <p:extLst>
      <p:ext uri="{BB962C8B-B14F-4D97-AF65-F5344CB8AC3E}">
        <p14:creationId xmlns:p14="http://schemas.microsoft.com/office/powerpoint/2010/main" val="21898992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7FFC6E-B1F4-6E4A-8F71-1F34E902F7BD}"/>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9EF69390-5A50-2C3C-4D55-A9A87D29D8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41CF78D4-917C-DDCC-9D1E-84A85ACAF78E}"/>
              </a:ext>
            </a:extLst>
          </p:cNvPr>
          <p:cNvPicPr>
            <a:picLocks noChangeAspect="1"/>
          </p:cNvPicPr>
          <p:nvPr/>
        </p:nvPicPr>
        <p:blipFill>
          <a:blip r:embed="rId3"/>
          <a:srcRect r="20689"/>
          <a:stretch>
            <a:fillRect/>
          </a:stretch>
        </p:blipFill>
        <p:spPr>
          <a:xfrm>
            <a:off x="2522356" y="10"/>
            <a:ext cx="9669642" cy="6857990"/>
          </a:xfrm>
          <a:prstGeom prst="rect">
            <a:avLst/>
          </a:prstGeom>
        </p:spPr>
      </p:pic>
      <p:sp>
        <p:nvSpPr>
          <p:cNvPr id="50" name="Rectangle 49">
            <a:extLst>
              <a:ext uri="{FF2B5EF4-FFF2-40B4-BE49-F238E27FC236}">
                <a16:creationId xmlns:a16="http://schemas.microsoft.com/office/drawing/2014/main" id="{DE4BE445-4D7A-EC4B-9C99-28C2034E3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61BECE63-5016-019F-CABD-5CE378A8244F}"/>
              </a:ext>
            </a:extLst>
          </p:cNvPr>
          <p:cNvSpPr txBox="1"/>
          <p:nvPr/>
        </p:nvSpPr>
        <p:spPr>
          <a:xfrm>
            <a:off x="838200" y="365125"/>
            <a:ext cx="3822189" cy="18999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a:latin typeface="+mj-lt"/>
                <a:ea typeface="+mj-ea"/>
                <a:cs typeface="+mj-cs"/>
              </a:rPr>
              <a:t>Interpretation</a:t>
            </a:r>
          </a:p>
        </p:txBody>
      </p:sp>
      <p:sp>
        <p:nvSpPr>
          <p:cNvPr id="3" name="TextBox 2">
            <a:extLst>
              <a:ext uri="{FF2B5EF4-FFF2-40B4-BE49-F238E27FC236}">
                <a16:creationId xmlns:a16="http://schemas.microsoft.com/office/drawing/2014/main" id="{E169A068-17F3-C5C8-5D99-11DABEB34FF1}"/>
              </a:ext>
            </a:extLst>
          </p:cNvPr>
          <p:cNvSpPr txBox="1"/>
          <p:nvPr/>
        </p:nvSpPr>
        <p:spPr>
          <a:xfrm>
            <a:off x="838200" y="2434201"/>
            <a:ext cx="4326082" cy="3742762"/>
          </a:xfrm>
          <a:prstGeom prst="rect">
            <a:avLst/>
          </a:prstGeom>
        </p:spPr>
        <p:txBody>
          <a:bodyPr vert="horz" lIns="91440" tIns="45720" rIns="91440" bIns="45720" rtlCol="0">
            <a:normAutofit/>
          </a:bodyPr>
          <a:lstStyle/>
          <a:p>
            <a:pPr marL="342900" indent="-342900">
              <a:lnSpc>
                <a:spcPct val="90000"/>
              </a:lnSpc>
              <a:spcAft>
                <a:spcPts val="600"/>
              </a:spcAft>
              <a:buFont typeface="Arial" panose="020B0604020202020204" pitchFamily="34" charset="0"/>
              <a:buChar char="•"/>
            </a:pPr>
            <a:r>
              <a:rPr lang="en-US" sz="2000" dirty="0"/>
              <a:t>Participants were most vulnerable to sophisticated phishing attacks</a:t>
            </a:r>
          </a:p>
          <a:p>
            <a:pPr>
              <a:lnSpc>
                <a:spcPct val="90000"/>
              </a:lnSpc>
              <a:spcAft>
                <a:spcPts val="600"/>
              </a:spcAft>
            </a:pPr>
            <a:endParaRPr lang="en-US" sz="2000" dirty="0"/>
          </a:p>
          <a:p>
            <a:pPr marL="342900" indent="-342900">
              <a:lnSpc>
                <a:spcPct val="90000"/>
              </a:lnSpc>
              <a:spcAft>
                <a:spcPts val="600"/>
              </a:spcAft>
              <a:buFont typeface="Arial" panose="020B0604020202020204" pitchFamily="34" charset="0"/>
              <a:buChar char="•"/>
            </a:pPr>
            <a:r>
              <a:rPr lang="en-US" sz="2000" dirty="0"/>
              <a:t>Chess players’ training in pattern recognition and cognitive switching </a:t>
            </a:r>
            <a:r>
              <a:rPr lang="en-US" sz="2000" b="1" dirty="0"/>
              <a:t>may be </a:t>
            </a:r>
            <a:r>
              <a:rPr lang="en-US" sz="2000" dirty="0"/>
              <a:t>what helps bridge the gap</a:t>
            </a:r>
          </a:p>
          <a:p>
            <a:pPr marL="342900" indent="-342900">
              <a:lnSpc>
                <a:spcPct val="90000"/>
              </a:lnSpc>
              <a:spcAft>
                <a:spcPts val="600"/>
              </a:spcAft>
              <a:buFont typeface="Arial" panose="020B0604020202020204" pitchFamily="34" charset="0"/>
              <a:buChar char="•"/>
            </a:pPr>
            <a:endParaRPr lang="en-US" sz="2000" dirty="0"/>
          </a:p>
          <a:p>
            <a:pPr marL="342900" indent="-342900">
              <a:lnSpc>
                <a:spcPct val="90000"/>
              </a:lnSpc>
              <a:spcAft>
                <a:spcPts val="600"/>
              </a:spcAft>
              <a:buFont typeface="Arial" panose="020B0604020202020204" pitchFamily="34" charset="0"/>
              <a:buChar char="•"/>
            </a:pPr>
            <a:r>
              <a:rPr lang="en-US" sz="2000" dirty="0"/>
              <a:t>Chess players – more skeptical?</a:t>
            </a:r>
          </a:p>
          <a:p>
            <a:pPr marL="342900" indent="-342900">
              <a:lnSpc>
                <a:spcPct val="90000"/>
              </a:lnSpc>
              <a:spcAft>
                <a:spcPts val="600"/>
              </a:spcAft>
              <a:buFont typeface="Arial" panose="020B0604020202020204" pitchFamily="34" charset="0"/>
              <a:buChar char="•"/>
            </a:pPr>
            <a:endParaRPr lang="en-US" sz="2000" dirty="0"/>
          </a:p>
        </p:txBody>
      </p:sp>
      <p:sp>
        <p:nvSpPr>
          <p:cNvPr id="5" name="TextBox 4">
            <a:extLst>
              <a:ext uri="{FF2B5EF4-FFF2-40B4-BE49-F238E27FC236}">
                <a16:creationId xmlns:a16="http://schemas.microsoft.com/office/drawing/2014/main" id="{B0BEF372-1892-5124-4858-46C2D53E8D3A}"/>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endParaRPr lang="en-US" sz="2200" dirty="0"/>
          </a:p>
        </p:txBody>
      </p:sp>
    </p:spTree>
    <p:extLst>
      <p:ext uri="{BB962C8B-B14F-4D97-AF65-F5344CB8AC3E}">
        <p14:creationId xmlns:p14="http://schemas.microsoft.com/office/powerpoint/2010/main" val="4135936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A43BB0-B59E-8A5F-5717-039DAF44B189}"/>
            </a:ext>
          </a:extLst>
        </p:cNvPr>
        <p:cNvGrpSpPr/>
        <p:nvPr/>
      </p:nvGrpSpPr>
      <p:grpSpPr>
        <a:xfrm>
          <a:off x="0" y="0"/>
          <a:ext cx="0" cy="0"/>
          <a:chOff x="0" y="0"/>
          <a:chExt cx="0" cy="0"/>
        </a:xfrm>
      </p:grpSpPr>
      <p:sp useBgFill="1">
        <p:nvSpPr>
          <p:cNvPr id="48" name="Rectangle 4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4" name="Picture 43">
            <a:extLst>
              <a:ext uri="{FF2B5EF4-FFF2-40B4-BE49-F238E27FC236}">
                <a16:creationId xmlns:a16="http://schemas.microsoft.com/office/drawing/2014/main" id="{9A2F6F14-64F5-2BFF-C966-BC5473A13E78}"/>
              </a:ext>
            </a:extLst>
          </p:cNvPr>
          <p:cNvPicPr>
            <a:picLocks noChangeAspect="1"/>
          </p:cNvPicPr>
          <p:nvPr/>
        </p:nvPicPr>
        <p:blipFill>
          <a:blip r:embed="rId3"/>
          <a:srcRect r="20689"/>
          <a:stretch>
            <a:fillRect/>
          </a:stretch>
        </p:blipFill>
        <p:spPr>
          <a:xfrm>
            <a:off x="2522356" y="10"/>
            <a:ext cx="9669642" cy="6857990"/>
          </a:xfrm>
          <a:prstGeom prst="rect">
            <a:avLst/>
          </a:prstGeom>
        </p:spPr>
      </p:pic>
      <p:sp>
        <p:nvSpPr>
          <p:cNvPr id="50" name="Rectangle 4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B2FAFB97-0BE7-0775-2821-A5DDF01B8043}"/>
              </a:ext>
            </a:extLst>
          </p:cNvPr>
          <p:cNvSpPr txBox="1"/>
          <p:nvPr/>
        </p:nvSpPr>
        <p:spPr>
          <a:xfrm>
            <a:off x="838200" y="365125"/>
            <a:ext cx="3822189" cy="189991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a:latin typeface="+mj-lt"/>
                <a:ea typeface="+mj-ea"/>
                <a:cs typeface="+mj-cs"/>
              </a:rPr>
              <a:t>Interpretation</a:t>
            </a:r>
          </a:p>
        </p:txBody>
      </p:sp>
      <p:sp>
        <p:nvSpPr>
          <p:cNvPr id="3" name="TextBox 2">
            <a:extLst>
              <a:ext uri="{FF2B5EF4-FFF2-40B4-BE49-F238E27FC236}">
                <a16:creationId xmlns:a16="http://schemas.microsoft.com/office/drawing/2014/main" id="{C19403EB-94A7-4285-EE0E-EE84D55E54BA}"/>
              </a:ext>
            </a:extLst>
          </p:cNvPr>
          <p:cNvSpPr txBox="1"/>
          <p:nvPr/>
        </p:nvSpPr>
        <p:spPr>
          <a:xfrm>
            <a:off x="443345" y="1956219"/>
            <a:ext cx="4326082" cy="3742762"/>
          </a:xfrm>
          <a:prstGeom prst="rect">
            <a:avLst/>
          </a:prstGeom>
        </p:spPr>
        <p:txBody>
          <a:bodyPr vert="horz" lIns="91440" tIns="45720" rIns="91440" bIns="45720" rtlCol="0">
            <a:normAutofit/>
          </a:bodyPr>
          <a:lstStyle/>
          <a:p>
            <a:pPr>
              <a:lnSpc>
                <a:spcPct val="90000"/>
              </a:lnSpc>
              <a:spcAft>
                <a:spcPts val="600"/>
              </a:spcAft>
            </a:pPr>
            <a:endParaRPr lang="en-US" sz="2000" dirty="0"/>
          </a:p>
          <a:p>
            <a:pPr marL="342900" indent="-342900">
              <a:buFont typeface="Arial" panose="020B0604020202020204" pitchFamily="34" charset="0"/>
              <a:buChar char="•"/>
            </a:pPr>
            <a:r>
              <a:rPr lang="en-US" sz="2000" dirty="0"/>
              <a:t>Modern anti-phishing training is focused on training System 2</a:t>
            </a:r>
          </a:p>
          <a:p>
            <a:pPr marL="342900" indent="-342900">
              <a:buFont typeface="Arial" panose="020B0604020202020204" pitchFamily="34" charset="0"/>
              <a:buChar char="•"/>
            </a:pPr>
            <a:endParaRPr lang="en-US" sz="2000" dirty="0"/>
          </a:p>
          <a:p>
            <a:pPr marL="342900" indent="-342900">
              <a:buFont typeface="Arial" panose="020B0604020202020204" pitchFamily="34" charset="0"/>
              <a:buChar char="•"/>
            </a:pPr>
            <a:r>
              <a:rPr lang="en-US" sz="2000" dirty="0"/>
              <a:t>It may benefit from enhancing individuals’ ability to fluidly switch between fast cue recognition and slow cue evaluation</a:t>
            </a:r>
          </a:p>
        </p:txBody>
      </p:sp>
      <p:sp>
        <p:nvSpPr>
          <p:cNvPr id="5" name="TextBox 4">
            <a:extLst>
              <a:ext uri="{FF2B5EF4-FFF2-40B4-BE49-F238E27FC236}">
                <a16:creationId xmlns:a16="http://schemas.microsoft.com/office/drawing/2014/main" id="{7A11545C-9645-1804-22F9-E70C6E185DD9}"/>
              </a:ext>
            </a:extLst>
          </p:cNvPr>
          <p:cNvSpPr txBox="1"/>
          <p:nvPr/>
        </p:nvSpPr>
        <p:spPr>
          <a:xfrm>
            <a:off x="630936" y="2807208"/>
            <a:ext cx="3429000" cy="3410712"/>
          </a:xfrm>
          <a:prstGeom prst="rect">
            <a:avLst/>
          </a:prstGeom>
        </p:spPr>
        <p:txBody>
          <a:bodyPr vert="horz" lIns="91440" tIns="45720" rIns="91440" bIns="45720" rtlCol="0" anchor="t">
            <a:normAutofit/>
          </a:bodyPr>
          <a:lstStyle/>
          <a:p>
            <a:pPr>
              <a:lnSpc>
                <a:spcPct val="90000"/>
              </a:lnSpc>
              <a:spcAft>
                <a:spcPts val="600"/>
              </a:spcAft>
            </a:pPr>
            <a:endParaRPr lang="en-US" sz="2200" dirty="0"/>
          </a:p>
        </p:txBody>
      </p:sp>
    </p:spTree>
    <p:extLst>
      <p:ext uri="{BB962C8B-B14F-4D97-AF65-F5344CB8AC3E}">
        <p14:creationId xmlns:p14="http://schemas.microsoft.com/office/powerpoint/2010/main" val="2479544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389D3E0-BA02-41D3-B2AC-8FD6AA8939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CFA4CCD-4463-0225-438B-A47054FC6A7D}"/>
              </a:ext>
            </a:extLst>
          </p:cNvPr>
          <p:cNvSpPr txBox="1"/>
          <p:nvPr/>
        </p:nvSpPr>
        <p:spPr>
          <a:xfrm>
            <a:off x="1880754" y="-46860"/>
            <a:ext cx="10009909" cy="1739202"/>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5200" dirty="0">
                <a:latin typeface="+mj-lt"/>
                <a:ea typeface="+mj-ea"/>
                <a:cs typeface="+mj-cs"/>
              </a:rPr>
              <a:t>What exactly is Chess Training?</a:t>
            </a:r>
          </a:p>
        </p:txBody>
      </p:sp>
      <p:sp>
        <p:nvSpPr>
          <p:cNvPr id="12" name="TextBox 11">
            <a:extLst>
              <a:ext uri="{FF2B5EF4-FFF2-40B4-BE49-F238E27FC236}">
                <a16:creationId xmlns:a16="http://schemas.microsoft.com/office/drawing/2014/main" id="{503FCA29-83EB-9AA5-EBA7-DF760C6B1E76}"/>
              </a:ext>
            </a:extLst>
          </p:cNvPr>
          <p:cNvSpPr txBox="1"/>
          <p:nvPr/>
        </p:nvSpPr>
        <p:spPr>
          <a:xfrm>
            <a:off x="1194954" y="2296390"/>
            <a:ext cx="2524991" cy="461665"/>
          </a:xfrm>
          <a:prstGeom prst="rect">
            <a:avLst/>
          </a:prstGeom>
          <a:noFill/>
        </p:spPr>
        <p:txBody>
          <a:bodyPr wrap="square" rtlCol="0">
            <a:spAutoFit/>
          </a:bodyPr>
          <a:lstStyle/>
          <a:p>
            <a:r>
              <a:rPr lang="en-IE" sz="2400" dirty="0"/>
              <a:t>Chess Puzzles</a:t>
            </a:r>
          </a:p>
        </p:txBody>
      </p:sp>
      <p:pic>
        <p:nvPicPr>
          <p:cNvPr id="14" name="Picture 13">
            <a:extLst>
              <a:ext uri="{FF2B5EF4-FFF2-40B4-BE49-F238E27FC236}">
                <a16:creationId xmlns:a16="http://schemas.microsoft.com/office/drawing/2014/main" id="{B48B561F-DF7B-1BFB-B1A5-80542050FD11}"/>
              </a:ext>
            </a:extLst>
          </p:cNvPr>
          <p:cNvPicPr>
            <a:picLocks noChangeAspect="1"/>
          </p:cNvPicPr>
          <p:nvPr/>
        </p:nvPicPr>
        <p:blipFill>
          <a:blip r:embed="rId3"/>
          <a:stretch>
            <a:fillRect/>
          </a:stretch>
        </p:blipFill>
        <p:spPr>
          <a:xfrm>
            <a:off x="967341" y="2920635"/>
            <a:ext cx="2622255" cy="3228618"/>
          </a:xfrm>
          <a:prstGeom prst="rect">
            <a:avLst/>
          </a:prstGeom>
        </p:spPr>
      </p:pic>
      <p:sp>
        <p:nvSpPr>
          <p:cNvPr id="15" name="TextBox 14">
            <a:extLst>
              <a:ext uri="{FF2B5EF4-FFF2-40B4-BE49-F238E27FC236}">
                <a16:creationId xmlns:a16="http://schemas.microsoft.com/office/drawing/2014/main" id="{2B96547F-A95C-59AB-B17F-01397E319C18}"/>
              </a:ext>
            </a:extLst>
          </p:cNvPr>
          <p:cNvSpPr txBox="1"/>
          <p:nvPr/>
        </p:nvSpPr>
        <p:spPr>
          <a:xfrm>
            <a:off x="4134951" y="2296390"/>
            <a:ext cx="2447060" cy="461665"/>
          </a:xfrm>
          <a:prstGeom prst="rect">
            <a:avLst/>
          </a:prstGeom>
          <a:noFill/>
        </p:spPr>
        <p:txBody>
          <a:bodyPr wrap="square" rtlCol="0">
            <a:spAutoFit/>
          </a:bodyPr>
          <a:lstStyle/>
          <a:p>
            <a:r>
              <a:rPr lang="en-IE" sz="2400" dirty="0"/>
              <a:t>Blindfold training</a:t>
            </a:r>
          </a:p>
        </p:txBody>
      </p:sp>
      <p:pic>
        <p:nvPicPr>
          <p:cNvPr id="17" name="Picture 16">
            <a:extLst>
              <a:ext uri="{FF2B5EF4-FFF2-40B4-BE49-F238E27FC236}">
                <a16:creationId xmlns:a16="http://schemas.microsoft.com/office/drawing/2014/main" id="{77D01A27-EB60-FABC-B60B-6E625492BBFA}"/>
              </a:ext>
            </a:extLst>
          </p:cNvPr>
          <p:cNvPicPr>
            <a:picLocks noChangeAspect="1"/>
          </p:cNvPicPr>
          <p:nvPr/>
        </p:nvPicPr>
        <p:blipFill>
          <a:blip r:embed="rId4"/>
          <a:stretch>
            <a:fillRect/>
          </a:stretch>
        </p:blipFill>
        <p:spPr>
          <a:xfrm>
            <a:off x="4134951" y="3523409"/>
            <a:ext cx="2622255" cy="1259823"/>
          </a:xfrm>
          <a:prstGeom prst="rect">
            <a:avLst/>
          </a:prstGeom>
        </p:spPr>
      </p:pic>
      <p:sp>
        <p:nvSpPr>
          <p:cNvPr id="18" name="TextBox 17">
            <a:extLst>
              <a:ext uri="{FF2B5EF4-FFF2-40B4-BE49-F238E27FC236}">
                <a16:creationId xmlns:a16="http://schemas.microsoft.com/office/drawing/2014/main" id="{F215E6D6-D62D-FB1B-0358-1CFDD02BA52F}"/>
              </a:ext>
            </a:extLst>
          </p:cNvPr>
          <p:cNvSpPr txBox="1"/>
          <p:nvPr/>
        </p:nvSpPr>
        <p:spPr>
          <a:xfrm>
            <a:off x="4841814" y="4783232"/>
            <a:ext cx="1916916" cy="276999"/>
          </a:xfrm>
          <a:prstGeom prst="rect">
            <a:avLst/>
          </a:prstGeom>
          <a:noFill/>
        </p:spPr>
        <p:txBody>
          <a:bodyPr wrap="square" rtlCol="0">
            <a:spAutoFit/>
          </a:bodyPr>
          <a:lstStyle/>
          <a:p>
            <a:r>
              <a:rPr lang="en-IE" sz="1200" dirty="0" err="1"/>
              <a:t>Credit:chess-teacher.com</a:t>
            </a:r>
            <a:endParaRPr lang="en-IE" sz="1200" dirty="0"/>
          </a:p>
        </p:txBody>
      </p:sp>
      <p:sp>
        <p:nvSpPr>
          <p:cNvPr id="19" name="TextBox 18">
            <a:extLst>
              <a:ext uri="{FF2B5EF4-FFF2-40B4-BE49-F238E27FC236}">
                <a16:creationId xmlns:a16="http://schemas.microsoft.com/office/drawing/2014/main" id="{0B3E4CC0-00F8-1971-55B0-4EE72C06D67B}"/>
              </a:ext>
            </a:extLst>
          </p:cNvPr>
          <p:cNvSpPr txBox="1"/>
          <p:nvPr/>
        </p:nvSpPr>
        <p:spPr>
          <a:xfrm>
            <a:off x="7472818" y="2296390"/>
            <a:ext cx="4194488" cy="461665"/>
          </a:xfrm>
          <a:prstGeom prst="rect">
            <a:avLst/>
          </a:prstGeom>
          <a:noFill/>
        </p:spPr>
        <p:txBody>
          <a:bodyPr wrap="square" rtlCol="0">
            <a:spAutoFit/>
          </a:bodyPr>
          <a:lstStyle/>
          <a:p>
            <a:r>
              <a:rPr lang="en-IE" sz="2400" dirty="0"/>
              <a:t>Simultaneous Exhibitions</a:t>
            </a:r>
          </a:p>
        </p:txBody>
      </p:sp>
      <p:pic>
        <p:nvPicPr>
          <p:cNvPr id="21" name="Picture 20">
            <a:extLst>
              <a:ext uri="{FF2B5EF4-FFF2-40B4-BE49-F238E27FC236}">
                <a16:creationId xmlns:a16="http://schemas.microsoft.com/office/drawing/2014/main" id="{D4726A33-5449-B43E-A386-288404102F51}"/>
              </a:ext>
            </a:extLst>
          </p:cNvPr>
          <p:cNvPicPr>
            <a:picLocks noChangeAspect="1"/>
          </p:cNvPicPr>
          <p:nvPr/>
        </p:nvPicPr>
        <p:blipFill>
          <a:blip r:embed="rId5"/>
          <a:stretch>
            <a:fillRect/>
          </a:stretch>
        </p:blipFill>
        <p:spPr>
          <a:xfrm>
            <a:off x="7597508" y="2890230"/>
            <a:ext cx="3389070" cy="2412041"/>
          </a:xfrm>
          <a:prstGeom prst="rect">
            <a:avLst/>
          </a:prstGeom>
        </p:spPr>
      </p:pic>
      <p:sp>
        <p:nvSpPr>
          <p:cNvPr id="22" name="TextBox 21">
            <a:extLst>
              <a:ext uri="{FF2B5EF4-FFF2-40B4-BE49-F238E27FC236}">
                <a16:creationId xmlns:a16="http://schemas.microsoft.com/office/drawing/2014/main" id="{7FFED783-0A46-2E40-0791-186FCD70F4E2}"/>
              </a:ext>
            </a:extLst>
          </p:cNvPr>
          <p:cNvSpPr txBox="1"/>
          <p:nvPr/>
        </p:nvSpPr>
        <p:spPr>
          <a:xfrm>
            <a:off x="6967518" y="5302271"/>
            <a:ext cx="5335318" cy="276999"/>
          </a:xfrm>
          <a:prstGeom prst="rect">
            <a:avLst/>
          </a:prstGeom>
          <a:noFill/>
        </p:spPr>
        <p:txBody>
          <a:bodyPr wrap="square" rtlCol="0">
            <a:spAutoFit/>
          </a:bodyPr>
          <a:lstStyle/>
          <a:p>
            <a:r>
              <a:rPr lang="en-US" sz="1200" dirty="0"/>
              <a:t>World Champion Bobby Fischer, playing a Simul against 50 opponents</a:t>
            </a:r>
            <a:endParaRPr lang="en-IE" sz="1200" dirty="0"/>
          </a:p>
        </p:txBody>
      </p:sp>
    </p:spTree>
    <p:extLst>
      <p:ext uri="{BB962C8B-B14F-4D97-AF65-F5344CB8AC3E}">
        <p14:creationId xmlns:p14="http://schemas.microsoft.com/office/powerpoint/2010/main" val="14138109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F2200A-6A8B-A587-115B-DDD6CD899333}"/>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CFEF8B7-30BB-3A1B-3CBE-5D766B2168E2}"/>
              </a:ext>
            </a:extLst>
          </p:cNvPr>
          <p:cNvSpPr txBox="1"/>
          <p:nvPr/>
        </p:nvSpPr>
        <p:spPr>
          <a:xfrm>
            <a:off x="517398" y="674833"/>
            <a:ext cx="9031847" cy="2416510"/>
          </a:xfrm>
          <a:prstGeom prst="rect">
            <a:avLst/>
          </a:prstGeom>
        </p:spPr>
        <p:txBody>
          <a:bodyPr vert="horz" lIns="91440" tIns="45720" rIns="91440" bIns="45720" rtlCol="0">
            <a:normAutofit/>
          </a:bodyPr>
          <a:lstStyle/>
          <a:p>
            <a:pPr>
              <a:lnSpc>
                <a:spcPct val="90000"/>
              </a:lnSpc>
              <a:spcBef>
                <a:spcPct val="0"/>
              </a:spcBef>
              <a:spcAft>
                <a:spcPts val="600"/>
              </a:spcAft>
            </a:pPr>
            <a:r>
              <a:rPr lang="en-US" sz="5100" dirty="0"/>
              <a:t>Back to my question…</a:t>
            </a:r>
          </a:p>
          <a:p>
            <a:pPr indent="-228600">
              <a:lnSpc>
                <a:spcPct val="90000"/>
              </a:lnSpc>
              <a:spcBef>
                <a:spcPct val="0"/>
              </a:spcBef>
              <a:spcAft>
                <a:spcPts val="600"/>
              </a:spcAft>
              <a:buFont typeface="Arial" panose="020B0604020202020204" pitchFamily="34" charset="0"/>
              <a:buChar char="•"/>
            </a:pPr>
            <a:endParaRPr lang="en-US" sz="2200" dirty="0"/>
          </a:p>
          <a:p>
            <a:pPr indent="-228600">
              <a:lnSpc>
                <a:spcPct val="90000"/>
              </a:lnSpc>
              <a:spcBef>
                <a:spcPct val="0"/>
              </a:spcBef>
              <a:spcAft>
                <a:spcPts val="600"/>
              </a:spcAft>
              <a:buFont typeface="Arial" panose="020B0604020202020204" pitchFamily="34" charset="0"/>
              <a:buChar char="•"/>
            </a:pPr>
            <a:endParaRPr lang="en-US" sz="2200" dirty="0"/>
          </a:p>
        </p:txBody>
      </p:sp>
      <p:sp>
        <p:nvSpPr>
          <p:cNvPr id="2" name="TextBox 1">
            <a:extLst>
              <a:ext uri="{FF2B5EF4-FFF2-40B4-BE49-F238E27FC236}">
                <a16:creationId xmlns:a16="http://schemas.microsoft.com/office/drawing/2014/main" id="{1A8BB794-0665-08D0-93B7-CFB2C7D273F0}"/>
              </a:ext>
            </a:extLst>
          </p:cNvPr>
          <p:cNvSpPr txBox="1"/>
          <p:nvPr/>
        </p:nvSpPr>
        <p:spPr>
          <a:xfrm>
            <a:off x="1839191" y="2586141"/>
            <a:ext cx="9424000" cy="2360070"/>
          </a:xfrm>
          <a:prstGeom prst="rect">
            <a:avLst/>
          </a:prstGeom>
          <a:noFill/>
        </p:spPr>
        <p:txBody>
          <a:bodyPr wrap="square" rtlCol="0">
            <a:spAutoFit/>
          </a:bodyPr>
          <a:lstStyle/>
          <a:p>
            <a:pPr indent="-228600">
              <a:lnSpc>
                <a:spcPct val="90000"/>
              </a:lnSpc>
              <a:spcBef>
                <a:spcPct val="0"/>
              </a:spcBef>
              <a:spcAft>
                <a:spcPts val="600"/>
              </a:spcAft>
              <a:buFont typeface="Arial" panose="020B0604020202020204" pitchFamily="34" charset="0"/>
              <a:buChar char="•"/>
            </a:pPr>
            <a:endParaRPr lang="en-US" dirty="0"/>
          </a:p>
          <a:p>
            <a:pPr>
              <a:lnSpc>
                <a:spcPct val="90000"/>
              </a:lnSpc>
            </a:pPr>
            <a:r>
              <a:rPr lang="en-US" sz="2800" b="1" dirty="0">
                <a:highlight>
                  <a:srgbClr val="FFFF00"/>
                </a:highlight>
              </a:rPr>
              <a:t>What other cybersecurity professionals engage both systems under pressure…</a:t>
            </a:r>
          </a:p>
          <a:p>
            <a:pPr indent="-228600">
              <a:lnSpc>
                <a:spcPct val="90000"/>
              </a:lnSpc>
              <a:buFont typeface="Arial" panose="020B0604020202020204" pitchFamily="34" charset="0"/>
              <a:buChar char="•"/>
            </a:pPr>
            <a:endParaRPr lang="en-US" sz="2800" dirty="0"/>
          </a:p>
          <a:p>
            <a:pPr marL="342900" indent="-228600">
              <a:lnSpc>
                <a:spcPct val="90000"/>
              </a:lnSpc>
              <a:buFont typeface="Arial" panose="020B0604020202020204" pitchFamily="34" charset="0"/>
              <a:buChar char="•"/>
            </a:pPr>
            <a:r>
              <a:rPr lang="en-US" sz="2800" dirty="0"/>
              <a:t>Quick pattern recognition</a:t>
            </a:r>
          </a:p>
          <a:p>
            <a:pPr marL="342900" indent="-228600">
              <a:lnSpc>
                <a:spcPct val="90000"/>
              </a:lnSpc>
              <a:buFont typeface="Arial" panose="020B0604020202020204" pitchFamily="34" charset="0"/>
              <a:buChar char="•"/>
            </a:pPr>
            <a:r>
              <a:rPr lang="en-US" sz="2800" dirty="0"/>
              <a:t>Deliberate analysis</a:t>
            </a:r>
          </a:p>
        </p:txBody>
      </p:sp>
    </p:spTree>
    <p:extLst>
      <p:ext uri="{BB962C8B-B14F-4D97-AF65-F5344CB8AC3E}">
        <p14:creationId xmlns:p14="http://schemas.microsoft.com/office/powerpoint/2010/main" val="10248818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CDFFF57-5A63-85CB-3F39-38E62374C916}"/>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83F370F4-5488-EEB5-57BC-89793B6DB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ketch line">
            <a:extLst>
              <a:ext uri="{FF2B5EF4-FFF2-40B4-BE49-F238E27FC236}">
                <a16:creationId xmlns:a16="http://schemas.microsoft.com/office/drawing/2014/main" id="{C24F59F2-480B-0B54-11B1-3BEFD56C7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427D77-C4C4-122D-806F-79582B1A3949}"/>
              </a:ext>
            </a:extLst>
          </p:cNvPr>
          <p:cNvSpPr txBox="1"/>
          <p:nvPr/>
        </p:nvSpPr>
        <p:spPr>
          <a:xfrm>
            <a:off x="517398" y="674833"/>
            <a:ext cx="9031847" cy="2416510"/>
          </a:xfrm>
          <a:prstGeom prst="rect">
            <a:avLst/>
          </a:prstGeom>
        </p:spPr>
        <p:txBody>
          <a:bodyPr vert="horz" lIns="91440" tIns="45720" rIns="91440" bIns="45720" rtlCol="0">
            <a:normAutofit/>
          </a:bodyPr>
          <a:lstStyle/>
          <a:p>
            <a:pPr>
              <a:lnSpc>
                <a:spcPct val="90000"/>
              </a:lnSpc>
              <a:spcBef>
                <a:spcPct val="0"/>
              </a:spcBef>
              <a:spcAft>
                <a:spcPts val="600"/>
              </a:spcAft>
            </a:pPr>
            <a:r>
              <a:rPr lang="en-US" sz="5100" dirty="0"/>
              <a:t>Back to my question…</a:t>
            </a:r>
          </a:p>
          <a:p>
            <a:pPr indent="-228600">
              <a:lnSpc>
                <a:spcPct val="90000"/>
              </a:lnSpc>
              <a:spcBef>
                <a:spcPct val="0"/>
              </a:spcBef>
              <a:spcAft>
                <a:spcPts val="600"/>
              </a:spcAft>
              <a:buFont typeface="Arial" panose="020B0604020202020204" pitchFamily="34" charset="0"/>
              <a:buChar char="•"/>
            </a:pPr>
            <a:endParaRPr lang="en-US" sz="2200" dirty="0"/>
          </a:p>
          <a:p>
            <a:pPr indent="-228600">
              <a:lnSpc>
                <a:spcPct val="90000"/>
              </a:lnSpc>
              <a:spcBef>
                <a:spcPct val="0"/>
              </a:spcBef>
              <a:spcAft>
                <a:spcPts val="600"/>
              </a:spcAft>
              <a:buFont typeface="Arial" panose="020B0604020202020204" pitchFamily="34" charset="0"/>
              <a:buChar char="•"/>
            </a:pPr>
            <a:endParaRPr lang="en-US" sz="2200" dirty="0"/>
          </a:p>
        </p:txBody>
      </p:sp>
      <p:sp>
        <p:nvSpPr>
          <p:cNvPr id="2" name="TextBox 1">
            <a:extLst>
              <a:ext uri="{FF2B5EF4-FFF2-40B4-BE49-F238E27FC236}">
                <a16:creationId xmlns:a16="http://schemas.microsoft.com/office/drawing/2014/main" id="{1CD7C34F-AE84-C777-DE6F-82F523F113BF}"/>
              </a:ext>
            </a:extLst>
          </p:cNvPr>
          <p:cNvSpPr txBox="1"/>
          <p:nvPr/>
        </p:nvSpPr>
        <p:spPr>
          <a:xfrm>
            <a:off x="1839191" y="2586141"/>
            <a:ext cx="9424000" cy="3135667"/>
          </a:xfrm>
          <a:prstGeom prst="rect">
            <a:avLst/>
          </a:prstGeom>
          <a:noFill/>
        </p:spPr>
        <p:txBody>
          <a:bodyPr wrap="square" rtlCol="0">
            <a:spAutoFit/>
          </a:bodyPr>
          <a:lstStyle/>
          <a:p>
            <a:pPr indent="-228600">
              <a:lnSpc>
                <a:spcPct val="90000"/>
              </a:lnSpc>
              <a:spcBef>
                <a:spcPct val="0"/>
              </a:spcBef>
              <a:spcAft>
                <a:spcPts val="600"/>
              </a:spcAft>
              <a:buFont typeface="Arial" panose="020B0604020202020204" pitchFamily="34" charset="0"/>
              <a:buChar char="•"/>
            </a:pPr>
            <a:endParaRPr lang="en-US" dirty="0"/>
          </a:p>
          <a:p>
            <a:pPr>
              <a:lnSpc>
                <a:spcPct val="90000"/>
              </a:lnSpc>
            </a:pPr>
            <a:r>
              <a:rPr lang="en-US" sz="2800" b="1" dirty="0">
                <a:highlight>
                  <a:srgbClr val="FFFF00"/>
                </a:highlight>
              </a:rPr>
              <a:t>What other cybersecurity professionals engage both systems under pressure…</a:t>
            </a:r>
          </a:p>
          <a:p>
            <a:pPr indent="-228600">
              <a:lnSpc>
                <a:spcPct val="90000"/>
              </a:lnSpc>
              <a:buFont typeface="Arial" panose="020B0604020202020204" pitchFamily="34" charset="0"/>
              <a:buChar char="•"/>
            </a:pPr>
            <a:endParaRPr lang="en-US" sz="2800" dirty="0"/>
          </a:p>
          <a:p>
            <a:pPr marL="342900" indent="-228600">
              <a:lnSpc>
                <a:spcPct val="90000"/>
              </a:lnSpc>
              <a:buFont typeface="Arial" panose="020B0604020202020204" pitchFamily="34" charset="0"/>
              <a:buChar char="•"/>
            </a:pPr>
            <a:r>
              <a:rPr lang="en-US" sz="2800" dirty="0"/>
              <a:t>Their job is cognitively similar to solving multiple chess puzzles simultaneously</a:t>
            </a:r>
          </a:p>
          <a:p>
            <a:pPr marL="342900" indent="-228600">
              <a:lnSpc>
                <a:spcPct val="90000"/>
              </a:lnSpc>
              <a:buFont typeface="Arial" panose="020B0604020202020204" pitchFamily="34" charset="0"/>
              <a:buChar char="•"/>
            </a:pPr>
            <a:r>
              <a:rPr lang="en-US" sz="2800" dirty="0"/>
              <a:t>OR playing a very long, 8h game of chess a day, everyday, for the rest of their days!</a:t>
            </a:r>
          </a:p>
        </p:txBody>
      </p:sp>
    </p:spTree>
    <p:extLst>
      <p:ext uri="{BB962C8B-B14F-4D97-AF65-F5344CB8AC3E}">
        <p14:creationId xmlns:p14="http://schemas.microsoft.com/office/powerpoint/2010/main" val="153970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A70A35C-AA1E-4BBA-2FDB-8405E330056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140EAF3-E7D5-CE01-E124-7011EC6CF3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sketch line">
            <a:extLst>
              <a:ext uri="{FF2B5EF4-FFF2-40B4-BE49-F238E27FC236}">
                <a16:creationId xmlns:a16="http://schemas.microsoft.com/office/drawing/2014/main" id="{F55B910F-3A4D-D68A-DC9C-0A40CB8F4B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2D943B1-C3C9-98E2-DA6A-32F7D6C45726}"/>
              </a:ext>
            </a:extLst>
          </p:cNvPr>
          <p:cNvSpPr txBox="1"/>
          <p:nvPr/>
        </p:nvSpPr>
        <p:spPr>
          <a:xfrm>
            <a:off x="517398" y="674833"/>
            <a:ext cx="9031847" cy="2416510"/>
          </a:xfrm>
          <a:prstGeom prst="rect">
            <a:avLst/>
          </a:prstGeom>
        </p:spPr>
        <p:txBody>
          <a:bodyPr vert="horz" lIns="91440" tIns="45720" rIns="91440" bIns="45720" rtlCol="0">
            <a:normAutofit/>
          </a:bodyPr>
          <a:lstStyle/>
          <a:p>
            <a:pPr>
              <a:lnSpc>
                <a:spcPct val="90000"/>
              </a:lnSpc>
              <a:spcBef>
                <a:spcPct val="0"/>
              </a:spcBef>
              <a:spcAft>
                <a:spcPts val="600"/>
              </a:spcAft>
            </a:pPr>
            <a:r>
              <a:rPr lang="en-US" sz="5100" dirty="0"/>
              <a:t>The Answer</a:t>
            </a:r>
          </a:p>
          <a:p>
            <a:pPr indent="-228600">
              <a:lnSpc>
                <a:spcPct val="90000"/>
              </a:lnSpc>
              <a:spcBef>
                <a:spcPct val="0"/>
              </a:spcBef>
              <a:spcAft>
                <a:spcPts val="600"/>
              </a:spcAft>
              <a:buFont typeface="Arial" panose="020B0604020202020204" pitchFamily="34" charset="0"/>
              <a:buChar char="•"/>
            </a:pPr>
            <a:endParaRPr lang="en-US" sz="2200" dirty="0"/>
          </a:p>
          <a:p>
            <a:pPr indent="-228600">
              <a:lnSpc>
                <a:spcPct val="90000"/>
              </a:lnSpc>
              <a:spcBef>
                <a:spcPct val="0"/>
              </a:spcBef>
              <a:spcAft>
                <a:spcPts val="600"/>
              </a:spcAft>
              <a:buFont typeface="Arial" panose="020B0604020202020204" pitchFamily="34" charset="0"/>
              <a:buChar char="•"/>
            </a:pPr>
            <a:endParaRPr lang="en-US" sz="2200" dirty="0"/>
          </a:p>
        </p:txBody>
      </p:sp>
      <p:sp>
        <p:nvSpPr>
          <p:cNvPr id="2" name="TextBox 1">
            <a:extLst>
              <a:ext uri="{FF2B5EF4-FFF2-40B4-BE49-F238E27FC236}">
                <a16:creationId xmlns:a16="http://schemas.microsoft.com/office/drawing/2014/main" id="{E5BCE4EE-5ACC-6EFE-4CD4-ADE9277A24C7}"/>
              </a:ext>
            </a:extLst>
          </p:cNvPr>
          <p:cNvSpPr txBox="1"/>
          <p:nvPr/>
        </p:nvSpPr>
        <p:spPr>
          <a:xfrm>
            <a:off x="820674" y="1916594"/>
            <a:ext cx="10853928" cy="4179606"/>
          </a:xfrm>
          <a:prstGeom prst="rect">
            <a:avLst/>
          </a:prstGeom>
          <a:noFill/>
        </p:spPr>
        <p:txBody>
          <a:bodyPr wrap="square" rtlCol="0">
            <a:spAutoFit/>
          </a:bodyPr>
          <a:lstStyle/>
          <a:p>
            <a:pPr indent="-228600">
              <a:lnSpc>
                <a:spcPct val="90000"/>
              </a:lnSpc>
              <a:spcBef>
                <a:spcPct val="0"/>
              </a:spcBef>
              <a:spcAft>
                <a:spcPts val="600"/>
              </a:spcAft>
              <a:buFont typeface="Arial" panose="020B0604020202020204" pitchFamily="34" charset="0"/>
              <a:buChar char="•"/>
            </a:pPr>
            <a:endParaRPr lang="en-US" dirty="0"/>
          </a:p>
          <a:p>
            <a:pPr marL="342900" indent="-228600">
              <a:lnSpc>
                <a:spcPct val="90000"/>
              </a:lnSpc>
              <a:buFont typeface="Arial" panose="020B0604020202020204" pitchFamily="34" charset="0"/>
              <a:buChar char="•"/>
            </a:pPr>
            <a:r>
              <a:rPr lang="en-US" sz="2800" b="1" dirty="0">
                <a:highlight>
                  <a:srgbClr val="FFFF00"/>
                </a:highlight>
              </a:rPr>
              <a:t>SOC analysts face similar cognitive pressure and information overload</a:t>
            </a:r>
          </a:p>
          <a:p>
            <a:pPr indent="-228600">
              <a:lnSpc>
                <a:spcPct val="90000"/>
              </a:lnSpc>
              <a:buFont typeface="Arial" panose="020B0604020202020204" pitchFamily="34" charset="0"/>
              <a:buChar char="•"/>
            </a:pPr>
            <a:endParaRPr lang="en-US" sz="2000" dirty="0"/>
          </a:p>
          <a:p>
            <a:r>
              <a:rPr lang="en-US" sz="2000" dirty="0"/>
              <a:t>Previous studies (Ahmed et al., 2022; Dykstra &amp; Paul, 2018; Kearney et al., 2023, </a:t>
            </a:r>
            <a:r>
              <a:rPr lang="en-US" sz="2000" dirty="0" err="1"/>
              <a:t>Mizrak</a:t>
            </a:r>
            <a:r>
              <a:rPr lang="en-US" sz="2000" dirty="0"/>
              <a:t> et al., 2025) highlight cognitive fatigue as a core challenge in cybersecurity operations…</a:t>
            </a:r>
          </a:p>
          <a:p>
            <a:endParaRPr lang="en-US" sz="2800" dirty="0"/>
          </a:p>
          <a:p>
            <a:r>
              <a:rPr lang="en-US" sz="2000" dirty="0"/>
              <a:t>Although a substantial body of research exists on SOC operations technology and on human factors individually, there is a lack of studies that integrate these two dimensions.</a:t>
            </a:r>
          </a:p>
          <a:p>
            <a:endParaRPr lang="en-US" sz="2000" dirty="0"/>
          </a:p>
          <a:p>
            <a:r>
              <a:rPr lang="en-US" sz="2000" i="1" dirty="0"/>
              <a:t>Interesting read: “</a:t>
            </a:r>
            <a:r>
              <a:rPr lang="en-US" i="1" dirty="0"/>
              <a:t>Tools Make Me Snore: A Next-Gen Framework for </a:t>
            </a:r>
            <a:r>
              <a:rPr lang="en-IE" i="1" dirty="0"/>
              <a:t>Training SOC Analysts Non-Perishable Skills”, Hahn et al., 2025</a:t>
            </a:r>
            <a:endParaRPr lang="en-US" sz="2800" i="1" dirty="0"/>
          </a:p>
        </p:txBody>
      </p:sp>
    </p:spTree>
    <p:extLst>
      <p:ext uri="{BB962C8B-B14F-4D97-AF65-F5344CB8AC3E}">
        <p14:creationId xmlns:p14="http://schemas.microsoft.com/office/powerpoint/2010/main" val="93637705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6269412-9672-E9AE-2E22-74714A91637A}"/>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C240FCB-77D7-537E-4641-5F2FA5319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4AA1B856-7516-F161-EA7E-6B099E0BFC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341FEFCC-DFC4-A4F5-EED5-F0B002A2AD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3" y="623275"/>
            <a:ext cx="401217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6D0C7B-617D-8EEC-D9A5-09A62D6616C1}"/>
              </a:ext>
            </a:extLst>
          </p:cNvPr>
          <p:cNvSpPr>
            <a:spLocks noGrp="1"/>
          </p:cNvSpPr>
          <p:nvPr>
            <p:ph type="title"/>
          </p:nvPr>
        </p:nvSpPr>
        <p:spPr>
          <a:xfrm>
            <a:off x="8052497" y="1056640"/>
            <a:ext cx="3197660" cy="3125746"/>
          </a:xfrm>
        </p:spPr>
        <p:txBody>
          <a:bodyPr vert="horz" lIns="91440" tIns="45720" rIns="91440" bIns="45720" rtlCol="0" anchor="b">
            <a:normAutofit/>
          </a:bodyPr>
          <a:lstStyle/>
          <a:p>
            <a:r>
              <a:rPr lang="en-US" sz="7200" kern="1200" dirty="0">
                <a:solidFill>
                  <a:schemeClr val="tx1"/>
                </a:solidFill>
                <a:latin typeface="+mj-lt"/>
                <a:ea typeface="+mj-ea"/>
                <a:cs typeface="+mj-cs"/>
              </a:rPr>
              <a:t>Dual Process Theory</a:t>
            </a:r>
          </a:p>
        </p:txBody>
      </p:sp>
      <p:sp>
        <p:nvSpPr>
          <p:cNvPr id="3" name="TextBox 2">
            <a:extLst>
              <a:ext uri="{FF2B5EF4-FFF2-40B4-BE49-F238E27FC236}">
                <a16:creationId xmlns:a16="http://schemas.microsoft.com/office/drawing/2014/main" id="{5377BB2A-F838-5C54-34A0-D818B3675982}"/>
              </a:ext>
            </a:extLst>
          </p:cNvPr>
          <p:cNvSpPr txBox="1"/>
          <p:nvPr/>
        </p:nvSpPr>
        <p:spPr>
          <a:xfrm>
            <a:off x="509155" y="789709"/>
            <a:ext cx="3138054" cy="4893647"/>
          </a:xfrm>
          <a:prstGeom prst="rect">
            <a:avLst/>
          </a:prstGeom>
          <a:noFill/>
        </p:spPr>
        <p:txBody>
          <a:bodyPr wrap="square" rtlCol="0">
            <a:spAutoFit/>
          </a:bodyPr>
          <a:lstStyle/>
          <a:p>
            <a:r>
              <a:rPr lang="en-IE" sz="2400" b="1" dirty="0"/>
              <a:t>Chess</a:t>
            </a:r>
          </a:p>
          <a:p>
            <a:endParaRPr lang="en-IE" sz="2400" dirty="0"/>
          </a:p>
          <a:p>
            <a:r>
              <a:rPr lang="en-IE" sz="2400" b="1" i="1" dirty="0"/>
              <a:t>System 1 </a:t>
            </a:r>
          </a:p>
          <a:p>
            <a:r>
              <a:rPr lang="en-IE" sz="2400" dirty="0"/>
              <a:t>“That pawn move looks familiar, probably a Queen’s Gambit”.</a:t>
            </a:r>
          </a:p>
          <a:p>
            <a:endParaRPr lang="en-IE" sz="2400" dirty="0"/>
          </a:p>
          <a:p>
            <a:r>
              <a:rPr lang="en-IE" sz="2400" b="1" i="1" dirty="0"/>
              <a:t>System 2 </a:t>
            </a:r>
          </a:p>
          <a:p>
            <a:r>
              <a:rPr lang="en-IE" sz="2400" dirty="0"/>
              <a:t>“Wait… if I accept the gambit, I lose tempo and weaken my King side. Better decline it.”</a:t>
            </a:r>
          </a:p>
        </p:txBody>
      </p:sp>
      <p:sp>
        <p:nvSpPr>
          <p:cNvPr id="8" name="TextBox 7">
            <a:extLst>
              <a:ext uri="{FF2B5EF4-FFF2-40B4-BE49-F238E27FC236}">
                <a16:creationId xmlns:a16="http://schemas.microsoft.com/office/drawing/2014/main" id="{214CDC8F-301F-0F3B-5F3A-EAC7E2334429}"/>
              </a:ext>
            </a:extLst>
          </p:cNvPr>
          <p:cNvSpPr txBox="1"/>
          <p:nvPr/>
        </p:nvSpPr>
        <p:spPr>
          <a:xfrm>
            <a:off x="4080831" y="789709"/>
            <a:ext cx="3130381" cy="5262979"/>
          </a:xfrm>
          <a:prstGeom prst="rect">
            <a:avLst/>
          </a:prstGeom>
          <a:noFill/>
        </p:spPr>
        <p:txBody>
          <a:bodyPr wrap="square" rtlCol="0">
            <a:spAutoFit/>
          </a:bodyPr>
          <a:lstStyle/>
          <a:p>
            <a:r>
              <a:rPr lang="en-IE" sz="2400" b="1" dirty="0"/>
              <a:t>SOC Analysts</a:t>
            </a:r>
          </a:p>
          <a:p>
            <a:endParaRPr lang="en-IE" sz="2400" dirty="0"/>
          </a:p>
          <a:p>
            <a:r>
              <a:rPr lang="en-IE" sz="2400" b="1" i="1" dirty="0"/>
              <a:t>System 1 </a:t>
            </a:r>
          </a:p>
          <a:p>
            <a:r>
              <a:rPr lang="en-US" sz="2400" dirty="0"/>
              <a:t>Glancing at an alert and instantly flagging it as benign or suspicious based on past experience.</a:t>
            </a:r>
            <a:endParaRPr lang="en-IE" sz="2400" dirty="0"/>
          </a:p>
          <a:p>
            <a:r>
              <a:rPr lang="en-IE" sz="2400" b="1" i="1" dirty="0"/>
              <a:t>System 2 </a:t>
            </a:r>
          </a:p>
          <a:p>
            <a:r>
              <a:rPr lang="en-US" sz="2400" dirty="0"/>
              <a:t>Cross-checking indicators with threat intelligence feeds or writing correlation rules.</a:t>
            </a:r>
            <a:endParaRPr lang="en-IE" sz="2400" dirty="0"/>
          </a:p>
        </p:txBody>
      </p:sp>
    </p:spTree>
    <p:extLst>
      <p:ext uri="{BB962C8B-B14F-4D97-AF65-F5344CB8AC3E}">
        <p14:creationId xmlns:p14="http://schemas.microsoft.com/office/powerpoint/2010/main" val="715415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C3E03F2-FD86-C96B-5E8C-FF46229BA353}"/>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a:solidFill>
                  <a:schemeClr val="tx1"/>
                </a:solidFill>
                <a:latin typeface="+mj-lt"/>
                <a:ea typeface="+mj-ea"/>
                <a:cs typeface="+mj-cs"/>
              </a:rPr>
              <a:t>Future Work – upcoming PhD</a:t>
            </a:r>
          </a:p>
        </p:txBody>
      </p:sp>
      <p:sp>
        <p:nvSpPr>
          <p:cNvPr id="19"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8B596D0-60EA-5D41-3AEC-80B744B1834A}"/>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a:t>Can the MITRE ATT&amp;CK framework be successfully mapped to chess strategy and adversarial reasoning?</a:t>
            </a:r>
          </a:p>
        </p:txBody>
      </p:sp>
      <p:graphicFrame>
        <p:nvGraphicFramePr>
          <p:cNvPr id="9" name="Table 8">
            <a:extLst>
              <a:ext uri="{FF2B5EF4-FFF2-40B4-BE49-F238E27FC236}">
                <a16:creationId xmlns:a16="http://schemas.microsoft.com/office/drawing/2014/main" id="{1635FD68-48A5-CA08-082D-3ECC5B310C41}"/>
              </a:ext>
            </a:extLst>
          </p:cNvPr>
          <p:cNvGraphicFramePr>
            <a:graphicFrameLocks noGrp="1"/>
          </p:cNvGraphicFramePr>
          <p:nvPr>
            <p:extLst>
              <p:ext uri="{D42A27DB-BD31-4B8C-83A1-F6EECF244321}">
                <p14:modId xmlns:p14="http://schemas.microsoft.com/office/powerpoint/2010/main" val="2620842286"/>
              </p:ext>
            </p:extLst>
          </p:nvPr>
        </p:nvGraphicFramePr>
        <p:xfrm>
          <a:off x="4768524" y="640080"/>
          <a:ext cx="6675265" cy="5577841"/>
        </p:xfrm>
        <a:graphic>
          <a:graphicData uri="http://schemas.openxmlformats.org/drawingml/2006/table">
            <a:tbl>
              <a:tblPr firstRow="1" bandRow="1">
                <a:tableStyleId>{5C22544A-7EE6-4342-B048-85BDC9FD1C3A}</a:tableStyleId>
              </a:tblPr>
              <a:tblGrid>
                <a:gridCol w="2063191">
                  <a:extLst>
                    <a:ext uri="{9D8B030D-6E8A-4147-A177-3AD203B41FA5}">
                      <a16:colId xmlns:a16="http://schemas.microsoft.com/office/drawing/2014/main" val="4042546556"/>
                    </a:ext>
                  </a:extLst>
                </a:gridCol>
                <a:gridCol w="4612074">
                  <a:extLst>
                    <a:ext uri="{9D8B030D-6E8A-4147-A177-3AD203B41FA5}">
                      <a16:colId xmlns:a16="http://schemas.microsoft.com/office/drawing/2014/main" val="2241651128"/>
                    </a:ext>
                  </a:extLst>
                </a:gridCol>
              </a:tblGrid>
              <a:tr h="635816">
                <a:tc>
                  <a:txBody>
                    <a:bodyPr/>
                    <a:lstStyle/>
                    <a:p>
                      <a:r>
                        <a:rPr lang="en-IE" sz="2800"/>
                        <a:t>Chess</a:t>
                      </a:r>
                    </a:p>
                  </a:txBody>
                  <a:tcPr marL="144504" marR="144504" marT="72252" marB="7225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2800"/>
                        <a:t>MITRE ATT&amp;CK</a:t>
                      </a:r>
                    </a:p>
                  </a:txBody>
                  <a:tcPr marL="144504" marR="144504" marT="72252" marB="72252"/>
                </a:tc>
                <a:extLst>
                  <a:ext uri="{0D108BD9-81ED-4DB2-BD59-A6C34878D82A}">
                    <a16:rowId xmlns:a16="http://schemas.microsoft.com/office/drawing/2014/main" val="107640265"/>
                  </a:ext>
                </a:extLst>
              </a:tr>
              <a:tr h="1502838">
                <a:tc>
                  <a:txBody>
                    <a:bodyPr/>
                    <a:lstStyle/>
                    <a:p>
                      <a:r>
                        <a:rPr lang="en-IE" sz="2800"/>
                        <a:t>Forks</a:t>
                      </a:r>
                    </a:p>
                  </a:txBody>
                  <a:tcPr marL="144504" marR="144504" marT="72252" marB="7225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E" sz="2800"/>
                        <a:t>Techniques involving accessing multiple lateral targets</a:t>
                      </a:r>
                    </a:p>
                  </a:txBody>
                  <a:tcPr marL="144504" marR="144504" marT="72252" marB="72252"/>
                </a:tc>
                <a:extLst>
                  <a:ext uri="{0D108BD9-81ED-4DB2-BD59-A6C34878D82A}">
                    <a16:rowId xmlns:a16="http://schemas.microsoft.com/office/drawing/2014/main" val="2977997659"/>
                  </a:ext>
                </a:extLst>
              </a:tr>
              <a:tr h="1936349">
                <a:tc>
                  <a:txBody>
                    <a:bodyPr/>
                    <a:lstStyle/>
                    <a:p>
                      <a:r>
                        <a:rPr lang="en-IE" sz="2800"/>
                        <a:t>Pins</a:t>
                      </a:r>
                    </a:p>
                  </a:txBody>
                  <a:tcPr marL="144504" marR="144504" marT="72252" marB="7225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a:t>Ransomware T1486 that encrypts valuable data on a critical system, that immobilizes defenders</a:t>
                      </a:r>
                    </a:p>
                  </a:txBody>
                  <a:tcPr marL="144504" marR="144504" marT="72252" marB="72252"/>
                </a:tc>
                <a:extLst>
                  <a:ext uri="{0D108BD9-81ED-4DB2-BD59-A6C34878D82A}">
                    <a16:rowId xmlns:a16="http://schemas.microsoft.com/office/drawing/2014/main" val="3198992959"/>
                  </a:ext>
                </a:extLst>
              </a:tr>
              <a:tr h="1502838">
                <a:tc>
                  <a:txBody>
                    <a:bodyPr/>
                    <a:lstStyle/>
                    <a:p>
                      <a:r>
                        <a:rPr lang="en-IE" sz="2800"/>
                        <a:t>Sacrifices</a:t>
                      </a:r>
                    </a:p>
                  </a:txBody>
                  <a:tcPr marL="144504" marR="144504" marT="72252" marB="72252"/>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800"/>
                        <a:t>Dropping malware that’s likely to be detected in order to mislead</a:t>
                      </a:r>
                      <a:endParaRPr lang="en-IE" sz="2800"/>
                    </a:p>
                  </a:txBody>
                  <a:tcPr marL="144504" marR="144504" marT="72252" marB="72252"/>
                </a:tc>
                <a:extLst>
                  <a:ext uri="{0D108BD9-81ED-4DB2-BD59-A6C34878D82A}">
                    <a16:rowId xmlns:a16="http://schemas.microsoft.com/office/drawing/2014/main" val="369116813"/>
                  </a:ext>
                </a:extLst>
              </a:tr>
            </a:tbl>
          </a:graphicData>
        </a:graphic>
      </p:graphicFrame>
    </p:spTree>
    <p:extLst>
      <p:ext uri="{BB962C8B-B14F-4D97-AF65-F5344CB8AC3E}">
        <p14:creationId xmlns:p14="http://schemas.microsoft.com/office/powerpoint/2010/main" val="4936963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90A514-D782-9C96-9B5D-FE0163770769}"/>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83F9EA5-B38B-781B-7DED-778AEDF006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7685F3F-45F7-B6D3-FE52-512D2E89CFC1}"/>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a:solidFill>
                  <a:schemeClr val="tx1"/>
                </a:solidFill>
                <a:latin typeface="+mj-lt"/>
                <a:ea typeface="+mj-ea"/>
                <a:cs typeface="+mj-cs"/>
              </a:rPr>
              <a:t>Future Work – upcoming PhD</a:t>
            </a:r>
          </a:p>
        </p:txBody>
      </p:sp>
      <p:sp>
        <p:nvSpPr>
          <p:cNvPr id="19" name="sketch line">
            <a:extLst>
              <a:ext uri="{FF2B5EF4-FFF2-40B4-BE49-F238E27FC236}">
                <a16:creationId xmlns:a16="http://schemas.microsoft.com/office/drawing/2014/main" id="{E8E09F60-CF16-8608-5CC0-1159F4A84B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5C20484-22FC-3886-F55B-CAB2C619C247}"/>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t>Can the MITRE ATT&amp;CK framework be successfully mapped to chess strategy and adversarial reasoning?</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Not Always 1:1</a:t>
            </a:r>
          </a:p>
        </p:txBody>
      </p:sp>
      <p:graphicFrame>
        <p:nvGraphicFramePr>
          <p:cNvPr id="8" name="Diagram 7">
            <a:extLst>
              <a:ext uri="{FF2B5EF4-FFF2-40B4-BE49-F238E27FC236}">
                <a16:creationId xmlns:a16="http://schemas.microsoft.com/office/drawing/2014/main" id="{9B615DC2-B30D-F204-738D-18CDC4E999BD}"/>
              </a:ext>
            </a:extLst>
          </p:cNvPr>
          <p:cNvGraphicFramePr/>
          <p:nvPr>
            <p:extLst>
              <p:ext uri="{D42A27DB-BD31-4B8C-83A1-F6EECF244321}">
                <p14:modId xmlns:p14="http://schemas.microsoft.com/office/powerpoint/2010/main" val="2246849948"/>
              </p:ext>
            </p:extLst>
          </p:nvPr>
        </p:nvGraphicFramePr>
        <p:xfrm>
          <a:off x="4270231" y="1241289"/>
          <a:ext cx="7723669" cy="497663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75109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3BAA5D-42CD-B458-934D-D98D3FF58A9F}"/>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232748A7-C492-A84C-76E3-F114CA6A8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7D15526-4819-8322-19C7-5A8152FB1DEB}"/>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a:solidFill>
                  <a:schemeClr val="tx1"/>
                </a:solidFill>
                <a:latin typeface="+mj-lt"/>
                <a:ea typeface="+mj-ea"/>
                <a:cs typeface="+mj-cs"/>
              </a:rPr>
              <a:t>Future Work – upcoming PhD</a:t>
            </a:r>
          </a:p>
        </p:txBody>
      </p:sp>
      <p:sp>
        <p:nvSpPr>
          <p:cNvPr id="19" name="sketch line">
            <a:extLst>
              <a:ext uri="{FF2B5EF4-FFF2-40B4-BE49-F238E27FC236}">
                <a16:creationId xmlns:a16="http://schemas.microsoft.com/office/drawing/2014/main" id="{B123F7F8-F203-F5E6-6891-86CFC4038F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A77FD7E-DA57-9288-5525-0FB030242E75}"/>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dirty="0"/>
              <a:t>Can the MITRE ATT&amp;CK framework be successfully mapped to chess strategy and adversarial reasoning?</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200" dirty="0"/>
              <a:t>Not Always 1:1</a:t>
            </a:r>
          </a:p>
        </p:txBody>
      </p:sp>
      <p:graphicFrame>
        <p:nvGraphicFramePr>
          <p:cNvPr id="2" name="Diagram 1">
            <a:extLst>
              <a:ext uri="{FF2B5EF4-FFF2-40B4-BE49-F238E27FC236}">
                <a16:creationId xmlns:a16="http://schemas.microsoft.com/office/drawing/2014/main" id="{5095A0BF-F625-CBBA-6CB1-241F272A4420}"/>
              </a:ext>
            </a:extLst>
          </p:cNvPr>
          <p:cNvGraphicFramePr/>
          <p:nvPr>
            <p:extLst>
              <p:ext uri="{D42A27DB-BD31-4B8C-83A1-F6EECF244321}">
                <p14:modId xmlns:p14="http://schemas.microsoft.com/office/powerpoint/2010/main" val="2683554160"/>
              </p:ext>
            </p:extLst>
          </p:nvPr>
        </p:nvGraphicFramePr>
        <p:xfrm>
          <a:off x="3981186" y="927484"/>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63682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28B6C7-E605-3A39-FFD4-60729826F515}"/>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ED25F84-002B-FE7A-1186-F46568A24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8FED4ABF-5961-B84F-C82A-CBB76B140B3E}"/>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a:solidFill>
                  <a:schemeClr val="tx1"/>
                </a:solidFill>
                <a:latin typeface="+mj-lt"/>
                <a:ea typeface="+mj-ea"/>
                <a:cs typeface="+mj-cs"/>
              </a:rPr>
              <a:t>Future Work – upcoming PhD</a:t>
            </a:r>
          </a:p>
        </p:txBody>
      </p:sp>
      <p:sp>
        <p:nvSpPr>
          <p:cNvPr id="19" name="sketch line">
            <a:extLst>
              <a:ext uri="{FF2B5EF4-FFF2-40B4-BE49-F238E27FC236}">
                <a16:creationId xmlns:a16="http://schemas.microsoft.com/office/drawing/2014/main" id="{E30DD837-0F47-64A1-3820-16EF2DEA69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2B2A74C-819D-A5B1-D5DF-4462270F99C8}"/>
              </a:ext>
            </a:extLst>
          </p:cNvPr>
          <p:cNvSpPr txBox="1"/>
          <p:nvPr/>
        </p:nvSpPr>
        <p:spPr>
          <a:xfrm>
            <a:off x="643278" y="3019666"/>
            <a:ext cx="11464083" cy="3410712"/>
          </a:xfrm>
          <a:prstGeom prst="rect">
            <a:avLst/>
          </a:prstGeom>
        </p:spPr>
        <p:txBody>
          <a:bodyPr vert="horz" lIns="91440" tIns="45720" rIns="91440" bIns="45720" rtlCol="0" anchor="t">
            <a:normAutofit/>
          </a:bodyPr>
          <a:lstStyle/>
          <a:p>
            <a:r>
              <a:rPr lang="en-IE" sz="2400" dirty="0"/>
              <a:t>Can we borrow cognitive training strategies from chess and use them for SOC Analysts?</a:t>
            </a:r>
          </a:p>
          <a:p>
            <a:pPr indent="-228600">
              <a:lnSpc>
                <a:spcPct val="90000"/>
              </a:lnSpc>
              <a:spcAft>
                <a:spcPts val="600"/>
              </a:spcAft>
              <a:buFont typeface="Arial" panose="020B0604020202020204" pitchFamily="34" charset="0"/>
              <a:buChar char="•"/>
            </a:pPr>
            <a:endParaRPr lang="en-US" sz="2200" dirty="0"/>
          </a:p>
          <a:p>
            <a:r>
              <a:rPr lang="en-IE" sz="2400" dirty="0"/>
              <a:t>Cognitive drills?</a:t>
            </a:r>
          </a:p>
          <a:p>
            <a:endParaRPr lang="en-IE" sz="2400" dirty="0"/>
          </a:p>
          <a:p>
            <a:r>
              <a:rPr lang="en-IE" sz="2400" dirty="0"/>
              <a:t>Chess-based scenarios?</a:t>
            </a:r>
          </a:p>
          <a:p>
            <a:endParaRPr lang="en-IE" sz="2400" dirty="0"/>
          </a:p>
          <a:p>
            <a:r>
              <a:rPr lang="en-IE" sz="2400" dirty="0"/>
              <a:t>Train SOCs to spot patterns better?</a:t>
            </a:r>
          </a:p>
        </p:txBody>
      </p:sp>
    </p:spTree>
    <p:extLst>
      <p:ext uri="{BB962C8B-B14F-4D97-AF65-F5344CB8AC3E}">
        <p14:creationId xmlns:p14="http://schemas.microsoft.com/office/powerpoint/2010/main" val="3646995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FB2E26-FBAE-99FD-E74F-7056209F8C17}"/>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D542068-FDA2-B680-8166-A0C7887B849B}"/>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a:solidFill>
                  <a:schemeClr val="tx1"/>
                </a:solidFill>
                <a:latin typeface="+mj-lt"/>
                <a:ea typeface="+mj-ea"/>
                <a:cs typeface="+mj-cs"/>
              </a:rPr>
              <a:t>Future Work – upcoming PhD</a:t>
            </a:r>
          </a:p>
        </p:txBody>
      </p:sp>
      <p:sp>
        <p:nvSpPr>
          <p:cNvPr id="26"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DC27B8C8-9DCD-3C32-9EEB-9134931785E2}"/>
              </a:ext>
            </a:extLst>
          </p:cNvPr>
          <p:cNvSpPr txBox="1"/>
          <p:nvPr/>
        </p:nvSpPr>
        <p:spPr>
          <a:xfrm>
            <a:off x="630936" y="2807208"/>
            <a:ext cx="3429000" cy="3410712"/>
          </a:xfrm>
          <a:prstGeom prst="rect">
            <a:avLst/>
          </a:prstGeom>
        </p:spPr>
        <p:txBody>
          <a:bodyPr vert="horz" lIns="91440" tIns="45720" rIns="91440" bIns="45720" rtlCol="0" anchor="t">
            <a:normAutofit lnSpcReduction="10000"/>
          </a:bodyPr>
          <a:lstStyle/>
          <a:p>
            <a:pPr indent="-228600">
              <a:lnSpc>
                <a:spcPct val="90000"/>
              </a:lnSpc>
              <a:spcAft>
                <a:spcPts val="600"/>
              </a:spcAft>
              <a:buFont typeface="Arial" panose="020B0604020202020204" pitchFamily="34" charset="0"/>
              <a:buChar char="•"/>
            </a:pPr>
            <a:r>
              <a:rPr lang="en-US" sz="2200" dirty="0"/>
              <a:t>What about chess-based notation in cyber incident recording?</a:t>
            </a:r>
          </a:p>
          <a:p>
            <a:pPr indent="-228600">
              <a:lnSpc>
                <a:spcPct val="90000"/>
              </a:lnSpc>
              <a:spcAft>
                <a:spcPts val="600"/>
              </a:spcAft>
              <a:buFont typeface="Arial" panose="020B0604020202020204" pitchFamily="34" charset="0"/>
              <a:buChar char="•"/>
            </a:pPr>
            <a:endParaRPr lang="en-US" sz="2200" dirty="0"/>
          </a:p>
          <a:p>
            <a:pPr indent="-228600">
              <a:lnSpc>
                <a:spcPct val="90000"/>
              </a:lnSpc>
              <a:spcAft>
                <a:spcPts val="600"/>
              </a:spcAft>
              <a:buFont typeface="Arial" panose="020B0604020202020204" pitchFamily="34" charset="0"/>
              <a:buChar char="•"/>
            </a:pPr>
            <a:r>
              <a:rPr lang="en-US" sz="2400" dirty="0"/>
              <a:t>Cognitive offloading, such as writing down tasks, can reduce memory load and support performance (Risko &amp; Gilbert, 2016)</a:t>
            </a:r>
            <a:endParaRPr lang="en-US" sz="2800" dirty="0"/>
          </a:p>
        </p:txBody>
      </p:sp>
      <p:pic>
        <p:nvPicPr>
          <p:cNvPr id="9" name="Picture 8">
            <a:extLst>
              <a:ext uri="{FF2B5EF4-FFF2-40B4-BE49-F238E27FC236}">
                <a16:creationId xmlns:a16="http://schemas.microsoft.com/office/drawing/2014/main" id="{DDBE4060-01A8-DF72-4901-6F8951CF180F}"/>
              </a:ext>
            </a:extLst>
          </p:cNvPr>
          <p:cNvPicPr>
            <a:picLocks noChangeAspect="1"/>
          </p:cNvPicPr>
          <p:nvPr/>
        </p:nvPicPr>
        <p:blipFill>
          <a:blip r:embed="rId3"/>
          <a:stretch>
            <a:fillRect/>
          </a:stretch>
        </p:blipFill>
        <p:spPr>
          <a:xfrm>
            <a:off x="6477638" y="640080"/>
            <a:ext cx="3257036" cy="5577840"/>
          </a:xfrm>
          <a:prstGeom prst="rect">
            <a:avLst/>
          </a:prstGeom>
        </p:spPr>
      </p:pic>
    </p:spTree>
    <p:extLst>
      <p:ext uri="{BB962C8B-B14F-4D97-AF65-F5344CB8AC3E}">
        <p14:creationId xmlns:p14="http://schemas.microsoft.com/office/powerpoint/2010/main" val="3351425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CA3E7E-2AA7-D15F-1B85-879ED6402E8B}"/>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4745E660-AF66-4060-6D3A-6D1BF2DAE1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B1F0B3-DB86-96B6-7733-E640678A8089}"/>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a:solidFill>
                  <a:schemeClr val="tx1"/>
                </a:solidFill>
                <a:latin typeface="+mj-lt"/>
                <a:ea typeface="+mj-ea"/>
                <a:cs typeface="+mj-cs"/>
              </a:rPr>
              <a:t>Future Work – upcoming PhD</a:t>
            </a:r>
          </a:p>
        </p:txBody>
      </p:sp>
      <p:sp>
        <p:nvSpPr>
          <p:cNvPr id="19" name="sketch line">
            <a:extLst>
              <a:ext uri="{FF2B5EF4-FFF2-40B4-BE49-F238E27FC236}">
                <a16:creationId xmlns:a16="http://schemas.microsoft.com/office/drawing/2014/main" id="{906A2CED-8715-FC3C-F19F-0140918325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DE248F-12CB-5F01-4055-3A238C7537BE}"/>
              </a:ext>
            </a:extLst>
          </p:cNvPr>
          <p:cNvSpPr txBox="1"/>
          <p:nvPr/>
        </p:nvSpPr>
        <p:spPr>
          <a:xfrm>
            <a:off x="643278" y="3019666"/>
            <a:ext cx="11464083" cy="3410712"/>
          </a:xfrm>
          <a:prstGeom prst="rect">
            <a:avLst/>
          </a:prstGeom>
        </p:spPr>
        <p:txBody>
          <a:bodyPr vert="horz" lIns="91440" tIns="45720" rIns="91440" bIns="45720" rtlCol="0" anchor="t">
            <a:normAutofit/>
          </a:bodyPr>
          <a:lstStyle/>
          <a:p>
            <a:r>
              <a:rPr lang="en-US" sz="2400" dirty="0"/>
              <a:t>Current SOC training addresses technology and the use of tools.</a:t>
            </a:r>
          </a:p>
          <a:p>
            <a:endParaRPr lang="en-US" sz="2400" dirty="0"/>
          </a:p>
          <a:p>
            <a:r>
              <a:rPr lang="en-US" sz="2400" dirty="0"/>
              <a:t>The proposed training framework addresses how domain knowledge and exam-type chess-based training models may:</a:t>
            </a:r>
          </a:p>
          <a:p>
            <a:endParaRPr lang="en-US" sz="2400" dirty="0"/>
          </a:p>
          <a:p>
            <a:pPr marL="285750" indent="-285750">
              <a:buFont typeface="Arial" panose="020B0604020202020204" pitchFamily="34" charset="0"/>
              <a:buChar char="•"/>
            </a:pPr>
            <a:r>
              <a:rPr lang="en-US" sz="2400" dirty="0"/>
              <a:t>enhance SOC analysts pattern recognition</a:t>
            </a:r>
          </a:p>
          <a:p>
            <a:pPr marL="285750" indent="-285750">
              <a:buFont typeface="Arial" panose="020B0604020202020204" pitchFamily="34" charset="0"/>
              <a:buChar char="•"/>
            </a:pPr>
            <a:r>
              <a:rPr lang="en-US" sz="2400" dirty="0"/>
              <a:t>promote learning of MITRE ATT&amp;CK TTPs</a:t>
            </a:r>
          </a:p>
          <a:p>
            <a:pPr marL="285750" indent="-285750">
              <a:buFont typeface="Arial" panose="020B0604020202020204" pitchFamily="34" charset="0"/>
              <a:buChar char="•"/>
            </a:pPr>
            <a:r>
              <a:rPr lang="en-US" sz="2400" dirty="0"/>
              <a:t>easing SOC analyst’s fatigue</a:t>
            </a:r>
            <a:endParaRPr lang="en-IE" sz="2400" dirty="0"/>
          </a:p>
        </p:txBody>
      </p:sp>
    </p:spTree>
    <p:extLst>
      <p:ext uri="{BB962C8B-B14F-4D97-AF65-F5344CB8AC3E}">
        <p14:creationId xmlns:p14="http://schemas.microsoft.com/office/powerpoint/2010/main" val="1116580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933" name="Rectangle 104893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3D face graphic">
            <a:extLst>
              <a:ext uri="{FF2B5EF4-FFF2-40B4-BE49-F238E27FC236}">
                <a16:creationId xmlns:a16="http://schemas.microsoft.com/office/drawing/2014/main" id="{0FC8AF90-E800-5A89-F191-1A66F31C3CB5}"/>
              </a:ext>
            </a:extLst>
          </p:cNvPr>
          <p:cNvPicPr>
            <a:picLocks noChangeAspect="1"/>
          </p:cNvPicPr>
          <p:nvPr/>
        </p:nvPicPr>
        <p:blipFill>
          <a:blip r:embed="rId3">
            <a:extLst>
              <a:ext uri="{28A0092B-C50C-407E-A947-70E740481C1C}">
                <a14:useLocalDpi xmlns:a14="http://schemas.microsoft.com/office/drawing/2010/main" val="0"/>
              </a:ext>
            </a:extLst>
          </a:blip>
          <a:srcRect l="11876"/>
          <a:stretch>
            <a:fillRect/>
          </a:stretch>
        </p:blipFill>
        <p:spPr>
          <a:xfrm>
            <a:off x="2522356" y="10"/>
            <a:ext cx="9669642" cy="6857990"/>
          </a:xfrm>
          <a:prstGeom prst="rect">
            <a:avLst/>
          </a:prstGeom>
        </p:spPr>
      </p:pic>
      <p:sp>
        <p:nvSpPr>
          <p:cNvPr id="1048935" name="Rectangle 104893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927" name="Title 1048926"/>
          <p:cNvSpPr>
            <a:spLocks noGrp="1"/>
          </p:cNvSpPr>
          <p:nvPr>
            <p:ph type="title"/>
          </p:nvPr>
        </p:nvSpPr>
        <p:spPr>
          <a:xfrm>
            <a:off x="838200" y="365125"/>
            <a:ext cx="3822189" cy="1899912"/>
          </a:xfrm>
        </p:spPr>
        <p:txBody>
          <a:bodyPr>
            <a:normAutofit/>
          </a:bodyPr>
          <a:lstStyle/>
          <a:p>
            <a:r>
              <a:rPr lang="en-US" altLang="en-GB" sz="4000"/>
              <a:t>Implication for SOC/ AI</a:t>
            </a:r>
            <a:endParaRPr lang="en-GB" sz="4000"/>
          </a:p>
        </p:txBody>
      </p:sp>
      <p:sp>
        <p:nvSpPr>
          <p:cNvPr id="1048928" name="Content Placeholder 1048927"/>
          <p:cNvSpPr>
            <a:spLocks noGrp="1"/>
          </p:cNvSpPr>
          <p:nvPr>
            <p:ph idx="1"/>
          </p:nvPr>
        </p:nvSpPr>
        <p:spPr>
          <a:xfrm>
            <a:off x="838200" y="2434201"/>
            <a:ext cx="3822189" cy="3742762"/>
          </a:xfrm>
        </p:spPr>
        <p:txBody>
          <a:bodyPr>
            <a:normAutofit/>
          </a:bodyPr>
          <a:lstStyle/>
          <a:p>
            <a:pPr marL="0" indent="0">
              <a:buNone/>
            </a:pPr>
            <a:endParaRPr lang="en-GB" sz="2000" dirty="0"/>
          </a:p>
          <a:p>
            <a:r>
              <a:rPr lang="en-GB" sz="2000" dirty="0"/>
              <a:t>As AI takes over the false positives, analysts will be left with the more complex tasks</a:t>
            </a:r>
          </a:p>
          <a:p>
            <a:r>
              <a:rPr lang="en-GB" sz="2000" dirty="0"/>
              <a:t>…therefore, their cognitive skills will matter even more</a:t>
            </a:r>
          </a:p>
          <a:p>
            <a:endParaRPr lang="en-GB" sz="2000" dirty="0"/>
          </a:p>
          <a:p>
            <a:r>
              <a:rPr lang="en-GB" sz="2000" dirty="0"/>
              <a:t>Are your SOC analysts left idle because of AI?</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86356E-79E8-E6B4-EB91-75466B2EF238}"/>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E84C59F-1BF0-FBBC-C3DC-54C4461632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FABB14E-190B-7797-E7B6-C578964D9977}"/>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dirty="0">
                <a:solidFill>
                  <a:schemeClr val="tx1"/>
                </a:solidFill>
                <a:latin typeface="+mj-lt"/>
                <a:ea typeface="+mj-ea"/>
                <a:cs typeface="+mj-cs"/>
              </a:rPr>
              <a:t>Takeaways</a:t>
            </a:r>
          </a:p>
        </p:txBody>
      </p:sp>
      <p:sp>
        <p:nvSpPr>
          <p:cNvPr id="19" name="sketch line">
            <a:extLst>
              <a:ext uri="{FF2B5EF4-FFF2-40B4-BE49-F238E27FC236}">
                <a16:creationId xmlns:a16="http://schemas.microsoft.com/office/drawing/2014/main" id="{3A8F55AB-F550-FD06-032D-180DD6054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92A15E-4139-2505-7D0D-E5136CA1DC51}"/>
              </a:ext>
            </a:extLst>
          </p:cNvPr>
          <p:cNvSpPr txBox="1"/>
          <p:nvPr/>
        </p:nvSpPr>
        <p:spPr>
          <a:xfrm>
            <a:off x="643278" y="3019666"/>
            <a:ext cx="11464083" cy="3410712"/>
          </a:xfrm>
          <a:prstGeom prst="rect">
            <a:avLst/>
          </a:prstGeom>
        </p:spPr>
        <p:txBody>
          <a:bodyPr vert="horz" lIns="91440" tIns="45720" rIns="91440" bIns="45720" rtlCol="0" anchor="t">
            <a:normAutofit/>
          </a:bodyPr>
          <a:lstStyle/>
          <a:p>
            <a:r>
              <a:rPr lang="en-US" sz="2400" dirty="0"/>
              <a:t>Phishing exploits fast thinking -&gt; training should support both fast &amp; slow systems</a:t>
            </a:r>
          </a:p>
          <a:p>
            <a:endParaRPr lang="en-US" sz="2400" dirty="0"/>
          </a:p>
          <a:p>
            <a:r>
              <a:rPr lang="en-US" sz="2400" dirty="0"/>
              <a:t>Chess players performed better in phishing detection</a:t>
            </a:r>
          </a:p>
          <a:p>
            <a:r>
              <a:rPr lang="en-US" sz="2400" dirty="0"/>
              <a:t>Chess players did tend be more skeptical…</a:t>
            </a:r>
          </a:p>
          <a:p>
            <a:endParaRPr lang="en-US" sz="2400" dirty="0"/>
          </a:p>
          <a:p>
            <a:r>
              <a:rPr lang="en-US" sz="2400" dirty="0"/>
              <a:t>Next step: research into adapting this for SOC analysts</a:t>
            </a:r>
            <a:endParaRPr lang="en-IE" sz="2400" dirty="0"/>
          </a:p>
        </p:txBody>
      </p:sp>
    </p:spTree>
    <p:extLst>
      <p:ext uri="{BB962C8B-B14F-4D97-AF65-F5344CB8AC3E}">
        <p14:creationId xmlns:p14="http://schemas.microsoft.com/office/powerpoint/2010/main" val="14457325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8508C4-A198-5D86-0C2E-C6447E787928}"/>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EB220778-1E3C-3E04-70C6-B348AB2528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E44FB85B-7C85-2EA9-46DF-334E2D1C77C8}"/>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dirty="0">
                <a:solidFill>
                  <a:schemeClr val="tx1"/>
                </a:solidFill>
                <a:latin typeface="+mj-lt"/>
                <a:ea typeface="+mj-ea"/>
                <a:cs typeface="+mj-cs"/>
              </a:rPr>
              <a:t>Further reading</a:t>
            </a:r>
          </a:p>
        </p:txBody>
      </p:sp>
      <p:sp>
        <p:nvSpPr>
          <p:cNvPr id="19" name="sketch line">
            <a:extLst>
              <a:ext uri="{FF2B5EF4-FFF2-40B4-BE49-F238E27FC236}">
                <a16:creationId xmlns:a16="http://schemas.microsoft.com/office/drawing/2014/main" id="{3AA1D0EC-45CB-A8E4-92CF-CC2F9C5578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5616AD4-080D-67EA-73C2-F1DA598ED48E}"/>
              </a:ext>
            </a:extLst>
          </p:cNvPr>
          <p:cNvSpPr txBox="1"/>
          <p:nvPr/>
        </p:nvSpPr>
        <p:spPr>
          <a:xfrm>
            <a:off x="630936" y="2698273"/>
            <a:ext cx="11451739" cy="3820046"/>
          </a:xfrm>
          <a:prstGeom prst="rect">
            <a:avLst/>
          </a:prstGeom>
        </p:spPr>
        <p:txBody>
          <a:bodyPr vert="horz" lIns="91440" tIns="45720" rIns="91440" bIns="45720" rtlCol="0" anchor="t">
            <a:normAutofit fontScale="55000" lnSpcReduction="20000"/>
          </a:bodyPr>
          <a:lstStyle/>
          <a:p>
            <a:pPr marL="285750" indent="-285750">
              <a:buFont typeface="Arial" panose="020B0604020202020204" pitchFamily="34" charset="0"/>
              <a:buChar char="•"/>
            </a:pPr>
            <a:r>
              <a:rPr lang="en-IE" sz="2200" dirty="0"/>
              <a:t>“Microsoft Digital </a:t>
            </a:r>
            <a:r>
              <a:rPr lang="en-IE" sz="2200" dirty="0" err="1"/>
              <a:t>Defense</a:t>
            </a:r>
            <a:r>
              <a:rPr lang="en-IE" sz="2200" dirty="0"/>
              <a:t> Report 2024.” [Online]. Available: </a:t>
            </a:r>
            <a:r>
              <a:rPr lang="en-IE" sz="2200" dirty="0">
                <a:hlinkClick r:id="rId3"/>
              </a:rPr>
              <a:t>https://www.microsoft.com/en-us/security/security-insider/intelligencereports/microsoft-digital-defense-report-2024</a:t>
            </a:r>
            <a:endParaRPr lang="en-IE" sz="2200" dirty="0"/>
          </a:p>
          <a:p>
            <a:pPr marL="285750" indent="-285750">
              <a:buFont typeface="Arial" panose="020B0604020202020204" pitchFamily="34" charset="0"/>
              <a:buChar char="•"/>
            </a:pPr>
            <a:r>
              <a:rPr lang="en-US" sz="2200" dirty="0"/>
              <a:t>J. Evans and K. Stanovich, “Dual-Process Theories of Higher Cognition,” </a:t>
            </a:r>
            <a:r>
              <a:rPr lang="en-IE" sz="2200" dirty="0"/>
              <a:t>Perspectives on Psychological Science, vol. 8, pp. 223–241, May 2013</a:t>
            </a:r>
          </a:p>
          <a:p>
            <a:pPr marL="285750" indent="-285750">
              <a:buFont typeface="Arial" panose="020B0604020202020204" pitchFamily="34" charset="0"/>
              <a:buChar char="•"/>
            </a:pPr>
            <a:r>
              <a:rPr lang="en-US" sz="2200" dirty="0"/>
              <a:t>U. David and A. Bode-Asa, An Overview of Social Engineering: The Role of Cognitive Biases Towards Social Engineering-Based Cyber-Attacks, Impacts </a:t>
            </a:r>
            <a:r>
              <a:rPr lang="en-IE" sz="2200" dirty="0"/>
              <a:t>and Countermeasures, Dec. 2023</a:t>
            </a:r>
          </a:p>
          <a:p>
            <a:pPr marL="285750" indent="-285750">
              <a:buFont typeface="Arial" panose="020B0604020202020204" pitchFamily="34" charset="0"/>
              <a:buChar char="•"/>
            </a:pPr>
            <a:r>
              <a:rPr lang="en-IE" sz="2200" dirty="0"/>
              <a:t>L. Gallo, D. Gentile, S. Ruggiero, A. Botta, and G. </a:t>
            </a:r>
            <a:r>
              <a:rPr lang="en-IE" sz="2200" dirty="0" err="1"/>
              <a:t>Ventre</a:t>
            </a:r>
            <a:r>
              <a:rPr lang="en-IE" sz="2200" dirty="0"/>
              <a:t>, “The human factor </a:t>
            </a:r>
            <a:r>
              <a:rPr lang="en-US" sz="2200" dirty="0"/>
              <a:t>in phishing: Collecting and analyzing user behavior when reading emails,” Computers &amp; Security, vol. 139, p. 103671, Apr. 2024. [Online]. Available: </a:t>
            </a:r>
            <a:r>
              <a:rPr lang="en-IE" sz="2200" dirty="0">
                <a:hlinkClick r:id="rId4"/>
              </a:rPr>
              <a:t>https://www.sciencedirect.com/science/article/pii/S0167404823005813</a:t>
            </a:r>
            <a:endParaRPr lang="en-IE" sz="2200" dirty="0"/>
          </a:p>
          <a:p>
            <a:pPr marL="285750" indent="-285750">
              <a:buFont typeface="Arial" panose="020B0604020202020204" pitchFamily="34" charset="0"/>
              <a:buChar char="•"/>
            </a:pPr>
            <a:r>
              <a:rPr lang="en-US" sz="2200" dirty="0"/>
              <a:t>D. </a:t>
            </a:r>
            <a:r>
              <a:rPr lang="en-US" sz="2200" dirty="0" err="1"/>
              <a:t>Baltuttis</a:t>
            </a:r>
            <a:r>
              <a:rPr lang="en-US" sz="2200" dirty="0"/>
              <a:t> and T. Teubner, “Effects of visual risk indicators on phishing detection behavior: An eye-tracking experiment,” Computers &amp; Security, vol. 144, p. 103940, Sep. 2024. [Online]. Available: </a:t>
            </a:r>
            <a:r>
              <a:rPr lang="en-IE" sz="2200" dirty="0">
                <a:hlinkClick r:id="rId5"/>
              </a:rPr>
              <a:t>https://www.sciencedirect.com/science/article/pii/S0167404824002451</a:t>
            </a:r>
            <a:endParaRPr lang="en-IE" sz="2200" dirty="0"/>
          </a:p>
          <a:p>
            <a:pPr marL="285750" indent="-285750">
              <a:buFont typeface="Arial" panose="020B0604020202020204" pitchFamily="34" charset="0"/>
              <a:buChar char="•"/>
            </a:pPr>
            <a:r>
              <a:rPr lang="en-US" sz="2200" dirty="0"/>
              <a:t>D. Sturman, J. C. Auton, and B. W. Morrison, “Security awareness, decision style, knowledge, and phishing email detection: Moderated mediation </a:t>
            </a:r>
            <a:r>
              <a:rPr lang="en-IE" sz="2200" dirty="0"/>
              <a:t>analyses,” Computers &amp; Security, vol. 148, p. 104129, Jan. 2025. [Online]. </a:t>
            </a:r>
            <a:r>
              <a:rPr lang="fr-FR" sz="2200" dirty="0" err="1"/>
              <a:t>Available</a:t>
            </a:r>
            <a:r>
              <a:rPr lang="fr-FR" sz="2200" dirty="0"/>
              <a:t>: </a:t>
            </a:r>
            <a:r>
              <a:rPr lang="fr-FR" sz="2200" dirty="0">
                <a:hlinkClick r:id="rId6"/>
              </a:rPr>
              <a:t>https://linkinghub.elsevier.com/retrieve/pii/S0167404824004346</a:t>
            </a:r>
            <a:endParaRPr lang="fr-FR" sz="2200" dirty="0"/>
          </a:p>
          <a:p>
            <a:pPr marL="285750" indent="-285750">
              <a:buFont typeface="Arial" panose="020B0604020202020204" pitchFamily="34" charset="0"/>
              <a:buChar char="•"/>
            </a:pPr>
            <a:r>
              <a:rPr lang="en-US" sz="2200" dirty="0"/>
              <a:t>A. de Groot, Thought and Choice in Chess. Amsterdam: Amsterdam Academic Archive, 1965. [Online]. Available: </a:t>
            </a:r>
            <a:r>
              <a:rPr lang="da-DK" sz="2200" dirty="0"/>
              <a:t>https://books.google.ie/books?id=b2G1CRfNqFYCprintsec=frontcoversource=gbsgesummaryrcad 0v = onepageqf = false</a:t>
            </a:r>
          </a:p>
          <a:p>
            <a:pPr marL="285750" indent="-285750">
              <a:buFont typeface="Arial" panose="020B0604020202020204" pitchFamily="34" charset="0"/>
              <a:buChar char="•"/>
            </a:pPr>
            <a:r>
              <a:rPr lang="en-US" sz="2200" dirty="0"/>
              <a:t>C. I. Canfield, B. Fischhoff, and A. Davis, “Better beware: comparing metacognition for phishing and legitimate emails,” Metacognition and Learning, vol. 14, no. 3, pp. 343–362, Dec. 2019. [Online]. Available: </a:t>
            </a:r>
            <a:r>
              <a:rPr lang="en-IE" sz="2200" dirty="0">
                <a:hlinkClick r:id="rId7"/>
              </a:rPr>
              <a:t>http://link.springer.com/10.1007/s11409-019-09197-5</a:t>
            </a:r>
            <a:endParaRPr lang="en-IE" sz="2200" dirty="0"/>
          </a:p>
          <a:p>
            <a:pPr marL="285750" indent="-285750">
              <a:buFont typeface="Arial" panose="020B0604020202020204" pitchFamily="34" charset="0"/>
              <a:buChar char="•"/>
            </a:pPr>
            <a:r>
              <a:rPr lang="en-US" sz="2200" dirty="0"/>
              <a:t>P. Kearney, M. </a:t>
            </a:r>
            <a:r>
              <a:rPr lang="en-US" sz="2200" dirty="0" err="1"/>
              <a:t>Abdelsamea</a:t>
            </a:r>
            <a:r>
              <a:rPr lang="en-US" sz="2200" dirty="0"/>
              <a:t>, X. </a:t>
            </a:r>
            <a:r>
              <a:rPr lang="en-US" sz="2200" dirty="0" err="1"/>
              <a:t>Schmoor</a:t>
            </a:r>
            <a:r>
              <a:rPr lang="en-US" sz="2200" dirty="0"/>
              <a:t>, F. Shah, and I. Vickers, “Combating Alert Fatigue in the Security Operations Centre,” SSRN Electronic Journal, </a:t>
            </a:r>
            <a:r>
              <a:rPr lang="fr-FR" sz="2200" dirty="0"/>
              <a:t>2023. [Online]. </a:t>
            </a:r>
            <a:r>
              <a:rPr lang="fr-FR" sz="2200" dirty="0" err="1"/>
              <a:t>Available</a:t>
            </a:r>
            <a:r>
              <a:rPr lang="fr-FR" sz="2200" dirty="0"/>
              <a:t>: </a:t>
            </a:r>
            <a:r>
              <a:rPr lang="fr-FR" sz="2200" dirty="0">
                <a:hlinkClick r:id="rId8"/>
              </a:rPr>
              <a:t>https://www.ssrn.com/abstract=4633965</a:t>
            </a:r>
            <a:endParaRPr lang="fr-FR" sz="2200" dirty="0"/>
          </a:p>
          <a:p>
            <a:pPr marL="285750" indent="-285750">
              <a:buFont typeface="Arial" panose="020B0604020202020204" pitchFamily="34" charset="0"/>
              <a:buChar char="•"/>
            </a:pPr>
            <a:r>
              <a:rPr lang="en-US" sz="2200" dirty="0"/>
              <a:t>Josiah Dykstra and Celeste Paul, </a:t>
            </a:r>
            <a:r>
              <a:rPr lang="en-US" sz="2200" i="1" dirty="0"/>
              <a:t>Cyber Operations Stress Survey (COSS): Studying Fatigue, Frustration, and Cognitive Workload in Cybersecurity Operations</a:t>
            </a:r>
            <a:r>
              <a:rPr lang="en-US" sz="2200" dirty="0"/>
              <a:t>, 2018</a:t>
            </a:r>
          </a:p>
          <a:p>
            <a:pPr marL="285750" indent="-285750">
              <a:buFont typeface="Arial" panose="020B0604020202020204" pitchFamily="34" charset="0"/>
              <a:buChar char="•"/>
            </a:pPr>
            <a:r>
              <a:rPr lang="en-IE" sz="2200" dirty="0"/>
              <a:t> </a:t>
            </a:r>
            <a:r>
              <a:rPr lang="en-IE" sz="2200" dirty="0" err="1"/>
              <a:t>Ishtiaque</a:t>
            </a:r>
            <a:r>
              <a:rPr lang="en-IE" sz="2200" dirty="0"/>
              <a:t> Ahmed, Md </a:t>
            </a:r>
            <a:r>
              <a:rPr lang="en-IE" sz="2200" dirty="0" err="1"/>
              <a:t>Kamruzzaman</a:t>
            </a:r>
            <a:r>
              <a:rPr lang="en-IE" sz="2200" dirty="0"/>
              <a:t>, Sony Raha (2022) - </a:t>
            </a:r>
            <a:r>
              <a:rPr lang="en-IE" sz="2200" i="1" dirty="0"/>
              <a:t>Cybersecurity Challenges In It Infrastructure Data: A Comprehensive Review Of Threats, Mitigation Strategies, And Future Trends</a:t>
            </a:r>
            <a:r>
              <a:rPr lang="en-IE" sz="2200" dirty="0"/>
              <a:t>. Comprehensive background on increased adversarial complexity</a:t>
            </a:r>
          </a:p>
          <a:p>
            <a:pPr marL="285750" indent="-285750">
              <a:buFont typeface="Arial" panose="020B0604020202020204" pitchFamily="34" charset="0"/>
              <a:buChar char="•"/>
            </a:pPr>
            <a:r>
              <a:rPr lang="en-US" sz="2200" dirty="0"/>
              <a:t>Filiz </a:t>
            </a:r>
            <a:r>
              <a:rPr lang="en-US" sz="2200" dirty="0" err="1"/>
              <a:t>Mizrak</a:t>
            </a:r>
            <a:r>
              <a:rPr lang="en-US" sz="2200" dirty="0"/>
              <a:t> et al., “Digital Detox: Exploring the Impact of Cybersecurity Fatigue on Employee Productivity and Mental Health,” </a:t>
            </a:r>
            <a:r>
              <a:rPr lang="en-US" sz="2200" i="1" dirty="0"/>
              <a:t>Discover Mental Health</a:t>
            </a:r>
            <a:r>
              <a:rPr lang="en-US" sz="2200" dirty="0"/>
              <a:t> 5 (February 25, 2025): 25, </a:t>
            </a:r>
            <a:r>
              <a:rPr lang="en-US" sz="2200" dirty="0">
                <a:hlinkClick r:id="rId9"/>
              </a:rPr>
              <a:t>https://doi.org/10.1007/s44192-025-00149-x</a:t>
            </a:r>
            <a:r>
              <a:rPr lang="en-US" sz="2200" dirty="0"/>
              <a:t>.</a:t>
            </a:r>
          </a:p>
          <a:p>
            <a:pPr marL="285750" indent="-285750">
              <a:buFont typeface="Arial" panose="020B0604020202020204" pitchFamily="34" charset="0"/>
              <a:buChar char="•"/>
            </a:pPr>
            <a:r>
              <a:rPr lang="en-US" sz="2200" dirty="0"/>
              <a:t>Evan F. Risko &amp; Sam J. Gilbert (2016)- </a:t>
            </a:r>
            <a:r>
              <a:rPr lang="en-US" sz="2200" i="1" dirty="0"/>
              <a:t>Cognitive Offloading</a:t>
            </a:r>
            <a:endParaRPr lang="en-IE" sz="2200" dirty="0"/>
          </a:p>
          <a:p>
            <a:endParaRPr lang="en-IE" sz="2400" dirty="0"/>
          </a:p>
        </p:txBody>
      </p:sp>
    </p:spTree>
    <p:extLst>
      <p:ext uri="{BB962C8B-B14F-4D97-AF65-F5344CB8AC3E}">
        <p14:creationId xmlns:p14="http://schemas.microsoft.com/office/powerpoint/2010/main" val="25691066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A91905-1513-C2E6-6D0B-46E05BE6AD28}"/>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68D8369A-C669-7773-1A48-40E8360530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F73D9859-E591-34D9-041A-C79405D63067}"/>
              </a:ext>
            </a:extLst>
          </p:cNvPr>
          <p:cNvSpPr txBox="1"/>
          <p:nvPr/>
        </p:nvSpPr>
        <p:spPr>
          <a:xfrm>
            <a:off x="630936" y="639520"/>
            <a:ext cx="3429000" cy="1719072"/>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200" kern="1200" dirty="0">
                <a:solidFill>
                  <a:schemeClr val="tx1"/>
                </a:solidFill>
                <a:latin typeface="+mj-lt"/>
                <a:ea typeface="+mj-ea"/>
                <a:cs typeface="+mj-cs"/>
              </a:rPr>
              <a:t>Contact</a:t>
            </a:r>
          </a:p>
        </p:txBody>
      </p:sp>
      <p:sp>
        <p:nvSpPr>
          <p:cNvPr id="19" name="sketch line">
            <a:extLst>
              <a:ext uri="{FF2B5EF4-FFF2-40B4-BE49-F238E27FC236}">
                <a16:creationId xmlns:a16="http://schemas.microsoft.com/office/drawing/2014/main" id="{E607CB66-20D2-0321-E5DC-B9CFA55682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45586A1-AA6C-DA1B-BAB6-89C24C3948C1}"/>
              </a:ext>
            </a:extLst>
          </p:cNvPr>
          <p:cNvSpPr txBox="1"/>
          <p:nvPr/>
        </p:nvSpPr>
        <p:spPr>
          <a:xfrm>
            <a:off x="643278" y="3019666"/>
            <a:ext cx="5331495" cy="3410712"/>
          </a:xfrm>
          <a:prstGeom prst="rect">
            <a:avLst/>
          </a:prstGeom>
        </p:spPr>
        <p:txBody>
          <a:bodyPr vert="horz" lIns="91440" tIns="45720" rIns="91440" bIns="45720" rtlCol="0" anchor="t">
            <a:normAutofit/>
          </a:bodyPr>
          <a:lstStyle/>
          <a:p>
            <a:r>
              <a:rPr lang="en-US" sz="2400" dirty="0"/>
              <a:t>Let’s talk if you’re a SOC analyst, trainer, or chess enthusiast!</a:t>
            </a:r>
            <a:endParaRPr lang="en-IE" sz="2400" dirty="0"/>
          </a:p>
        </p:txBody>
      </p:sp>
      <p:pic>
        <p:nvPicPr>
          <p:cNvPr id="2" name="Picture 1">
            <a:extLst>
              <a:ext uri="{FF2B5EF4-FFF2-40B4-BE49-F238E27FC236}">
                <a16:creationId xmlns:a16="http://schemas.microsoft.com/office/drawing/2014/main" id="{AB914833-B75E-1CC0-86A0-720312C5B5E2}"/>
              </a:ext>
            </a:extLst>
          </p:cNvPr>
          <p:cNvPicPr>
            <a:picLocks noChangeAspect="1"/>
          </p:cNvPicPr>
          <p:nvPr/>
        </p:nvPicPr>
        <p:blipFill>
          <a:blip r:embed="rId3"/>
          <a:stretch>
            <a:fillRect/>
          </a:stretch>
        </p:blipFill>
        <p:spPr>
          <a:xfrm>
            <a:off x="5662757" y="1142114"/>
            <a:ext cx="5885965" cy="2863283"/>
          </a:xfrm>
          <a:prstGeom prst="rect">
            <a:avLst/>
          </a:prstGeom>
        </p:spPr>
      </p:pic>
      <p:sp>
        <p:nvSpPr>
          <p:cNvPr id="6" name="TextBox 5">
            <a:extLst>
              <a:ext uri="{FF2B5EF4-FFF2-40B4-BE49-F238E27FC236}">
                <a16:creationId xmlns:a16="http://schemas.microsoft.com/office/drawing/2014/main" id="{11FC8F0F-B5F4-8078-27ED-AE482BC8FEFE}"/>
              </a:ext>
            </a:extLst>
          </p:cNvPr>
          <p:cNvSpPr txBox="1"/>
          <p:nvPr/>
        </p:nvSpPr>
        <p:spPr>
          <a:xfrm>
            <a:off x="6618051" y="4005397"/>
            <a:ext cx="6094268" cy="369332"/>
          </a:xfrm>
          <a:prstGeom prst="rect">
            <a:avLst/>
          </a:prstGeom>
          <a:noFill/>
        </p:spPr>
        <p:txBody>
          <a:bodyPr wrap="square">
            <a:spAutoFit/>
          </a:bodyPr>
          <a:lstStyle/>
          <a:p>
            <a:r>
              <a:rPr lang="en-IE" dirty="0"/>
              <a:t>https://www.linkedin.com/in/ioanagelip/</a:t>
            </a:r>
          </a:p>
        </p:txBody>
      </p:sp>
    </p:spTree>
    <p:extLst>
      <p:ext uri="{BB962C8B-B14F-4D97-AF65-F5344CB8AC3E}">
        <p14:creationId xmlns:p14="http://schemas.microsoft.com/office/powerpoint/2010/main" val="22320845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6477</TotalTime>
  <Words>3940</Words>
  <Application>Microsoft Office PowerPoint</Application>
  <PresentationFormat>Widescreen</PresentationFormat>
  <Paragraphs>380</Paragraphs>
  <Slides>42</Slides>
  <Notes>41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42</vt:i4>
      </vt:variant>
    </vt:vector>
  </HeadingPairs>
  <TitlesOfParts>
    <vt:vector size="46" baseType="lpstr">
      <vt:lpstr>Aptos</vt:lpstr>
      <vt:lpstr>Aptos Display</vt:lpstr>
      <vt:lpstr>Arial</vt:lpstr>
      <vt:lpstr>Office Theme</vt:lpstr>
      <vt:lpstr>Phishing Detection, Chess Cognition, and the Future of SOC Analyst Training</vt:lpstr>
      <vt:lpstr>About me…</vt:lpstr>
      <vt:lpstr>PowerPoint Presentation</vt:lpstr>
      <vt:lpstr>PowerPoint Presentation</vt:lpstr>
      <vt:lpstr>Cognitive Psychology &amp; Chess</vt:lpstr>
      <vt:lpstr>Dual Process Theory</vt:lpstr>
      <vt:lpstr>Dual Process Theory</vt:lpstr>
      <vt:lpstr>Dual Process Theory</vt:lpstr>
      <vt:lpstr>Dual Process Theory</vt:lpstr>
      <vt:lpstr>Dual Process Theory</vt:lpstr>
      <vt:lpstr>Dual Process Theory</vt:lpstr>
      <vt:lpstr>Dual Process Theory</vt:lpstr>
      <vt:lpstr>Dual Process Theory</vt:lpstr>
      <vt:lpstr>Dual Process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Dual Process Theory</vt:lpstr>
      <vt:lpstr>PowerPoint Presentation</vt:lpstr>
      <vt:lpstr>PowerPoint Presentation</vt:lpstr>
      <vt:lpstr>PowerPoint Presentation</vt:lpstr>
      <vt:lpstr>PowerPoint Presentation</vt:lpstr>
      <vt:lpstr>PowerPoint Presentation</vt:lpstr>
      <vt:lpstr>PowerPoint Presentation</vt:lpstr>
      <vt:lpstr>Implication for SOC/ AI</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Ioana Macovei</dc:creator>
  <cp:lastModifiedBy>Ioana Macovei</cp:lastModifiedBy>
  <cp:revision>15</cp:revision>
  <dcterms:created xsi:type="dcterms:W3CDTF">2025-08-06T15:05:14Z</dcterms:created>
  <dcterms:modified xsi:type="dcterms:W3CDTF">2025-08-12T08:30:43Z</dcterms:modified>
</cp:coreProperties>
</file>