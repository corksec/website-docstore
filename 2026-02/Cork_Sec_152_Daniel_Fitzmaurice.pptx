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56" r:id="rId2"/>
    <p:sldId id="257" r:id="rId3"/>
    <p:sldId id="258" r:id="rId4"/>
    <p:sldId id="275" r:id="rId5"/>
    <p:sldId id="276" r:id="rId6"/>
    <p:sldId id="274" r:id="rId7"/>
    <p:sldId id="277" r:id="rId8"/>
    <p:sldId id="260" r:id="rId9"/>
    <p:sldId id="273" r:id="rId10"/>
    <p:sldId id="269" r:id="rId11"/>
    <p:sldId id="270" r:id="rId12"/>
    <p:sldId id="279" r:id="rId13"/>
    <p:sldId id="280" r:id="rId14"/>
    <p:sldId id="271" r:id="rId15"/>
    <p:sldId id="272" r:id="rId16"/>
    <p:sldId id="26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32A2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65551" autoAdjust="0"/>
  </p:normalViewPr>
  <p:slideViewPr>
    <p:cSldViewPr snapToGrid="0">
      <p:cViewPr varScale="1">
        <p:scale>
          <a:sx n="81" d="100"/>
          <a:sy n="81" d="100"/>
        </p:scale>
        <p:origin x="1716" y="9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7.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7.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60A259C-2639-495C-A9B0-BCB4C90D713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E"/>
        </a:p>
      </dgm:t>
    </dgm:pt>
    <dgm:pt modelId="{EA7DBC23-6A7C-4485-81A2-2A4111B1FEB4}">
      <dgm:prSet/>
      <dgm:spPr/>
      <dgm:t>
        <a:bodyPr/>
        <a:lstStyle/>
        <a:p>
          <a:r>
            <a:rPr lang="en-US"/>
            <a:t>• RQ1: How accurate are deepfakes generated with common open-source tools across OS and hardware conditions?</a:t>
          </a:r>
          <a:endParaRPr lang="en-IE"/>
        </a:p>
      </dgm:t>
    </dgm:pt>
    <dgm:pt modelId="{8F9D0730-0144-40E7-B4B2-E6575E0AFB15}" type="parTrans" cxnId="{2CA83775-8F47-47EF-9D97-303E5B93E333}">
      <dgm:prSet/>
      <dgm:spPr/>
      <dgm:t>
        <a:bodyPr/>
        <a:lstStyle/>
        <a:p>
          <a:endParaRPr lang="en-IE"/>
        </a:p>
      </dgm:t>
    </dgm:pt>
    <dgm:pt modelId="{4F2AB62E-8E90-4DCC-B59C-5D26768962E9}" type="sibTrans" cxnId="{2CA83775-8F47-47EF-9D97-303E5B93E333}">
      <dgm:prSet/>
      <dgm:spPr/>
      <dgm:t>
        <a:bodyPr/>
        <a:lstStyle/>
        <a:p>
          <a:endParaRPr lang="en-IE"/>
        </a:p>
      </dgm:t>
    </dgm:pt>
    <dgm:pt modelId="{E3747B73-1CC6-42C1-87CB-341C33E70E20}">
      <dgm:prSet/>
      <dgm:spPr/>
      <dgm:t>
        <a:bodyPr/>
        <a:lstStyle/>
        <a:p>
          <a:r>
            <a:rPr lang="en-US" dirty="0"/>
            <a:t>• RQ2: Can deepfakes bypass Apple Face ID to unlock Microsoft Authenticator and gain enterprise access?</a:t>
          </a:r>
          <a:endParaRPr lang="en-IE" dirty="0"/>
        </a:p>
      </dgm:t>
    </dgm:pt>
    <dgm:pt modelId="{49D230D5-90E0-472A-B13E-F1E80D084FA6}" type="parTrans" cxnId="{131B39C6-182D-4157-8308-32114C429716}">
      <dgm:prSet/>
      <dgm:spPr/>
      <dgm:t>
        <a:bodyPr/>
        <a:lstStyle/>
        <a:p>
          <a:endParaRPr lang="en-IE"/>
        </a:p>
      </dgm:t>
    </dgm:pt>
    <dgm:pt modelId="{EDBC4BE9-E648-4E68-A82A-492F27F28532}" type="sibTrans" cxnId="{131B39C6-182D-4157-8308-32114C429716}">
      <dgm:prSet/>
      <dgm:spPr/>
      <dgm:t>
        <a:bodyPr/>
        <a:lstStyle/>
        <a:p>
          <a:endParaRPr lang="en-IE"/>
        </a:p>
      </dgm:t>
    </dgm:pt>
    <dgm:pt modelId="{BEC239B2-321D-40E9-AA37-33F9AD3C6C2B}" type="pres">
      <dgm:prSet presAssocID="{860A259C-2639-495C-A9B0-BCB4C90D7137}" presName="linear" presStyleCnt="0">
        <dgm:presLayoutVars>
          <dgm:animLvl val="lvl"/>
          <dgm:resizeHandles val="exact"/>
        </dgm:presLayoutVars>
      </dgm:prSet>
      <dgm:spPr/>
    </dgm:pt>
    <dgm:pt modelId="{D27BF4E2-9904-4233-A455-1D0299D1B996}" type="pres">
      <dgm:prSet presAssocID="{EA7DBC23-6A7C-4485-81A2-2A4111B1FEB4}" presName="parentText" presStyleLbl="node1" presStyleIdx="0" presStyleCnt="2">
        <dgm:presLayoutVars>
          <dgm:chMax val="0"/>
          <dgm:bulletEnabled val="1"/>
        </dgm:presLayoutVars>
      </dgm:prSet>
      <dgm:spPr/>
    </dgm:pt>
    <dgm:pt modelId="{D3727F38-663C-4299-9E85-86AD33CE2EE8}" type="pres">
      <dgm:prSet presAssocID="{4F2AB62E-8E90-4DCC-B59C-5D26768962E9}" presName="spacer" presStyleCnt="0"/>
      <dgm:spPr/>
    </dgm:pt>
    <dgm:pt modelId="{778BA75F-BE4F-4900-94BB-BA00A68EE991}" type="pres">
      <dgm:prSet presAssocID="{E3747B73-1CC6-42C1-87CB-341C33E70E20}" presName="parentText" presStyleLbl="node1" presStyleIdx="1" presStyleCnt="2" custLinFactY="22255" custLinFactNeighborY="100000">
        <dgm:presLayoutVars>
          <dgm:chMax val="0"/>
          <dgm:bulletEnabled val="1"/>
        </dgm:presLayoutVars>
      </dgm:prSet>
      <dgm:spPr/>
    </dgm:pt>
  </dgm:ptLst>
  <dgm:cxnLst>
    <dgm:cxn modelId="{2CBDFA3F-5B50-45ED-822F-C755DEFD17E2}" type="presOf" srcId="{EA7DBC23-6A7C-4485-81A2-2A4111B1FEB4}" destId="{D27BF4E2-9904-4233-A455-1D0299D1B996}" srcOrd="0" destOrd="0" presId="urn:microsoft.com/office/officeart/2005/8/layout/vList2"/>
    <dgm:cxn modelId="{2CA83775-8F47-47EF-9D97-303E5B93E333}" srcId="{860A259C-2639-495C-A9B0-BCB4C90D7137}" destId="{EA7DBC23-6A7C-4485-81A2-2A4111B1FEB4}" srcOrd="0" destOrd="0" parTransId="{8F9D0730-0144-40E7-B4B2-E6575E0AFB15}" sibTransId="{4F2AB62E-8E90-4DCC-B59C-5D26768962E9}"/>
    <dgm:cxn modelId="{ACFFC5B9-CC02-4F43-BBA7-9A65494606F5}" type="presOf" srcId="{E3747B73-1CC6-42C1-87CB-341C33E70E20}" destId="{778BA75F-BE4F-4900-94BB-BA00A68EE991}" srcOrd="0" destOrd="0" presId="urn:microsoft.com/office/officeart/2005/8/layout/vList2"/>
    <dgm:cxn modelId="{131B39C6-182D-4157-8308-32114C429716}" srcId="{860A259C-2639-495C-A9B0-BCB4C90D7137}" destId="{E3747B73-1CC6-42C1-87CB-341C33E70E20}" srcOrd="1" destOrd="0" parTransId="{49D230D5-90E0-472A-B13E-F1E80D084FA6}" sibTransId="{EDBC4BE9-E648-4E68-A82A-492F27F28532}"/>
    <dgm:cxn modelId="{D4C554CB-BD88-48E3-B3EB-87AFC2162100}" type="presOf" srcId="{860A259C-2639-495C-A9B0-BCB4C90D7137}" destId="{BEC239B2-321D-40E9-AA37-33F9AD3C6C2B}" srcOrd="0" destOrd="0" presId="urn:microsoft.com/office/officeart/2005/8/layout/vList2"/>
    <dgm:cxn modelId="{81E1493E-3450-4E29-A96C-F229859A81D0}" type="presParOf" srcId="{BEC239B2-321D-40E9-AA37-33F9AD3C6C2B}" destId="{D27BF4E2-9904-4233-A455-1D0299D1B996}" srcOrd="0" destOrd="0" presId="urn:microsoft.com/office/officeart/2005/8/layout/vList2"/>
    <dgm:cxn modelId="{1CFB437C-1DDA-4C88-97FB-78020FBCBB6E}" type="presParOf" srcId="{BEC239B2-321D-40E9-AA37-33F9AD3C6C2B}" destId="{D3727F38-663C-4299-9E85-86AD33CE2EE8}" srcOrd="1" destOrd="0" presId="urn:microsoft.com/office/officeart/2005/8/layout/vList2"/>
    <dgm:cxn modelId="{7FCB5BE2-D491-44F9-B78A-F04B4FF58A37}" type="presParOf" srcId="{BEC239B2-321D-40E9-AA37-33F9AD3C6C2B}" destId="{778BA75F-BE4F-4900-94BB-BA00A68EE991}"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1B92CAF-1036-47D4-B960-345D48F32AF3}"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IE"/>
        </a:p>
      </dgm:t>
    </dgm:pt>
    <dgm:pt modelId="{DF04CA0A-BD9B-434D-BE91-A4677B16FDEE}">
      <dgm:prSet custT="1"/>
      <dgm:spPr/>
      <dgm:t>
        <a:bodyPr/>
        <a:lstStyle/>
        <a:p>
          <a:r>
            <a:rPr lang="en-US" sz="3200" kern="1200" dirty="0">
              <a:solidFill>
                <a:schemeClr val="accent5">
                  <a:lumMod val="40000"/>
                  <a:lumOff val="60000"/>
                </a:schemeClr>
              </a:solidFill>
              <a:latin typeface="+mn-lt"/>
              <a:ea typeface="+mn-ea"/>
              <a:cs typeface="+mn-cs"/>
            </a:rPr>
            <a:t>Assess the ability of deepfakes to bypass facial biometric systems</a:t>
          </a:r>
          <a:endParaRPr lang="en-IE" sz="3200" kern="1200" dirty="0">
            <a:solidFill>
              <a:schemeClr val="accent5">
                <a:lumMod val="40000"/>
                <a:lumOff val="60000"/>
              </a:schemeClr>
            </a:solidFill>
            <a:latin typeface="+mn-lt"/>
            <a:ea typeface="+mn-ea"/>
            <a:cs typeface="+mn-cs"/>
          </a:endParaRPr>
        </a:p>
      </dgm:t>
    </dgm:pt>
    <dgm:pt modelId="{D700485C-5551-48F2-94BA-EC8E38995224}" type="parTrans" cxnId="{06D83F59-F284-4450-9C3B-2256DB9C2D5B}">
      <dgm:prSet/>
      <dgm:spPr/>
      <dgm:t>
        <a:bodyPr/>
        <a:lstStyle/>
        <a:p>
          <a:endParaRPr lang="en-IE"/>
        </a:p>
      </dgm:t>
    </dgm:pt>
    <dgm:pt modelId="{CAD4ADC0-C344-486D-8716-611BFC1D6576}" type="sibTrans" cxnId="{06D83F59-F284-4450-9C3B-2256DB9C2D5B}">
      <dgm:prSet/>
      <dgm:spPr/>
      <dgm:t>
        <a:bodyPr/>
        <a:lstStyle/>
        <a:p>
          <a:endParaRPr lang="en-IE"/>
        </a:p>
      </dgm:t>
    </dgm:pt>
    <dgm:pt modelId="{A003D8AB-BBE8-4F2C-9E29-2A25C9F7D1C7}">
      <dgm:prSet custT="1"/>
      <dgm:spPr/>
      <dgm:t>
        <a:bodyPr/>
        <a:lstStyle/>
        <a:p>
          <a:r>
            <a:rPr lang="en-US" sz="3200" kern="1200" dirty="0">
              <a:solidFill>
                <a:schemeClr val="accent5">
                  <a:lumMod val="40000"/>
                  <a:lumOff val="60000"/>
                </a:schemeClr>
              </a:solidFill>
              <a:latin typeface="+mn-lt"/>
              <a:ea typeface="+mn-ea"/>
              <a:cs typeface="+mn-cs"/>
            </a:rPr>
            <a:t>Evaluate state-of-the-art detection tools</a:t>
          </a:r>
          <a:endParaRPr lang="en-IE" sz="3200" kern="1200" dirty="0">
            <a:solidFill>
              <a:schemeClr val="accent5">
                <a:lumMod val="40000"/>
                <a:lumOff val="60000"/>
              </a:schemeClr>
            </a:solidFill>
            <a:latin typeface="+mn-lt"/>
            <a:ea typeface="+mn-ea"/>
            <a:cs typeface="+mn-cs"/>
          </a:endParaRPr>
        </a:p>
      </dgm:t>
    </dgm:pt>
    <dgm:pt modelId="{7F4CB134-BB4F-4272-A78A-5AA3C17C0E7B}" type="parTrans" cxnId="{165B5FA7-01EA-4E69-B5E4-F6877DCD2E0E}">
      <dgm:prSet/>
      <dgm:spPr/>
      <dgm:t>
        <a:bodyPr/>
        <a:lstStyle/>
        <a:p>
          <a:endParaRPr lang="en-IE"/>
        </a:p>
      </dgm:t>
    </dgm:pt>
    <dgm:pt modelId="{B70452CD-211B-4578-91A2-4EC438FE8DA1}" type="sibTrans" cxnId="{165B5FA7-01EA-4E69-B5E4-F6877DCD2E0E}">
      <dgm:prSet/>
      <dgm:spPr/>
      <dgm:t>
        <a:bodyPr/>
        <a:lstStyle/>
        <a:p>
          <a:endParaRPr lang="en-IE"/>
        </a:p>
      </dgm:t>
    </dgm:pt>
    <dgm:pt modelId="{FB78D770-A97E-434B-9717-2A495FF1284B}">
      <dgm:prSet custT="1"/>
      <dgm:spPr/>
      <dgm:t>
        <a:bodyPr/>
        <a:lstStyle/>
        <a:p>
          <a:r>
            <a:rPr lang="en-US" sz="3200" kern="1200" dirty="0">
              <a:solidFill>
                <a:schemeClr val="accent5">
                  <a:lumMod val="40000"/>
                  <a:lumOff val="60000"/>
                </a:schemeClr>
              </a:solidFill>
              <a:latin typeface="+mn-lt"/>
              <a:ea typeface="+mn-ea"/>
              <a:cs typeface="+mn-cs"/>
            </a:rPr>
            <a:t>Identify</a:t>
          </a:r>
          <a:r>
            <a:rPr lang="en-US" sz="3500" kern="1200" dirty="0"/>
            <a:t> </a:t>
          </a:r>
          <a:r>
            <a:rPr lang="en-US" sz="3200" kern="1200" dirty="0">
              <a:solidFill>
                <a:schemeClr val="accent5">
                  <a:lumMod val="40000"/>
                  <a:lumOff val="60000"/>
                </a:schemeClr>
              </a:solidFill>
              <a:latin typeface="+mn-lt"/>
              <a:ea typeface="+mn-ea"/>
              <a:cs typeface="+mn-cs"/>
            </a:rPr>
            <a:t>weaknesses in current defences</a:t>
          </a:r>
          <a:endParaRPr lang="en-IE" sz="3200" kern="1200" dirty="0">
            <a:solidFill>
              <a:schemeClr val="accent5">
                <a:lumMod val="40000"/>
                <a:lumOff val="60000"/>
              </a:schemeClr>
            </a:solidFill>
            <a:latin typeface="+mn-lt"/>
            <a:ea typeface="+mn-ea"/>
            <a:cs typeface="+mn-cs"/>
          </a:endParaRPr>
        </a:p>
      </dgm:t>
    </dgm:pt>
    <dgm:pt modelId="{A9CCE25F-C9F6-4B78-8DF1-4F24F9A6CDD8}" type="parTrans" cxnId="{22FAE546-CB25-4C15-8FEA-4ABB43EF36B4}">
      <dgm:prSet/>
      <dgm:spPr/>
      <dgm:t>
        <a:bodyPr/>
        <a:lstStyle/>
        <a:p>
          <a:endParaRPr lang="en-IE"/>
        </a:p>
      </dgm:t>
    </dgm:pt>
    <dgm:pt modelId="{F2CF407B-123E-481E-B61B-CAD6AEE45465}" type="sibTrans" cxnId="{22FAE546-CB25-4C15-8FEA-4ABB43EF36B4}">
      <dgm:prSet/>
      <dgm:spPr/>
      <dgm:t>
        <a:bodyPr/>
        <a:lstStyle/>
        <a:p>
          <a:endParaRPr lang="en-IE"/>
        </a:p>
      </dgm:t>
    </dgm:pt>
    <dgm:pt modelId="{0208FBB2-79F7-4444-B09B-E69C9DE66BAC}">
      <dgm:prSet custT="1"/>
      <dgm:spPr/>
      <dgm:t>
        <a:bodyPr/>
        <a:lstStyle/>
        <a:p>
          <a:r>
            <a:rPr lang="en-US" sz="3200" kern="1200" dirty="0">
              <a:solidFill>
                <a:schemeClr val="accent5">
                  <a:lumMod val="40000"/>
                  <a:lumOff val="60000"/>
                </a:schemeClr>
              </a:solidFill>
              <a:latin typeface="+mn-lt"/>
              <a:ea typeface="+mn-ea"/>
              <a:cs typeface="+mn-cs"/>
            </a:rPr>
            <a:t>Propose</a:t>
          </a:r>
          <a:r>
            <a:rPr lang="en-US" sz="3500" kern="1200" dirty="0"/>
            <a:t> </a:t>
          </a:r>
          <a:r>
            <a:rPr lang="en-US" sz="3200" kern="1200" dirty="0">
              <a:solidFill>
                <a:schemeClr val="accent5">
                  <a:lumMod val="40000"/>
                  <a:lumOff val="60000"/>
                </a:schemeClr>
              </a:solidFill>
              <a:latin typeface="+mn-lt"/>
              <a:ea typeface="+mn-ea"/>
              <a:cs typeface="+mn-cs"/>
            </a:rPr>
            <a:t>recommendations</a:t>
          </a:r>
          <a:r>
            <a:rPr lang="en-US" sz="3500" kern="1200" dirty="0"/>
            <a:t> </a:t>
          </a:r>
          <a:r>
            <a:rPr lang="en-US" sz="3200" kern="1200" dirty="0">
              <a:solidFill>
                <a:schemeClr val="accent5">
                  <a:lumMod val="40000"/>
                  <a:lumOff val="60000"/>
                </a:schemeClr>
              </a:solidFill>
              <a:latin typeface="+mn-lt"/>
              <a:ea typeface="+mn-ea"/>
              <a:cs typeface="+mn-cs"/>
            </a:rPr>
            <a:t>for</a:t>
          </a:r>
          <a:r>
            <a:rPr lang="en-US" sz="3500" kern="1200" dirty="0"/>
            <a:t> </a:t>
          </a:r>
          <a:r>
            <a:rPr lang="en-US" sz="3200" kern="1200" dirty="0">
              <a:solidFill>
                <a:schemeClr val="accent5">
                  <a:lumMod val="40000"/>
                  <a:lumOff val="60000"/>
                </a:schemeClr>
              </a:solidFill>
              <a:latin typeface="+mn-lt"/>
              <a:ea typeface="+mn-ea"/>
              <a:cs typeface="+mn-cs"/>
            </a:rPr>
            <a:t>resilience</a:t>
          </a:r>
          <a:endParaRPr lang="en-IE" sz="3200" kern="1200" dirty="0">
            <a:solidFill>
              <a:schemeClr val="accent5">
                <a:lumMod val="40000"/>
                <a:lumOff val="60000"/>
              </a:schemeClr>
            </a:solidFill>
            <a:latin typeface="+mn-lt"/>
            <a:ea typeface="+mn-ea"/>
            <a:cs typeface="+mn-cs"/>
          </a:endParaRPr>
        </a:p>
      </dgm:t>
    </dgm:pt>
    <dgm:pt modelId="{E5AAF08E-E623-4658-85EC-69C92D9E778E}" type="parTrans" cxnId="{E27D8F81-AC2F-45E1-B1E8-58F41CABE02B}">
      <dgm:prSet/>
      <dgm:spPr/>
      <dgm:t>
        <a:bodyPr/>
        <a:lstStyle/>
        <a:p>
          <a:endParaRPr lang="en-IE"/>
        </a:p>
      </dgm:t>
    </dgm:pt>
    <dgm:pt modelId="{23A89D6A-CEE4-4FE4-9798-0334286C9B79}" type="sibTrans" cxnId="{E27D8F81-AC2F-45E1-B1E8-58F41CABE02B}">
      <dgm:prSet/>
      <dgm:spPr/>
      <dgm:t>
        <a:bodyPr/>
        <a:lstStyle/>
        <a:p>
          <a:endParaRPr lang="en-IE"/>
        </a:p>
      </dgm:t>
    </dgm:pt>
    <dgm:pt modelId="{554DC99B-95A6-4643-B7BA-387F723A1475}" type="pres">
      <dgm:prSet presAssocID="{C1B92CAF-1036-47D4-B960-345D48F32AF3}" presName="vert0" presStyleCnt="0">
        <dgm:presLayoutVars>
          <dgm:dir/>
          <dgm:animOne val="branch"/>
          <dgm:animLvl val="lvl"/>
        </dgm:presLayoutVars>
      </dgm:prSet>
      <dgm:spPr/>
    </dgm:pt>
    <dgm:pt modelId="{E30BB64A-1294-46A3-AD99-4D6377B75CBF}" type="pres">
      <dgm:prSet presAssocID="{DF04CA0A-BD9B-434D-BE91-A4677B16FDEE}" presName="thickLine" presStyleLbl="alignNode1" presStyleIdx="0" presStyleCnt="4"/>
      <dgm:spPr/>
    </dgm:pt>
    <dgm:pt modelId="{1F19F16B-9614-4DC4-A9AA-FD1693C6B02F}" type="pres">
      <dgm:prSet presAssocID="{DF04CA0A-BD9B-434D-BE91-A4677B16FDEE}" presName="horz1" presStyleCnt="0"/>
      <dgm:spPr/>
    </dgm:pt>
    <dgm:pt modelId="{1656CB3C-014D-49DD-8387-C20BDE70DF0B}" type="pres">
      <dgm:prSet presAssocID="{DF04CA0A-BD9B-434D-BE91-A4677B16FDEE}" presName="tx1" presStyleLbl="revTx" presStyleIdx="0" presStyleCnt="4"/>
      <dgm:spPr/>
    </dgm:pt>
    <dgm:pt modelId="{96E72A29-0A8F-4A50-8101-C4A7A98821AF}" type="pres">
      <dgm:prSet presAssocID="{DF04CA0A-BD9B-434D-BE91-A4677B16FDEE}" presName="vert1" presStyleCnt="0"/>
      <dgm:spPr/>
    </dgm:pt>
    <dgm:pt modelId="{BB6EF8EC-8DC9-4D17-8152-E85CE8CB791F}" type="pres">
      <dgm:prSet presAssocID="{A003D8AB-BBE8-4F2C-9E29-2A25C9F7D1C7}" presName="thickLine" presStyleLbl="alignNode1" presStyleIdx="1" presStyleCnt="4"/>
      <dgm:spPr/>
    </dgm:pt>
    <dgm:pt modelId="{133B0771-2F2F-4F43-AD1C-A79601D0A402}" type="pres">
      <dgm:prSet presAssocID="{A003D8AB-BBE8-4F2C-9E29-2A25C9F7D1C7}" presName="horz1" presStyleCnt="0"/>
      <dgm:spPr/>
    </dgm:pt>
    <dgm:pt modelId="{3B7279CE-B90A-4E2D-9621-9C6739093799}" type="pres">
      <dgm:prSet presAssocID="{A003D8AB-BBE8-4F2C-9E29-2A25C9F7D1C7}" presName="tx1" presStyleLbl="revTx" presStyleIdx="1" presStyleCnt="4"/>
      <dgm:spPr/>
    </dgm:pt>
    <dgm:pt modelId="{E33E9B8B-6DF7-4301-A289-478752357496}" type="pres">
      <dgm:prSet presAssocID="{A003D8AB-BBE8-4F2C-9E29-2A25C9F7D1C7}" presName="vert1" presStyleCnt="0"/>
      <dgm:spPr/>
    </dgm:pt>
    <dgm:pt modelId="{592EECAC-3653-4373-A948-E703B57CC220}" type="pres">
      <dgm:prSet presAssocID="{FB78D770-A97E-434B-9717-2A495FF1284B}" presName="thickLine" presStyleLbl="alignNode1" presStyleIdx="2" presStyleCnt="4"/>
      <dgm:spPr/>
    </dgm:pt>
    <dgm:pt modelId="{689DCEB9-2CD1-42E5-99C7-D4F8FAF7ABE4}" type="pres">
      <dgm:prSet presAssocID="{FB78D770-A97E-434B-9717-2A495FF1284B}" presName="horz1" presStyleCnt="0"/>
      <dgm:spPr/>
    </dgm:pt>
    <dgm:pt modelId="{BEFDF6AF-8A62-4635-A135-3C5FCEAF9677}" type="pres">
      <dgm:prSet presAssocID="{FB78D770-A97E-434B-9717-2A495FF1284B}" presName="tx1" presStyleLbl="revTx" presStyleIdx="2" presStyleCnt="4"/>
      <dgm:spPr/>
    </dgm:pt>
    <dgm:pt modelId="{6FA1DCB3-406A-42D0-B18C-CBC971FA6AFA}" type="pres">
      <dgm:prSet presAssocID="{FB78D770-A97E-434B-9717-2A495FF1284B}" presName="vert1" presStyleCnt="0"/>
      <dgm:spPr/>
    </dgm:pt>
    <dgm:pt modelId="{1237C76A-2991-40FF-8F26-44611E3E2C2A}" type="pres">
      <dgm:prSet presAssocID="{0208FBB2-79F7-4444-B09B-E69C9DE66BAC}" presName="thickLine" presStyleLbl="alignNode1" presStyleIdx="3" presStyleCnt="4"/>
      <dgm:spPr/>
    </dgm:pt>
    <dgm:pt modelId="{A620AFBD-4561-4279-8941-5B1F799E31DF}" type="pres">
      <dgm:prSet presAssocID="{0208FBB2-79F7-4444-B09B-E69C9DE66BAC}" presName="horz1" presStyleCnt="0"/>
      <dgm:spPr/>
    </dgm:pt>
    <dgm:pt modelId="{5E599D59-CF2C-429E-AF48-5169CC63634A}" type="pres">
      <dgm:prSet presAssocID="{0208FBB2-79F7-4444-B09B-E69C9DE66BAC}" presName="tx1" presStyleLbl="revTx" presStyleIdx="3" presStyleCnt="4"/>
      <dgm:spPr/>
    </dgm:pt>
    <dgm:pt modelId="{6B97294D-0DF7-4465-884E-0BFBCFBA2F97}" type="pres">
      <dgm:prSet presAssocID="{0208FBB2-79F7-4444-B09B-E69C9DE66BAC}" presName="vert1" presStyleCnt="0"/>
      <dgm:spPr/>
    </dgm:pt>
  </dgm:ptLst>
  <dgm:cxnLst>
    <dgm:cxn modelId="{D8F6A542-F847-4638-A0CB-BDB7B5359C8A}" type="presOf" srcId="{A003D8AB-BBE8-4F2C-9E29-2A25C9F7D1C7}" destId="{3B7279CE-B90A-4E2D-9621-9C6739093799}" srcOrd="0" destOrd="0" presId="urn:microsoft.com/office/officeart/2008/layout/LinedList"/>
    <dgm:cxn modelId="{22FAE546-CB25-4C15-8FEA-4ABB43EF36B4}" srcId="{C1B92CAF-1036-47D4-B960-345D48F32AF3}" destId="{FB78D770-A97E-434B-9717-2A495FF1284B}" srcOrd="2" destOrd="0" parTransId="{A9CCE25F-C9F6-4B78-8DF1-4F24F9A6CDD8}" sibTransId="{F2CF407B-123E-481E-B61B-CAD6AEE45465}"/>
    <dgm:cxn modelId="{6985276B-B785-4EA1-BD7B-E4BA3386B3FD}" type="presOf" srcId="{DF04CA0A-BD9B-434D-BE91-A4677B16FDEE}" destId="{1656CB3C-014D-49DD-8387-C20BDE70DF0B}" srcOrd="0" destOrd="0" presId="urn:microsoft.com/office/officeart/2008/layout/LinedList"/>
    <dgm:cxn modelId="{06D83F59-F284-4450-9C3B-2256DB9C2D5B}" srcId="{C1B92CAF-1036-47D4-B960-345D48F32AF3}" destId="{DF04CA0A-BD9B-434D-BE91-A4677B16FDEE}" srcOrd="0" destOrd="0" parTransId="{D700485C-5551-48F2-94BA-EC8E38995224}" sibTransId="{CAD4ADC0-C344-486D-8716-611BFC1D6576}"/>
    <dgm:cxn modelId="{E27D8F81-AC2F-45E1-B1E8-58F41CABE02B}" srcId="{C1B92CAF-1036-47D4-B960-345D48F32AF3}" destId="{0208FBB2-79F7-4444-B09B-E69C9DE66BAC}" srcOrd="3" destOrd="0" parTransId="{E5AAF08E-E623-4658-85EC-69C92D9E778E}" sibTransId="{23A89D6A-CEE4-4FE4-9798-0334286C9B79}"/>
    <dgm:cxn modelId="{8B0C369B-CD4C-48D1-879C-9C44FA1C91BD}" type="presOf" srcId="{0208FBB2-79F7-4444-B09B-E69C9DE66BAC}" destId="{5E599D59-CF2C-429E-AF48-5169CC63634A}" srcOrd="0" destOrd="0" presId="urn:microsoft.com/office/officeart/2008/layout/LinedList"/>
    <dgm:cxn modelId="{165B5FA7-01EA-4E69-B5E4-F6877DCD2E0E}" srcId="{C1B92CAF-1036-47D4-B960-345D48F32AF3}" destId="{A003D8AB-BBE8-4F2C-9E29-2A25C9F7D1C7}" srcOrd="1" destOrd="0" parTransId="{7F4CB134-BB4F-4272-A78A-5AA3C17C0E7B}" sibTransId="{B70452CD-211B-4578-91A2-4EC438FE8DA1}"/>
    <dgm:cxn modelId="{17ECC4AE-7DDF-4544-A4CD-63A28F887261}" type="presOf" srcId="{FB78D770-A97E-434B-9717-2A495FF1284B}" destId="{BEFDF6AF-8A62-4635-A135-3C5FCEAF9677}" srcOrd="0" destOrd="0" presId="urn:microsoft.com/office/officeart/2008/layout/LinedList"/>
    <dgm:cxn modelId="{C949FDE0-FB18-4CD0-BD6D-379D3C8ECE27}" type="presOf" srcId="{C1B92CAF-1036-47D4-B960-345D48F32AF3}" destId="{554DC99B-95A6-4643-B7BA-387F723A1475}" srcOrd="0" destOrd="0" presId="urn:microsoft.com/office/officeart/2008/layout/LinedList"/>
    <dgm:cxn modelId="{8504D26B-0687-4A8A-859C-DC7995D8C381}" type="presParOf" srcId="{554DC99B-95A6-4643-B7BA-387F723A1475}" destId="{E30BB64A-1294-46A3-AD99-4D6377B75CBF}" srcOrd="0" destOrd="0" presId="urn:microsoft.com/office/officeart/2008/layout/LinedList"/>
    <dgm:cxn modelId="{D0BE0C6E-9422-4AAA-8274-06E890A0183D}" type="presParOf" srcId="{554DC99B-95A6-4643-B7BA-387F723A1475}" destId="{1F19F16B-9614-4DC4-A9AA-FD1693C6B02F}" srcOrd="1" destOrd="0" presId="urn:microsoft.com/office/officeart/2008/layout/LinedList"/>
    <dgm:cxn modelId="{C1E14B3A-688C-444C-9EBC-91E44F01CFF5}" type="presParOf" srcId="{1F19F16B-9614-4DC4-A9AA-FD1693C6B02F}" destId="{1656CB3C-014D-49DD-8387-C20BDE70DF0B}" srcOrd="0" destOrd="0" presId="urn:microsoft.com/office/officeart/2008/layout/LinedList"/>
    <dgm:cxn modelId="{CE614380-F11E-4357-96B1-157495A6CE18}" type="presParOf" srcId="{1F19F16B-9614-4DC4-A9AA-FD1693C6B02F}" destId="{96E72A29-0A8F-4A50-8101-C4A7A98821AF}" srcOrd="1" destOrd="0" presId="urn:microsoft.com/office/officeart/2008/layout/LinedList"/>
    <dgm:cxn modelId="{947F7D04-8969-4309-B78A-38EBD3070DCB}" type="presParOf" srcId="{554DC99B-95A6-4643-B7BA-387F723A1475}" destId="{BB6EF8EC-8DC9-4D17-8152-E85CE8CB791F}" srcOrd="2" destOrd="0" presId="urn:microsoft.com/office/officeart/2008/layout/LinedList"/>
    <dgm:cxn modelId="{78721DE3-C713-4670-96D5-E1E7F2685633}" type="presParOf" srcId="{554DC99B-95A6-4643-B7BA-387F723A1475}" destId="{133B0771-2F2F-4F43-AD1C-A79601D0A402}" srcOrd="3" destOrd="0" presId="urn:microsoft.com/office/officeart/2008/layout/LinedList"/>
    <dgm:cxn modelId="{01DEAD4A-D87C-4C75-A503-DB7CDCEA8059}" type="presParOf" srcId="{133B0771-2F2F-4F43-AD1C-A79601D0A402}" destId="{3B7279CE-B90A-4E2D-9621-9C6739093799}" srcOrd="0" destOrd="0" presId="urn:microsoft.com/office/officeart/2008/layout/LinedList"/>
    <dgm:cxn modelId="{2B048B8F-4235-4172-AC61-572C64BD31D7}" type="presParOf" srcId="{133B0771-2F2F-4F43-AD1C-A79601D0A402}" destId="{E33E9B8B-6DF7-4301-A289-478752357496}" srcOrd="1" destOrd="0" presId="urn:microsoft.com/office/officeart/2008/layout/LinedList"/>
    <dgm:cxn modelId="{99A27FEA-0D72-4FAB-9576-486273154B30}" type="presParOf" srcId="{554DC99B-95A6-4643-B7BA-387F723A1475}" destId="{592EECAC-3653-4373-A948-E703B57CC220}" srcOrd="4" destOrd="0" presId="urn:microsoft.com/office/officeart/2008/layout/LinedList"/>
    <dgm:cxn modelId="{3F2F0C95-EF72-40B1-B5C1-F5A8B06C31A1}" type="presParOf" srcId="{554DC99B-95A6-4643-B7BA-387F723A1475}" destId="{689DCEB9-2CD1-42E5-99C7-D4F8FAF7ABE4}" srcOrd="5" destOrd="0" presId="urn:microsoft.com/office/officeart/2008/layout/LinedList"/>
    <dgm:cxn modelId="{ACC37CAB-6F8E-4E64-9731-079C0D05BBEB}" type="presParOf" srcId="{689DCEB9-2CD1-42E5-99C7-D4F8FAF7ABE4}" destId="{BEFDF6AF-8A62-4635-A135-3C5FCEAF9677}" srcOrd="0" destOrd="0" presId="urn:microsoft.com/office/officeart/2008/layout/LinedList"/>
    <dgm:cxn modelId="{FABFD9DA-F6F2-4E1E-9303-469EAAF5A25B}" type="presParOf" srcId="{689DCEB9-2CD1-42E5-99C7-D4F8FAF7ABE4}" destId="{6FA1DCB3-406A-42D0-B18C-CBC971FA6AFA}" srcOrd="1" destOrd="0" presId="urn:microsoft.com/office/officeart/2008/layout/LinedList"/>
    <dgm:cxn modelId="{EBC8C5BF-FFFF-4539-840D-591806966B58}" type="presParOf" srcId="{554DC99B-95A6-4643-B7BA-387F723A1475}" destId="{1237C76A-2991-40FF-8F26-44611E3E2C2A}" srcOrd="6" destOrd="0" presId="urn:microsoft.com/office/officeart/2008/layout/LinedList"/>
    <dgm:cxn modelId="{6E084389-1C2D-41B1-B2B1-3D914B636456}" type="presParOf" srcId="{554DC99B-95A6-4643-B7BA-387F723A1475}" destId="{A620AFBD-4561-4279-8941-5B1F799E31DF}" srcOrd="7" destOrd="0" presId="urn:microsoft.com/office/officeart/2008/layout/LinedList"/>
    <dgm:cxn modelId="{F80EC8BF-AA58-4F81-A1C0-A4238A0D66FF}" type="presParOf" srcId="{A620AFBD-4561-4279-8941-5B1F799E31DF}" destId="{5E599D59-CF2C-429E-AF48-5169CC63634A}" srcOrd="0" destOrd="0" presId="urn:microsoft.com/office/officeart/2008/layout/LinedList"/>
    <dgm:cxn modelId="{C324BC09-61C6-4CA8-A5D5-8B512A57E971}" type="presParOf" srcId="{A620AFBD-4561-4279-8941-5B1F799E31DF}" destId="{6B97294D-0DF7-4465-884E-0BFBCFBA2F97}"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E1AFF36-AD6C-4A90-BE36-ED5627B378B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C89525A2-F0AF-4D7F-9B7D-57B8949FC253}">
      <dgm:prSet/>
      <dgm:spPr/>
      <dgm:t>
        <a:bodyPr/>
        <a:lstStyle/>
        <a:p>
          <a:r>
            <a:rPr lang="en-US" dirty="0"/>
            <a:t>Generative AI methods - GANs, diffusion models</a:t>
          </a:r>
        </a:p>
      </dgm:t>
    </dgm:pt>
    <dgm:pt modelId="{C5A47CDB-4EBF-4622-9B4D-2A75DDF5A04B}" type="parTrans" cxnId="{E0129C6A-81BE-45D7-A733-DE7385702377}">
      <dgm:prSet/>
      <dgm:spPr/>
      <dgm:t>
        <a:bodyPr/>
        <a:lstStyle/>
        <a:p>
          <a:endParaRPr lang="en-US"/>
        </a:p>
      </dgm:t>
    </dgm:pt>
    <dgm:pt modelId="{E0B4F241-B96A-457D-B458-BBB6511F6275}" type="sibTrans" cxnId="{E0129C6A-81BE-45D7-A733-DE7385702377}">
      <dgm:prSet/>
      <dgm:spPr/>
      <dgm:t>
        <a:bodyPr/>
        <a:lstStyle/>
        <a:p>
          <a:endParaRPr lang="en-US"/>
        </a:p>
      </dgm:t>
    </dgm:pt>
    <dgm:pt modelId="{1A25F6FC-9933-4CBF-867B-DDE87F9A1F73}">
      <dgm:prSet/>
      <dgm:spPr/>
      <dgm:t>
        <a:bodyPr/>
        <a:lstStyle/>
        <a:p>
          <a:r>
            <a:rPr lang="en-US" dirty="0"/>
            <a:t>Deepfake attack types - face swaps, lip-syncing, identity synthesis</a:t>
          </a:r>
        </a:p>
      </dgm:t>
    </dgm:pt>
    <dgm:pt modelId="{573FDB12-3862-4C6E-9253-1B07F30FDDDB}" type="parTrans" cxnId="{D8E09A60-8B6C-4D8C-ABF6-8C0175AC216A}">
      <dgm:prSet/>
      <dgm:spPr/>
      <dgm:t>
        <a:bodyPr/>
        <a:lstStyle/>
        <a:p>
          <a:endParaRPr lang="en-US"/>
        </a:p>
      </dgm:t>
    </dgm:pt>
    <dgm:pt modelId="{10530E51-85EF-4E94-A1CA-32F30D70BCCF}" type="sibTrans" cxnId="{D8E09A60-8B6C-4D8C-ABF6-8C0175AC216A}">
      <dgm:prSet/>
      <dgm:spPr/>
      <dgm:t>
        <a:bodyPr/>
        <a:lstStyle/>
        <a:p>
          <a:endParaRPr lang="en-US"/>
        </a:p>
      </dgm:t>
    </dgm:pt>
    <dgm:pt modelId="{061A9721-6BD8-4D89-9782-4DA412EBC92D}">
      <dgm:prSet/>
      <dgm:spPr/>
      <dgm:t>
        <a:bodyPr/>
        <a:lstStyle/>
        <a:p>
          <a:r>
            <a:rPr lang="en-US" dirty="0"/>
            <a:t>Defences - detection models, multi-factor approaches</a:t>
          </a:r>
        </a:p>
      </dgm:t>
    </dgm:pt>
    <dgm:pt modelId="{4A67A695-C871-435E-918F-B2B40C726A88}" type="parTrans" cxnId="{A650EEF8-8F4E-4AF1-8432-A73CA0BE705D}">
      <dgm:prSet/>
      <dgm:spPr/>
      <dgm:t>
        <a:bodyPr/>
        <a:lstStyle/>
        <a:p>
          <a:endParaRPr lang="en-US"/>
        </a:p>
      </dgm:t>
    </dgm:pt>
    <dgm:pt modelId="{ECFD9689-7839-458D-9354-31D02D074304}" type="sibTrans" cxnId="{A650EEF8-8F4E-4AF1-8432-A73CA0BE705D}">
      <dgm:prSet/>
      <dgm:spPr/>
      <dgm:t>
        <a:bodyPr/>
        <a:lstStyle/>
        <a:p>
          <a:endParaRPr lang="en-US"/>
        </a:p>
      </dgm:t>
    </dgm:pt>
    <dgm:pt modelId="{936D9593-CC05-42D9-8359-BEC4A16E742D}">
      <dgm:prSet/>
      <dgm:spPr/>
      <dgm:t>
        <a:bodyPr/>
        <a:lstStyle/>
        <a:p>
          <a:r>
            <a:rPr lang="en-US" dirty="0"/>
            <a:t>Gap - studies often lab-based, not real-world deployment</a:t>
          </a:r>
        </a:p>
      </dgm:t>
    </dgm:pt>
    <dgm:pt modelId="{4C75B1AB-6F2A-437C-B109-0F79124A07FC}" type="parTrans" cxnId="{B393E242-71C2-48D3-998C-BB693AAE5E7C}">
      <dgm:prSet/>
      <dgm:spPr/>
      <dgm:t>
        <a:bodyPr/>
        <a:lstStyle/>
        <a:p>
          <a:endParaRPr lang="en-US"/>
        </a:p>
      </dgm:t>
    </dgm:pt>
    <dgm:pt modelId="{67E2E427-06F8-4802-8887-A43F3DC49D9C}" type="sibTrans" cxnId="{B393E242-71C2-48D3-998C-BB693AAE5E7C}">
      <dgm:prSet/>
      <dgm:spPr/>
      <dgm:t>
        <a:bodyPr/>
        <a:lstStyle/>
        <a:p>
          <a:endParaRPr lang="en-US"/>
        </a:p>
      </dgm:t>
    </dgm:pt>
    <dgm:pt modelId="{4B313FDC-5A17-4C21-BCC6-5FCD339E5BBA}" type="pres">
      <dgm:prSet presAssocID="{9E1AFF36-AD6C-4A90-BE36-ED5627B378B2}" presName="linear" presStyleCnt="0">
        <dgm:presLayoutVars>
          <dgm:animLvl val="lvl"/>
          <dgm:resizeHandles val="exact"/>
        </dgm:presLayoutVars>
      </dgm:prSet>
      <dgm:spPr/>
    </dgm:pt>
    <dgm:pt modelId="{8C4EC008-E3D5-4364-BAE3-EA569B6DED1B}" type="pres">
      <dgm:prSet presAssocID="{C89525A2-F0AF-4D7F-9B7D-57B8949FC253}" presName="parentText" presStyleLbl="node1" presStyleIdx="0" presStyleCnt="4">
        <dgm:presLayoutVars>
          <dgm:chMax val="0"/>
          <dgm:bulletEnabled val="1"/>
        </dgm:presLayoutVars>
      </dgm:prSet>
      <dgm:spPr/>
    </dgm:pt>
    <dgm:pt modelId="{5CE867BD-18C1-4263-B468-7645E6C7B916}" type="pres">
      <dgm:prSet presAssocID="{E0B4F241-B96A-457D-B458-BBB6511F6275}" presName="spacer" presStyleCnt="0"/>
      <dgm:spPr/>
    </dgm:pt>
    <dgm:pt modelId="{8336C286-1200-4288-96AF-010A28FF07BF}" type="pres">
      <dgm:prSet presAssocID="{1A25F6FC-9933-4CBF-867B-DDE87F9A1F73}" presName="parentText" presStyleLbl="node1" presStyleIdx="1" presStyleCnt="4">
        <dgm:presLayoutVars>
          <dgm:chMax val="0"/>
          <dgm:bulletEnabled val="1"/>
        </dgm:presLayoutVars>
      </dgm:prSet>
      <dgm:spPr/>
    </dgm:pt>
    <dgm:pt modelId="{7D10D392-F94C-4F72-83D9-5E303E9FE9E2}" type="pres">
      <dgm:prSet presAssocID="{10530E51-85EF-4E94-A1CA-32F30D70BCCF}" presName="spacer" presStyleCnt="0"/>
      <dgm:spPr/>
    </dgm:pt>
    <dgm:pt modelId="{EA3E598A-777F-4441-8CA3-E80A0362525A}" type="pres">
      <dgm:prSet presAssocID="{061A9721-6BD8-4D89-9782-4DA412EBC92D}" presName="parentText" presStyleLbl="node1" presStyleIdx="2" presStyleCnt="4">
        <dgm:presLayoutVars>
          <dgm:chMax val="0"/>
          <dgm:bulletEnabled val="1"/>
        </dgm:presLayoutVars>
      </dgm:prSet>
      <dgm:spPr/>
    </dgm:pt>
    <dgm:pt modelId="{CFACDBCC-EB34-4ACF-AEF6-6099DAA8DEEC}" type="pres">
      <dgm:prSet presAssocID="{ECFD9689-7839-458D-9354-31D02D074304}" presName="spacer" presStyleCnt="0"/>
      <dgm:spPr/>
    </dgm:pt>
    <dgm:pt modelId="{4D21498D-7839-427C-A2C2-656B1F5C52F6}" type="pres">
      <dgm:prSet presAssocID="{936D9593-CC05-42D9-8359-BEC4A16E742D}" presName="parentText" presStyleLbl="node1" presStyleIdx="3" presStyleCnt="4">
        <dgm:presLayoutVars>
          <dgm:chMax val="0"/>
          <dgm:bulletEnabled val="1"/>
        </dgm:presLayoutVars>
      </dgm:prSet>
      <dgm:spPr/>
    </dgm:pt>
  </dgm:ptLst>
  <dgm:cxnLst>
    <dgm:cxn modelId="{C905B402-2FF6-4687-ABA0-E881ABDD3B91}" type="presOf" srcId="{9E1AFF36-AD6C-4A90-BE36-ED5627B378B2}" destId="{4B313FDC-5A17-4C21-BCC6-5FCD339E5BBA}" srcOrd="0" destOrd="0" presId="urn:microsoft.com/office/officeart/2005/8/layout/vList2"/>
    <dgm:cxn modelId="{5B009709-0414-4369-B2A3-551E738AC3AB}" type="presOf" srcId="{C89525A2-F0AF-4D7F-9B7D-57B8949FC253}" destId="{8C4EC008-E3D5-4364-BAE3-EA569B6DED1B}" srcOrd="0" destOrd="0" presId="urn:microsoft.com/office/officeart/2005/8/layout/vList2"/>
    <dgm:cxn modelId="{80100B3A-5867-48ED-87B5-DFD0596CF7BE}" type="presOf" srcId="{1A25F6FC-9933-4CBF-867B-DDE87F9A1F73}" destId="{8336C286-1200-4288-96AF-010A28FF07BF}" srcOrd="0" destOrd="0" presId="urn:microsoft.com/office/officeart/2005/8/layout/vList2"/>
    <dgm:cxn modelId="{D8E09A60-8B6C-4D8C-ABF6-8C0175AC216A}" srcId="{9E1AFF36-AD6C-4A90-BE36-ED5627B378B2}" destId="{1A25F6FC-9933-4CBF-867B-DDE87F9A1F73}" srcOrd="1" destOrd="0" parTransId="{573FDB12-3862-4C6E-9253-1B07F30FDDDB}" sibTransId="{10530E51-85EF-4E94-A1CA-32F30D70BCCF}"/>
    <dgm:cxn modelId="{B393E242-71C2-48D3-998C-BB693AAE5E7C}" srcId="{9E1AFF36-AD6C-4A90-BE36-ED5627B378B2}" destId="{936D9593-CC05-42D9-8359-BEC4A16E742D}" srcOrd="3" destOrd="0" parTransId="{4C75B1AB-6F2A-437C-B109-0F79124A07FC}" sibTransId="{67E2E427-06F8-4802-8887-A43F3DC49D9C}"/>
    <dgm:cxn modelId="{A1988046-6DED-4422-8E96-66531B8D01D0}" type="presOf" srcId="{936D9593-CC05-42D9-8359-BEC4A16E742D}" destId="{4D21498D-7839-427C-A2C2-656B1F5C52F6}" srcOrd="0" destOrd="0" presId="urn:microsoft.com/office/officeart/2005/8/layout/vList2"/>
    <dgm:cxn modelId="{E0129C6A-81BE-45D7-A733-DE7385702377}" srcId="{9E1AFF36-AD6C-4A90-BE36-ED5627B378B2}" destId="{C89525A2-F0AF-4D7F-9B7D-57B8949FC253}" srcOrd="0" destOrd="0" parTransId="{C5A47CDB-4EBF-4622-9B4D-2A75DDF5A04B}" sibTransId="{E0B4F241-B96A-457D-B458-BBB6511F6275}"/>
    <dgm:cxn modelId="{536704D3-CD11-46EC-8919-2971D2162E40}" type="presOf" srcId="{061A9721-6BD8-4D89-9782-4DA412EBC92D}" destId="{EA3E598A-777F-4441-8CA3-E80A0362525A}" srcOrd="0" destOrd="0" presId="urn:microsoft.com/office/officeart/2005/8/layout/vList2"/>
    <dgm:cxn modelId="{A650EEF8-8F4E-4AF1-8432-A73CA0BE705D}" srcId="{9E1AFF36-AD6C-4A90-BE36-ED5627B378B2}" destId="{061A9721-6BD8-4D89-9782-4DA412EBC92D}" srcOrd="2" destOrd="0" parTransId="{4A67A695-C871-435E-918F-B2B40C726A88}" sibTransId="{ECFD9689-7839-458D-9354-31D02D074304}"/>
    <dgm:cxn modelId="{7391DF62-125B-4341-8A8B-8C670CB53D24}" type="presParOf" srcId="{4B313FDC-5A17-4C21-BCC6-5FCD339E5BBA}" destId="{8C4EC008-E3D5-4364-BAE3-EA569B6DED1B}" srcOrd="0" destOrd="0" presId="urn:microsoft.com/office/officeart/2005/8/layout/vList2"/>
    <dgm:cxn modelId="{43551947-A7CF-4B0F-B49D-64C694ADCDEE}" type="presParOf" srcId="{4B313FDC-5A17-4C21-BCC6-5FCD339E5BBA}" destId="{5CE867BD-18C1-4263-B468-7645E6C7B916}" srcOrd="1" destOrd="0" presId="urn:microsoft.com/office/officeart/2005/8/layout/vList2"/>
    <dgm:cxn modelId="{915AECDC-9ED7-4722-A182-03F457E46E68}" type="presParOf" srcId="{4B313FDC-5A17-4C21-BCC6-5FCD339E5BBA}" destId="{8336C286-1200-4288-96AF-010A28FF07BF}" srcOrd="2" destOrd="0" presId="urn:microsoft.com/office/officeart/2005/8/layout/vList2"/>
    <dgm:cxn modelId="{5C13BD9A-DAA2-4D44-A025-A9C8D018D948}" type="presParOf" srcId="{4B313FDC-5A17-4C21-BCC6-5FCD339E5BBA}" destId="{7D10D392-F94C-4F72-83D9-5E303E9FE9E2}" srcOrd="3" destOrd="0" presId="urn:microsoft.com/office/officeart/2005/8/layout/vList2"/>
    <dgm:cxn modelId="{30B44E2E-C912-49E8-B902-251228066F45}" type="presParOf" srcId="{4B313FDC-5A17-4C21-BCC6-5FCD339E5BBA}" destId="{EA3E598A-777F-4441-8CA3-E80A0362525A}" srcOrd="4" destOrd="0" presId="urn:microsoft.com/office/officeart/2005/8/layout/vList2"/>
    <dgm:cxn modelId="{91358F10-ED45-4522-B94F-A632C73EEE6E}" type="presParOf" srcId="{4B313FDC-5A17-4C21-BCC6-5FCD339E5BBA}" destId="{CFACDBCC-EB34-4ACF-AEF6-6099DAA8DEEC}" srcOrd="5" destOrd="0" presId="urn:microsoft.com/office/officeart/2005/8/layout/vList2"/>
    <dgm:cxn modelId="{34FA8724-BAB7-4035-BA62-7755A1F78DF9}" type="presParOf" srcId="{4B313FDC-5A17-4C21-BCC6-5FCD339E5BBA}" destId="{4D21498D-7839-427C-A2C2-656B1F5C52F6}"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179642D-A48E-4901-BBFD-4169ED2DA1F4}"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3BA7F54D-4514-45CE-849C-CA4CB850200E}">
      <dgm:prSet/>
      <dgm:spPr/>
      <dgm:t>
        <a:bodyPr/>
        <a:lstStyle/>
        <a:p>
          <a:r>
            <a:rPr lang="en-US" dirty="0"/>
            <a:t>First CPU-only, cross-tool, cross-OS benchmark (DeepFaceLab,       FaceSwap, FaceFusion)</a:t>
          </a:r>
        </a:p>
      </dgm:t>
    </dgm:pt>
    <dgm:pt modelId="{77716EEE-C0F3-4DF1-98F6-B2DCB0C075D7}" type="parTrans" cxnId="{749E81FF-7340-4E20-98D4-0DD86A1026CF}">
      <dgm:prSet/>
      <dgm:spPr/>
      <dgm:t>
        <a:bodyPr/>
        <a:lstStyle/>
        <a:p>
          <a:endParaRPr lang="en-US"/>
        </a:p>
      </dgm:t>
    </dgm:pt>
    <dgm:pt modelId="{30B18C17-78E9-40C4-A2CE-F7B64F232303}" type="sibTrans" cxnId="{749E81FF-7340-4E20-98D4-0DD86A1026CF}">
      <dgm:prSet/>
      <dgm:spPr/>
      <dgm:t>
        <a:bodyPr/>
        <a:lstStyle/>
        <a:p>
          <a:endParaRPr lang="en-US"/>
        </a:p>
      </dgm:t>
    </dgm:pt>
    <dgm:pt modelId="{F56E52A3-4C94-468B-87C6-7362D4D9FD44}">
      <dgm:prSet/>
      <dgm:spPr/>
      <dgm:t>
        <a:bodyPr/>
        <a:lstStyle/>
        <a:p>
          <a:r>
            <a:rPr lang="en-US" dirty="0"/>
            <a:t>Private biometric dataset (ethical, GDPR-compliant)</a:t>
          </a:r>
        </a:p>
      </dgm:t>
    </dgm:pt>
    <dgm:pt modelId="{202DF785-D3FF-4FB0-AF5C-C37B197C2455}" type="parTrans" cxnId="{213AECA1-7C00-40CB-934C-01F67C3554E5}">
      <dgm:prSet/>
      <dgm:spPr/>
      <dgm:t>
        <a:bodyPr/>
        <a:lstStyle/>
        <a:p>
          <a:endParaRPr lang="en-US"/>
        </a:p>
      </dgm:t>
    </dgm:pt>
    <dgm:pt modelId="{97C63A12-FA33-4C82-A33E-02FED21DC6D6}" type="sibTrans" cxnId="{213AECA1-7C00-40CB-934C-01F67C3554E5}">
      <dgm:prSet/>
      <dgm:spPr/>
      <dgm:t>
        <a:bodyPr/>
        <a:lstStyle/>
        <a:p>
          <a:endParaRPr lang="en-US"/>
        </a:p>
      </dgm:t>
    </dgm:pt>
    <dgm:pt modelId="{D1012975-539E-4D0D-A3D0-532DFD69D65D}">
      <dgm:prSet/>
      <dgm:spPr/>
      <dgm:t>
        <a:bodyPr/>
        <a:lstStyle/>
        <a:p>
          <a:r>
            <a:rPr lang="en-US" dirty="0"/>
            <a:t>First MFA bypass demonstration: iPhone Face ID </a:t>
          </a:r>
          <a:r>
            <a:rPr lang="en-IE" dirty="0"/>
            <a:t>→ Microsoft Authenticator → Azure</a:t>
          </a:r>
          <a:endParaRPr lang="en-US" dirty="0"/>
        </a:p>
      </dgm:t>
    </dgm:pt>
    <dgm:pt modelId="{6C9308C3-0DF8-4C5E-8212-3E20B23D053F}" type="parTrans" cxnId="{3E7F9421-71CE-42DF-8555-20664BA070E1}">
      <dgm:prSet/>
      <dgm:spPr/>
      <dgm:t>
        <a:bodyPr/>
        <a:lstStyle/>
        <a:p>
          <a:endParaRPr lang="en-US"/>
        </a:p>
      </dgm:t>
    </dgm:pt>
    <dgm:pt modelId="{951A66C6-7B79-45C9-AFF8-C20FD7F816C4}" type="sibTrans" cxnId="{3E7F9421-71CE-42DF-8555-20664BA070E1}">
      <dgm:prSet/>
      <dgm:spPr/>
      <dgm:t>
        <a:bodyPr/>
        <a:lstStyle/>
        <a:p>
          <a:endParaRPr lang="en-US"/>
        </a:p>
      </dgm:t>
    </dgm:pt>
    <dgm:pt modelId="{323E59BC-E547-4CD4-AE49-73DAE33E0851}">
      <dgm:prSet/>
      <dgm:spPr/>
      <dgm:t>
        <a:bodyPr/>
        <a:lstStyle/>
        <a:p>
          <a:r>
            <a:rPr lang="en-IE" dirty="0"/>
            <a:t>Policy-relevant insights: regulatory + enterprise security gaps</a:t>
          </a:r>
          <a:endParaRPr lang="en-US" dirty="0"/>
        </a:p>
      </dgm:t>
    </dgm:pt>
    <dgm:pt modelId="{4CBC3799-6296-409F-84CB-A1E852AA0F21}" type="parTrans" cxnId="{7201B0D4-38D9-4A22-94BB-A181B0E72C38}">
      <dgm:prSet/>
      <dgm:spPr/>
      <dgm:t>
        <a:bodyPr/>
        <a:lstStyle/>
        <a:p>
          <a:endParaRPr lang="en-US"/>
        </a:p>
      </dgm:t>
    </dgm:pt>
    <dgm:pt modelId="{C9201914-FCF6-4E70-943C-136D9D8D687E}" type="sibTrans" cxnId="{7201B0D4-38D9-4A22-94BB-A181B0E72C38}">
      <dgm:prSet/>
      <dgm:spPr/>
      <dgm:t>
        <a:bodyPr/>
        <a:lstStyle/>
        <a:p>
          <a:endParaRPr lang="en-US"/>
        </a:p>
      </dgm:t>
    </dgm:pt>
    <dgm:pt modelId="{29BBF84F-7EBB-4881-8FD5-116E1FCA2004}" type="pres">
      <dgm:prSet presAssocID="{A179642D-A48E-4901-BBFD-4169ED2DA1F4}" presName="hierChild1" presStyleCnt="0">
        <dgm:presLayoutVars>
          <dgm:chPref val="1"/>
          <dgm:dir/>
          <dgm:animOne val="branch"/>
          <dgm:animLvl val="lvl"/>
          <dgm:resizeHandles/>
        </dgm:presLayoutVars>
      </dgm:prSet>
      <dgm:spPr/>
    </dgm:pt>
    <dgm:pt modelId="{1E2649D8-BCEF-4F3C-81D1-09FCAD3029C6}" type="pres">
      <dgm:prSet presAssocID="{3BA7F54D-4514-45CE-849C-CA4CB850200E}" presName="hierRoot1" presStyleCnt="0"/>
      <dgm:spPr/>
    </dgm:pt>
    <dgm:pt modelId="{74FA595A-FA43-4F00-80EE-C63FDB13FF2A}" type="pres">
      <dgm:prSet presAssocID="{3BA7F54D-4514-45CE-849C-CA4CB850200E}" presName="composite" presStyleCnt="0"/>
      <dgm:spPr/>
    </dgm:pt>
    <dgm:pt modelId="{A82F378B-9E63-41CA-B0AE-D65CEC65BAFD}" type="pres">
      <dgm:prSet presAssocID="{3BA7F54D-4514-45CE-849C-CA4CB850200E}" presName="background" presStyleLbl="node0" presStyleIdx="0" presStyleCnt="4"/>
      <dgm:spPr/>
    </dgm:pt>
    <dgm:pt modelId="{16A7E361-2279-4B00-86CC-00A007295F17}" type="pres">
      <dgm:prSet presAssocID="{3BA7F54D-4514-45CE-849C-CA4CB850200E}" presName="text" presStyleLbl="fgAcc0" presStyleIdx="0" presStyleCnt="4">
        <dgm:presLayoutVars>
          <dgm:chPref val="3"/>
        </dgm:presLayoutVars>
      </dgm:prSet>
      <dgm:spPr/>
    </dgm:pt>
    <dgm:pt modelId="{127D5259-6BB8-4B09-AD1E-1C1D31FADF01}" type="pres">
      <dgm:prSet presAssocID="{3BA7F54D-4514-45CE-849C-CA4CB850200E}" presName="hierChild2" presStyleCnt="0"/>
      <dgm:spPr/>
    </dgm:pt>
    <dgm:pt modelId="{AD54F50D-E32E-4EED-8FD7-D39086824045}" type="pres">
      <dgm:prSet presAssocID="{F56E52A3-4C94-468B-87C6-7362D4D9FD44}" presName="hierRoot1" presStyleCnt="0"/>
      <dgm:spPr/>
    </dgm:pt>
    <dgm:pt modelId="{E494C7FA-FE58-45A8-AFB1-C2FCACA221BD}" type="pres">
      <dgm:prSet presAssocID="{F56E52A3-4C94-468B-87C6-7362D4D9FD44}" presName="composite" presStyleCnt="0"/>
      <dgm:spPr/>
    </dgm:pt>
    <dgm:pt modelId="{1021B88C-E476-445A-A91D-1E54A101E469}" type="pres">
      <dgm:prSet presAssocID="{F56E52A3-4C94-468B-87C6-7362D4D9FD44}" presName="background" presStyleLbl="node0" presStyleIdx="1" presStyleCnt="4"/>
      <dgm:spPr/>
    </dgm:pt>
    <dgm:pt modelId="{10CB7511-7E4E-488D-8A0C-B12C57A79C3D}" type="pres">
      <dgm:prSet presAssocID="{F56E52A3-4C94-468B-87C6-7362D4D9FD44}" presName="text" presStyleLbl="fgAcc0" presStyleIdx="1" presStyleCnt="4">
        <dgm:presLayoutVars>
          <dgm:chPref val="3"/>
        </dgm:presLayoutVars>
      </dgm:prSet>
      <dgm:spPr/>
    </dgm:pt>
    <dgm:pt modelId="{AE1DA177-5A2C-450E-B6CF-2D0C2E978E76}" type="pres">
      <dgm:prSet presAssocID="{F56E52A3-4C94-468B-87C6-7362D4D9FD44}" presName="hierChild2" presStyleCnt="0"/>
      <dgm:spPr/>
    </dgm:pt>
    <dgm:pt modelId="{2B2CE83B-2816-432B-B4BC-1529DB83078B}" type="pres">
      <dgm:prSet presAssocID="{D1012975-539E-4D0D-A3D0-532DFD69D65D}" presName="hierRoot1" presStyleCnt="0"/>
      <dgm:spPr/>
    </dgm:pt>
    <dgm:pt modelId="{C8E30C8C-8EFB-4AEA-9E4A-E918DD4BEF27}" type="pres">
      <dgm:prSet presAssocID="{D1012975-539E-4D0D-A3D0-532DFD69D65D}" presName="composite" presStyleCnt="0"/>
      <dgm:spPr/>
    </dgm:pt>
    <dgm:pt modelId="{2A541DCE-27F8-4F08-9965-FB03CB4EE3D3}" type="pres">
      <dgm:prSet presAssocID="{D1012975-539E-4D0D-A3D0-532DFD69D65D}" presName="background" presStyleLbl="node0" presStyleIdx="2" presStyleCnt="4"/>
      <dgm:spPr/>
    </dgm:pt>
    <dgm:pt modelId="{69F94A3E-DE2A-4693-A2B6-1440913D5F62}" type="pres">
      <dgm:prSet presAssocID="{D1012975-539E-4D0D-A3D0-532DFD69D65D}" presName="text" presStyleLbl="fgAcc0" presStyleIdx="2" presStyleCnt="4">
        <dgm:presLayoutVars>
          <dgm:chPref val="3"/>
        </dgm:presLayoutVars>
      </dgm:prSet>
      <dgm:spPr/>
    </dgm:pt>
    <dgm:pt modelId="{AB17937D-9443-40AD-A7DD-906603B06082}" type="pres">
      <dgm:prSet presAssocID="{D1012975-539E-4D0D-A3D0-532DFD69D65D}" presName="hierChild2" presStyleCnt="0"/>
      <dgm:spPr/>
    </dgm:pt>
    <dgm:pt modelId="{E8ABF178-AAAA-464B-8060-489A4D7879C4}" type="pres">
      <dgm:prSet presAssocID="{323E59BC-E547-4CD4-AE49-73DAE33E0851}" presName="hierRoot1" presStyleCnt="0"/>
      <dgm:spPr/>
    </dgm:pt>
    <dgm:pt modelId="{BC4F7651-A2E4-41F0-9E2E-B4D2911E45EC}" type="pres">
      <dgm:prSet presAssocID="{323E59BC-E547-4CD4-AE49-73DAE33E0851}" presName="composite" presStyleCnt="0"/>
      <dgm:spPr/>
    </dgm:pt>
    <dgm:pt modelId="{CE50FCC3-C411-4375-8D41-DC1F84051E67}" type="pres">
      <dgm:prSet presAssocID="{323E59BC-E547-4CD4-AE49-73DAE33E0851}" presName="background" presStyleLbl="node0" presStyleIdx="3" presStyleCnt="4"/>
      <dgm:spPr/>
    </dgm:pt>
    <dgm:pt modelId="{305176C3-8319-4CEC-B39B-88961F3FF025}" type="pres">
      <dgm:prSet presAssocID="{323E59BC-E547-4CD4-AE49-73DAE33E0851}" presName="text" presStyleLbl="fgAcc0" presStyleIdx="3" presStyleCnt="4">
        <dgm:presLayoutVars>
          <dgm:chPref val="3"/>
        </dgm:presLayoutVars>
      </dgm:prSet>
      <dgm:spPr/>
    </dgm:pt>
    <dgm:pt modelId="{B400AA0A-541A-43D7-A952-42970BF3D5E2}" type="pres">
      <dgm:prSet presAssocID="{323E59BC-E547-4CD4-AE49-73DAE33E0851}" presName="hierChild2" presStyleCnt="0"/>
      <dgm:spPr/>
    </dgm:pt>
  </dgm:ptLst>
  <dgm:cxnLst>
    <dgm:cxn modelId="{3E7F9421-71CE-42DF-8555-20664BA070E1}" srcId="{A179642D-A48E-4901-BBFD-4169ED2DA1F4}" destId="{D1012975-539E-4D0D-A3D0-532DFD69D65D}" srcOrd="2" destOrd="0" parTransId="{6C9308C3-0DF8-4C5E-8212-3E20B23D053F}" sibTransId="{951A66C6-7B79-45C9-AFF8-C20FD7F816C4}"/>
    <dgm:cxn modelId="{A5103F5D-5169-4BCA-8FB6-00DA9F4A9CEE}" type="presOf" srcId="{D1012975-539E-4D0D-A3D0-532DFD69D65D}" destId="{69F94A3E-DE2A-4693-A2B6-1440913D5F62}" srcOrd="0" destOrd="0" presId="urn:microsoft.com/office/officeart/2005/8/layout/hierarchy1"/>
    <dgm:cxn modelId="{749CCB7A-AB0F-4C51-8E62-8F0B86B2B3EC}" type="presOf" srcId="{F56E52A3-4C94-468B-87C6-7362D4D9FD44}" destId="{10CB7511-7E4E-488D-8A0C-B12C57A79C3D}" srcOrd="0" destOrd="0" presId="urn:microsoft.com/office/officeart/2005/8/layout/hierarchy1"/>
    <dgm:cxn modelId="{213AECA1-7C00-40CB-934C-01F67C3554E5}" srcId="{A179642D-A48E-4901-BBFD-4169ED2DA1F4}" destId="{F56E52A3-4C94-468B-87C6-7362D4D9FD44}" srcOrd="1" destOrd="0" parTransId="{202DF785-D3FF-4FB0-AF5C-C37B197C2455}" sibTransId="{97C63A12-FA33-4C82-A33E-02FED21DC6D6}"/>
    <dgm:cxn modelId="{7201B0D4-38D9-4A22-94BB-A181B0E72C38}" srcId="{A179642D-A48E-4901-BBFD-4169ED2DA1F4}" destId="{323E59BC-E547-4CD4-AE49-73DAE33E0851}" srcOrd="3" destOrd="0" parTransId="{4CBC3799-6296-409F-84CB-A1E852AA0F21}" sibTransId="{C9201914-FCF6-4E70-943C-136D9D8D687E}"/>
    <dgm:cxn modelId="{844A57D6-DDBA-4601-965E-657372052C58}" type="presOf" srcId="{3BA7F54D-4514-45CE-849C-CA4CB850200E}" destId="{16A7E361-2279-4B00-86CC-00A007295F17}" srcOrd="0" destOrd="0" presId="urn:microsoft.com/office/officeart/2005/8/layout/hierarchy1"/>
    <dgm:cxn modelId="{A53650F7-0A21-4781-A0BB-67ED2C8CE29B}" type="presOf" srcId="{A179642D-A48E-4901-BBFD-4169ED2DA1F4}" destId="{29BBF84F-7EBB-4881-8FD5-116E1FCA2004}" srcOrd="0" destOrd="0" presId="urn:microsoft.com/office/officeart/2005/8/layout/hierarchy1"/>
    <dgm:cxn modelId="{82EE3AFC-FE15-4D51-A0E4-57F1D07F4516}" type="presOf" srcId="{323E59BC-E547-4CD4-AE49-73DAE33E0851}" destId="{305176C3-8319-4CEC-B39B-88961F3FF025}" srcOrd="0" destOrd="0" presId="urn:microsoft.com/office/officeart/2005/8/layout/hierarchy1"/>
    <dgm:cxn modelId="{749E81FF-7340-4E20-98D4-0DD86A1026CF}" srcId="{A179642D-A48E-4901-BBFD-4169ED2DA1F4}" destId="{3BA7F54D-4514-45CE-849C-CA4CB850200E}" srcOrd="0" destOrd="0" parTransId="{77716EEE-C0F3-4DF1-98F6-B2DCB0C075D7}" sibTransId="{30B18C17-78E9-40C4-A2CE-F7B64F232303}"/>
    <dgm:cxn modelId="{E5027A7E-9F37-4452-8C79-CDE49D9F1DBA}" type="presParOf" srcId="{29BBF84F-7EBB-4881-8FD5-116E1FCA2004}" destId="{1E2649D8-BCEF-4F3C-81D1-09FCAD3029C6}" srcOrd="0" destOrd="0" presId="urn:microsoft.com/office/officeart/2005/8/layout/hierarchy1"/>
    <dgm:cxn modelId="{DB2F961C-32AA-4495-9E28-4BF79FE640E2}" type="presParOf" srcId="{1E2649D8-BCEF-4F3C-81D1-09FCAD3029C6}" destId="{74FA595A-FA43-4F00-80EE-C63FDB13FF2A}" srcOrd="0" destOrd="0" presId="urn:microsoft.com/office/officeart/2005/8/layout/hierarchy1"/>
    <dgm:cxn modelId="{BE54AE6B-3579-4908-A521-4592ECE6D1C8}" type="presParOf" srcId="{74FA595A-FA43-4F00-80EE-C63FDB13FF2A}" destId="{A82F378B-9E63-41CA-B0AE-D65CEC65BAFD}" srcOrd="0" destOrd="0" presId="urn:microsoft.com/office/officeart/2005/8/layout/hierarchy1"/>
    <dgm:cxn modelId="{8237488B-FDF2-4E4B-A4D5-56F2BF5D650F}" type="presParOf" srcId="{74FA595A-FA43-4F00-80EE-C63FDB13FF2A}" destId="{16A7E361-2279-4B00-86CC-00A007295F17}" srcOrd="1" destOrd="0" presId="urn:microsoft.com/office/officeart/2005/8/layout/hierarchy1"/>
    <dgm:cxn modelId="{13476C58-6D79-490E-BB9D-B1844954C35D}" type="presParOf" srcId="{1E2649D8-BCEF-4F3C-81D1-09FCAD3029C6}" destId="{127D5259-6BB8-4B09-AD1E-1C1D31FADF01}" srcOrd="1" destOrd="0" presId="urn:microsoft.com/office/officeart/2005/8/layout/hierarchy1"/>
    <dgm:cxn modelId="{C1F24A8C-E4A5-47D6-9FD1-40B1FC1ECCCD}" type="presParOf" srcId="{29BBF84F-7EBB-4881-8FD5-116E1FCA2004}" destId="{AD54F50D-E32E-4EED-8FD7-D39086824045}" srcOrd="1" destOrd="0" presId="urn:microsoft.com/office/officeart/2005/8/layout/hierarchy1"/>
    <dgm:cxn modelId="{17EE04BC-DA52-4AF9-BF01-C00B8AE4FFA5}" type="presParOf" srcId="{AD54F50D-E32E-4EED-8FD7-D39086824045}" destId="{E494C7FA-FE58-45A8-AFB1-C2FCACA221BD}" srcOrd="0" destOrd="0" presId="urn:microsoft.com/office/officeart/2005/8/layout/hierarchy1"/>
    <dgm:cxn modelId="{92CB852B-CE99-4EC4-A79E-09DE085698BA}" type="presParOf" srcId="{E494C7FA-FE58-45A8-AFB1-C2FCACA221BD}" destId="{1021B88C-E476-445A-A91D-1E54A101E469}" srcOrd="0" destOrd="0" presId="urn:microsoft.com/office/officeart/2005/8/layout/hierarchy1"/>
    <dgm:cxn modelId="{7C4482E0-9B47-412C-89DC-D9945DF4E8AF}" type="presParOf" srcId="{E494C7FA-FE58-45A8-AFB1-C2FCACA221BD}" destId="{10CB7511-7E4E-488D-8A0C-B12C57A79C3D}" srcOrd="1" destOrd="0" presId="urn:microsoft.com/office/officeart/2005/8/layout/hierarchy1"/>
    <dgm:cxn modelId="{98F904EC-EA4C-4812-86D7-936F762A7AA9}" type="presParOf" srcId="{AD54F50D-E32E-4EED-8FD7-D39086824045}" destId="{AE1DA177-5A2C-450E-B6CF-2D0C2E978E76}" srcOrd="1" destOrd="0" presId="urn:microsoft.com/office/officeart/2005/8/layout/hierarchy1"/>
    <dgm:cxn modelId="{E1ED1679-BBC5-4484-9F94-169435C45FF5}" type="presParOf" srcId="{29BBF84F-7EBB-4881-8FD5-116E1FCA2004}" destId="{2B2CE83B-2816-432B-B4BC-1529DB83078B}" srcOrd="2" destOrd="0" presId="urn:microsoft.com/office/officeart/2005/8/layout/hierarchy1"/>
    <dgm:cxn modelId="{63ED5E12-E9D1-4788-A35C-7FD43A9F72CB}" type="presParOf" srcId="{2B2CE83B-2816-432B-B4BC-1529DB83078B}" destId="{C8E30C8C-8EFB-4AEA-9E4A-E918DD4BEF27}" srcOrd="0" destOrd="0" presId="urn:microsoft.com/office/officeart/2005/8/layout/hierarchy1"/>
    <dgm:cxn modelId="{046262C6-B8B8-4117-A768-8199DF03F6C8}" type="presParOf" srcId="{C8E30C8C-8EFB-4AEA-9E4A-E918DD4BEF27}" destId="{2A541DCE-27F8-4F08-9965-FB03CB4EE3D3}" srcOrd="0" destOrd="0" presId="urn:microsoft.com/office/officeart/2005/8/layout/hierarchy1"/>
    <dgm:cxn modelId="{E0DAB9E9-32E9-41F4-B811-CBBD60C3FD5B}" type="presParOf" srcId="{C8E30C8C-8EFB-4AEA-9E4A-E918DD4BEF27}" destId="{69F94A3E-DE2A-4693-A2B6-1440913D5F62}" srcOrd="1" destOrd="0" presId="urn:microsoft.com/office/officeart/2005/8/layout/hierarchy1"/>
    <dgm:cxn modelId="{35EDBB52-68E1-4FBE-A246-D00CDD6AF849}" type="presParOf" srcId="{2B2CE83B-2816-432B-B4BC-1529DB83078B}" destId="{AB17937D-9443-40AD-A7DD-906603B06082}" srcOrd="1" destOrd="0" presId="urn:microsoft.com/office/officeart/2005/8/layout/hierarchy1"/>
    <dgm:cxn modelId="{BE1FCA11-2229-40D9-B086-05DC396AF222}" type="presParOf" srcId="{29BBF84F-7EBB-4881-8FD5-116E1FCA2004}" destId="{E8ABF178-AAAA-464B-8060-489A4D7879C4}" srcOrd="3" destOrd="0" presId="urn:microsoft.com/office/officeart/2005/8/layout/hierarchy1"/>
    <dgm:cxn modelId="{36B0E580-6F94-48A1-91B6-FCA5AAFD156F}" type="presParOf" srcId="{E8ABF178-AAAA-464B-8060-489A4D7879C4}" destId="{BC4F7651-A2E4-41F0-9E2E-B4D2911E45EC}" srcOrd="0" destOrd="0" presId="urn:microsoft.com/office/officeart/2005/8/layout/hierarchy1"/>
    <dgm:cxn modelId="{C13A4AD7-AED4-4F49-9EBF-EFA866F09889}" type="presParOf" srcId="{BC4F7651-A2E4-41F0-9E2E-B4D2911E45EC}" destId="{CE50FCC3-C411-4375-8D41-DC1F84051E67}" srcOrd="0" destOrd="0" presId="urn:microsoft.com/office/officeart/2005/8/layout/hierarchy1"/>
    <dgm:cxn modelId="{7C175FA6-ACB5-4DDA-B854-CB36BD4AF257}" type="presParOf" srcId="{BC4F7651-A2E4-41F0-9E2E-B4D2911E45EC}" destId="{305176C3-8319-4CEC-B39B-88961F3FF025}" srcOrd="1" destOrd="0" presId="urn:microsoft.com/office/officeart/2005/8/layout/hierarchy1"/>
    <dgm:cxn modelId="{E4B79408-322F-4138-AEDE-ADEAD31B2517}" type="presParOf" srcId="{E8ABF178-AAAA-464B-8060-489A4D7879C4}" destId="{B400AA0A-541A-43D7-A952-42970BF3D5E2}"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D41FE6C-0F08-4CD2-A0BA-AD61BFE600C4}"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IE"/>
        </a:p>
      </dgm:t>
    </dgm:pt>
    <dgm:pt modelId="{23841BEF-14E7-4710-98BB-02991B3DA976}">
      <dgm:prSet/>
      <dgm:spPr/>
      <dgm:t>
        <a:bodyPr/>
        <a:lstStyle/>
        <a:p>
          <a:r>
            <a:rPr lang="en-US" dirty="0"/>
            <a:t>Attacker</a:t>
          </a:r>
          <a:endParaRPr lang="en-IE" dirty="0"/>
        </a:p>
      </dgm:t>
    </dgm:pt>
    <dgm:pt modelId="{4629ED17-77D2-4776-9664-0F9670A7322C}" type="parTrans" cxnId="{2BD484D2-66CA-4A97-8059-525C4A142D96}">
      <dgm:prSet/>
      <dgm:spPr/>
      <dgm:t>
        <a:bodyPr/>
        <a:lstStyle/>
        <a:p>
          <a:endParaRPr lang="en-IE"/>
        </a:p>
      </dgm:t>
    </dgm:pt>
    <dgm:pt modelId="{C06702E4-428E-4CC7-A3D7-153E7EA96512}" type="sibTrans" cxnId="{2BD484D2-66CA-4A97-8059-525C4A142D96}">
      <dgm:prSet/>
      <dgm:spPr/>
      <dgm:t>
        <a:bodyPr/>
        <a:lstStyle/>
        <a:p>
          <a:endParaRPr lang="en-IE"/>
        </a:p>
      </dgm:t>
    </dgm:pt>
    <dgm:pt modelId="{550ACE9B-9502-4165-8855-FAE4460838F7}">
      <dgm:prSet/>
      <dgm:spPr/>
      <dgm:t>
        <a:bodyPr/>
        <a:lstStyle/>
        <a:p>
          <a:r>
            <a:rPr lang="en-US" dirty="0"/>
            <a:t>Deepfake Tool</a:t>
          </a:r>
          <a:endParaRPr lang="en-IE" dirty="0"/>
        </a:p>
      </dgm:t>
    </dgm:pt>
    <dgm:pt modelId="{0DF67B51-4CF3-4B4E-A677-8FB141868F1E}" type="parTrans" cxnId="{F3092FB1-A82B-4112-B5D3-05956EE8D012}">
      <dgm:prSet/>
      <dgm:spPr/>
      <dgm:t>
        <a:bodyPr/>
        <a:lstStyle/>
        <a:p>
          <a:endParaRPr lang="en-IE"/>
        </a:p>
      </dgm:t>
    </dgm:pt>
    <dgm:pt modelId="{933C610D-FA45-4538-A3B7-F4CAA0ED23B1}" type="sibTrans" cxnId="{F3092FB1-A82B-4112-B5D3-05956EE8D012}">
      <dgm:prSet/>
      <dgm:spPr/>
      <dgm:t>
        <a:bodyPr/>
        <a:lstStyle/>
        <a:p>
          <a:endParaRPr lang="en-IE"/>
        </a:p>
      </dgm:t>
    </dgm:pt>
    <dgm:pt modelId="{8B2F1ED5-89FB-41A4-9B24-55F717B186EC}">
      <dgm:prSet/>
      <dgm:spPr/>
      <dgm:t>
        <a:bodyPr/>
        <a:lstStyle/>
        <a:p>
          <a:r>
            <a:rPr lang="en-US" b="1" dirty="0"/>
            <a:t>Target device (Face ID)</a:t>
          </a:r>
          <a:endParaRPr lang="en-IE" b="1" dirty="0"/>
        </a:p>
      </dgm:t>
    </dgm:pt>
    <dgm:pt modelId="{AFC69CDC-BBFE-4FE8-926A-DDF3FDCC9C00}" type="parTrans" cxnId="{31DE74AD-E207-4BE6-AA78-F9270363BA28}">
      <dgm:prSet/>
      <dgm:spPr/>
      <dgm:t>
        <a:bodyPr/>
        <a:lstStyle/>
        <a:p>
          <a:endParaRPr lang="en-IE"/>
        </a:p>
      </dgm:t>
    </dgm:pt>
    <dgm:pt modelId="{B1330F93-CD54-454C-98D0-D6D76E8347A3}" type="sibTrans" cxnId="{31DE74AD-E207-4BE6-AA78-F9270363BA28}">
      <dgm:prSet/>
      <dgm:spPr/>
      <dgm:t>
        <a:bodyPr/>
        <a:lstStyle/>
        <a:p>
          <a:endParaRPr lang="en-IE"/>
        </a:p>
      </dgm:t>
    </dgm:pt>
    <dgm:pt modelId="{BB0EF1A0-5610-45D7-8F12-940CE32BDB35}">
      <dgm:prSet/>
      <dgm:spPr/>
      <dgm:t>
        <a:bodyPr/>
        <a:lstStyle/>
        <a:p>
          <a:r>
            <a:rPr lang="en-IE" dirty="0"/>
            <a:t>Azure</a:t>
          </a:r>
        </a:p>
      </dgm:t>
    </dgm:pt>
    <dgm:pt modelId="{537E4B33-EF58-4C96-A666-0AAE905B8A57}" type="parTrans" cxnId="{84B664C7-70B4-4FC0-B5A0-9B76B12EC992}">
      <dgm:prSet/>
      <dgm:spPr/>
      <dgm:t>
        <a:bodyPr/>
        <a:lstStyle/>
        <a:p>
          <a:endParaRPr lang="en-IE"/>
        </a:p>
      </dgm:t>
    </dgm:pt>
    <dgm:pt modelId="{BB7B116F-F174-4470-9D0A-D2BE943E9786}" type="sibTrans" cxnId="{84B664C7-70B4-4FC0-B5A0-9B76B12EC992}">
      <dgm:prSet/>
      <dgm:spPr/>
      <dgm:t>
        <a:bodyPr/>
        <a:lstStyle/>
        <a:p>
          <a:endParaRPr lang="en-IE"/>
        </a:p>
      </dgm:t>
    </dgm:pt>
    <dgm:pt modelId="{65CC1076-3AC6-4E29-A47E-5FEB45B208AF}" type="pres">
      <dgm:prSet presAssocID="{7D41FE6C-0F08-4CD2-A0BA-AD61BFE600C4}" presName="Name0" presStyleCnt="0">
        <dgm:presLayoutVars>
          <dgm:dir/>
          <dgm:resizeHandles val="exact"/>
        </dgm:presLayoutVars>
      </dgm:prSet>
      <dgm:spPr/>
    </dgm:pt>
    <dgm:pt modelId="{E9AD4F22-D3E2-42FD-B768-67C38AC4F546}" type="pres">
      <dgm:prSet presAssocID="{23841BEF-14E7-4710-98BB-02991B3DA976}" presName="node" presStyleLbl="node1" presStyleIdx="0" presStyleCnt="4">
        <dgm:presLayoutVars>
          <dgm:bulletEnabled val="1"/>
        </dgm:presLayoutVars>
      </dgm:prSet>
      <dgm:spPr/>
    </dgm:pt>
    <dgm:pt modelId="{EFD5659C-A091-426C-A8BE-C215BE4516D2}" type="pres">
      <dgm:prSet presAssocID="{C06702E4-428E-4CC7-A3D7-153E7EA96512}" presName="sibTrans" presStyleLbl="sibTrans2D1" presStyleIdx="0" presStyleCnt="3"/>
      <dgm:spPr/>
    </dgm:pt>
    <dgm:pt modelId="{862E6979-A44A-42ED-9AB7-879A6782DAE0}" type="pres">
      <dgm:prSet presAssocID="{C06702E4-428E-4CC7-A3D7-153E7EA96512}" presName="connectorText" presStyleLbl="sibTrans2D1" presStyleIdx="0" presStyleCnt="3"/>
      <dgm:spPr/>
    </dgm:pt>
    <dgm:pt modelId="{566FC313-AB3C-4687-B3ED-7EC855BE0024}" type="pres">
      <dgm:prSet presAssocID="{550ACE9B-9502-4165-8855-FAE4460838F7}" presName="node" presStyleLbl="node1" presStyleIdx="1" presStyleCnt="4">
        <dgm:presLayoutVars>
          <dgm:bulletEnabled val="1"/>
        </dgm:presLayoutVars>
      </dgm:prSet>
      <dgm:spPr/>
    </dgm:pt>
    <dgm:pt modelId="{ABD1BF3C-FBC7-407C-9A1D-D6CC4980ED7E}" type="pres">
      <dgm:prSet presAssocID="{933C610D-FA45-4538-A3B7-F4CAA0ED23B1}" presName="sibTrans" presStyleLbl="sibTrans2D1" presStyleIdx="1" presStyleCnt="3"/>
      <dgm:spPr/>
    </dgm:pt>
    <dgm:pt modelId="{5F705076-0B3A-4C5F-8B53-BC494F01951F}" type="pres">
      <dgm:prSet presAssocID="{933C610D-FA45-4538-A3B7-F4CAA0ED23B1}" presName="connectorText" presStyleLbl="sibTrans2D1" presStyleIdx="1" presStyleCnt="3"/>
      <dgm:spPr/>
    </dgm:pt>
    <dgm:pt modelId="{6664BC08-5815-4B8E-BFCC-4DF19B986036}" type="pres">
      <dgm:prSet presAssocID="{8B2F1ED5-89FB-41A4-9B24-55F717B186EC}" presName="node" presStyleLbl="node1" presStyleIdx="2" presStyleCnt="4">
        <dgm:presLayoutVars>
          <dgm:bulletEnabled val="1"/>
        </dgm:presLayoutVars>
      </dgm:prSet>
      <dgm:spPr/>
    </dgm:pt>
    <dgm:pt modelId="{DE0FF631-929B-4D73-A115-5C796348C22C}" type="pres">
      <dgm:prSet presAssocID="{B1330F93-CD54-454C-98D0-D6D76E8347A3}" presName="sibTrans" presStyleLbl="sibTrans2D1" presStyleIdx="2" presStyleCnt="3"/>
      <dgm:spPr/>
    </dgm:pt>
    <dgm:pt modelId="{ECA3139A-3DDF-476B-AB52-809F221CD0CD}" type="pres">
      <dgm:prSet presAssocID="{B1330F93-CD54-454C-98D0-D6D76E8347A3}" presName="connectorText" presStyleLbl="sibTrans2D1" presStyleIdx="2" presStyleCnt="3"/>
      <dgm:spPr/>
    </dgm:pt>
    <dgm:pt modelId="{E0C55919-C1F8-4667-AF14-D4AF85E32B66}" type="pres">
      <dgm:prSet presAssocID="{BB0EF1A0-5610-45D7-8F12-940CE32BDB35}" presName="node" presStyleLbl="node1" presStyleIdx="3" presStyleCnt="4">
        <dgm:presLayoutVars>
          <dgm:bulletEnabled val="1"/>
        </dgm:presLayoutVars>
      </dgm:prSet>
      <dgm:spPr/>
    </dgm:pt>
  </dgm:ptLst>
  <dgm:cxnLst>
    <dgm:cxn modelId="{9A3A2C11-42B8-417E-B7AF-A95CE32A89A0}" type="presOf" srcId="{7D41FE6C-0F08-4CD2-A0BA-AD61BFE600C4}" destId="{65CC1076-3AC6-4E29-A47E-5FEB45B208AF}" srcOrd="0" destOrd="0" presId="urn:microsoft.com/office/officeart/2005/8/layout/process1"/>
    <dgm:cxn modelId="{E4027E29-2752-4A1A-B810-168F0753AF72}" type="presOf" srcId="{933C610D-FA45-4538-A3B7-F4CAA0ED23B1}" destId="{5F705076-0B3A-4C5F-8B53-BC494F01951F}" srcOrd="1" destOrd="0" presId="urn:microsoft.com/office/officeart/2005/8/layout/process1"/>
    <dgm:cxn modelId="{D55A0838-989A-46AE-B43E-1995CE906A27}" type="presOf" srcId="{23841BEF-14E7-4710-98BB-02991B3DA976}" destId="{E9AD4F22-D3E2-42FD-B768-67C38AC4F546}" srcOrd="0" destOrd="0" presId="urn:microsoft.com/office/officeart/2005/8/layout/process1"/>
    <dgm:cxn modelId="{F27DA749-CD72-42B2-A0A7-669072F503F3}" type="presOf" srcId="{BB0EF1A0-5610-45D7-8F12-940CE32BDB35}" destId="{E0C55919-C1F8-4667-AF14-D4AF85E32B66}" srcOrd="0" destOrd="0" presId="urn:microsoft.com/office/officeart/2005/8/layout/process1"/>
    <dgm:cxn modelId="{3E457E57-C0B2-4437-9299-82663FE456BC}" type="presOf" srcId="{550ACE9B-9502-4165-8855-FAE4460838F7}" destId="{566FC313-AB3C-4687-B3ED-7EC855BE0024}" srcOrd="0" destOrd="0" presId="urn:microsoft.com/office/officeart/2005/8/layout/process1"/>
    <dgm:cxn modelId="{364F0C91-BE69-4733-A4B9-846708A2C931}" type="presOf" srcId="{B1330F93-CD54-454C-98D0-D6D76E8347A3}" destId="{DE0FF631-929B-4D73-A115-5C796348C22C}" srcOrd="0" destOrd="0" presId="urn:microsoft.com/office/officeart/2005/8/layout/process1"/>
    <dgm:cxn modelId="{022545A5-E5FD-4F45-9613-108629A8BC56}" type="presOf" srcId="{B1330F93-CD54-454C-98D0-D6D76E8347A3}" destId="{ECA3139A-3DDF-476B-AB52-809F221CD0CD}" srcOrd="1" destOrd="0" presId="urn:microsoft.com/office/officeart/2005/8/layout/process1"/>
    <dgm:cxn modelId="{31DE74AD-E207-4BE6-AA78-F9270363BA28}" srcId="{7D41FE6C-0F08-4CD2-A0BA-AD61BFE600C4}" destId="{8B2F1ED5-89FB-41A4-9B24-55F717B186EC}" srcOrd="2" destOrd="0" parTransId="{AFC69CDC-BBFE-4FE8-926A-DDF3FDCC9C00}" sibTransId="{B1330F93-CD54-454C-98D0-D6D76E8347A3}"/>
    <dgm:cxn modelId="{F3092FB1-A82B-4112-B5D3-05956EE8D012}" srcId="{7D41FE6C-0F08-4CD2-A0BA-AD61BFE600C4}" destId="{550ACE9B-9502-4165-8855-FAE4460838F7}" srcOrd="1" destOrd="0" parTransId="{0DF67B51-4CF3-4B4E-A677-8FB141868F1E}" sibTransId="{933C610D-FA45-4538-A3B7-F4CAA0ED23B1}"/>
    <dgm:cxn modelId="{A249F0BD-616E-44F5-A794-A7BA4B95EBF5}" type="presOf" srcId="{8B2F1ED5-89FB-41A4-9B24-55F717B186EC}" destId="{6664BC08-5815-4B8E-BFCC-4DF19B986036}" srcOrd="0" destOrd="0" presId="urn:microsoft.com/office/officeart/2005/8/layout/process1"/>
    <dgm:cxn modelId="{A990CDC2-FF3A-4C57-B05C-9A4FB6223E58}" type="presOf" srcId="{C06702E4-428E-4CC7-A3D7-153E7EA96512}" destId="{EFD5659C-A091-426C-A8BE-C215BE4516D2}" srcOrd="0" destOrd="0" presId="urn:microsoft.com/office/officeart/2005/8/layout/process1"/>
    <dgm:cxn modelId="{84B664C7-70B4-4FC0-B5A0-9B76B12EC992}" srcId="{7D41FE6C-0F08-4CD2-A0BA-AD61BFE600C4}" destId="{BB0EF1A0-5610-45D7-8F12-940CE32BDB35}" srcOrd="3" destOrd="0" parTransId="{537E4B33-EF58-4C96-A666-0AAE905B8A57}" sibTransId="{BB7B116F-F174-4470-9D0A-D2BE943E9786}"/>
    <dgm:cxn modelId="{2BD484D2-66CA-4A97-8059-525C4A142D96}" srcId="{7D41FE6C-0F08-4CD2-A0BA-AD61BFE600C4}" destId="{23841BEF-14E7-4710-98BB-02991B3DA976}" srcOrd="0" destOrd="0" parTransId="{4629ED17-77D2-4776-9664-0F9670A7322C}" sibTransId="{C06702E4-428E-4CC7-A3D7-153E7EA96512}"/>
    <dgm:cxn modelId="{C9ABDEE2-0EA6-4779-8015-CBB55E85656B}" type="presOf" srcId="{C06702E4-428E-4CC7-A3D7-153E7EA96512}" destId="{862E6979-A44A-42ED-9AB7-879A6782DAE0}" srcOrd="1" destOrd="0" presId="urn:microsoft.com/office/officeart/2005/8/layout/process1"/>
    <dgm:cxn modelId="{36D2F0F5-C9A4-49AF-928B-AA724F847658}" type="presOf" srcId="{933C610D-FA45-4538-A3B7-F4CAA0ED23B1}" destId="{ABD1BF3C-FBC7-407C-9A1D-D6CC4980ED7E}" srcOrd="0" destOrd="0" presId="urn:microsoft.com/office/officeart/2005/8/layout/process1"/>
    <dgm:cxn modelId="{E68BD5F6-1A45-4744-8D2F-CCD7E0CE66A8}" type="presParOf" srcId="{65CC1076-3AC6-4E29-A47E-5FEB45B208AF}" destId="{E9AD4F22-D3E2-42FD-B768-67C38AC4F546}" srcOrd="0" destOrd="0" presId="urn:microsoft.com/office/officeart/2005/8/layout/process1"/>
    <dgm:cxn modelId="{E9D14951-0BF7-4F31-98FA-EC80ECAAE74E}" type="presParOf" srcId="{65CC1076-3AC6-4E29-A47E-5FEB45B208AF}" destId="{EFD5659C-A091-426C-A8BE-C215BE4516D2}" srcOrd="1" destOrd="0" presId="urn:microsoft.com/office/officeart/2005/8/layout/process1"/>
    <dgm:cxn modelId="{EDBD99E4-5F84-40B6-9C97-BAF587B3C808}" type="presParOf" srcId="{EFD5659C-A091-426C-A8BE-C215BE4516D2}" destId="{862E6979-A44A-42ED-9AB7-879A6782DAE0}" srcOrd="0" destOrd="0" presId="urn:microsoft.com/office/officeart/2005/8/layout/process1"/>
    <dgm:cxn modelId="{74DF3CA0-F3A5-4ACF-AFC2-D3442AEA416C}" type="presParOf" srcId="{65CC1076-3AC6-4E29-A47E-5FEB45B208AF}" destId="{566FC313-AB3C-4687-B3ED-7EC855BE0024}" srcOrd="2" destOrd="0" presId="urn:microsoft.com/office/officeart/2005/8/layout/process1"/>
    <dgm:cxn modelId="{2E14B18E-B179-4EEA-8A30-3108E0808BBD}" type="presParOf" srcId="{65CC1076-3AC6-4E29-A47E-5FEB45B208AF}" destId="{ABD1BF3C-FBC7-407C-9A1D-D6CC4980ED7E}" srcOrd="3" destOrd="0" presId="urn:microsoft.com/office/officeart/2005/8/layout/process1"/>
    <dgm:cxn modelId="{E5602576-3764-4570-B868-513510F4F4DC}" type="presParOf" srcId="{ABD1BF3C-FBC7-407C-9A1D-D6CC4980ED7E}" destId="{5F705076-0B3A-4C5F-8B53-BC494F01951F}" srcOrd="0" destOrd="0" presId="urn:microsoft.com/office/officeart/2005/8/layout/process1"/>
    <dgm:cxn modelId="{1C82F010-604F-4E9E-AD23-6FEF173080DE}" type="presParOf" srcId="{65CC1076-3AC6-4E29-A47E-5FEB45B208AF}" destId="{6664BC08-5815-4B8E-BFCC-4DF19B986036}" srcOrd="4" destOrd="0" presId="urn:microsoft.com/office/officeart/2005/8/layout/process1"/>
    <dgm:cxn modelId="{CC04BDB9-5EA0-4115-88EF-0C8F735EBD5D}" type="presParOf" srcId="{65CC1076-3AC6-4E29-A47E-5FEB45B208AF}" destId="{DE0FF631-929B-4D73-A115-5C796348C22C}" srcOrd="5" destOrd="0" presId="urn:microsoft.com/office/officeart/2005/8/layout/process1"/>
    <dgm:cxn modelId="{883C33CC-D34E-4108-86AA-07B19FAAFC89}" type="presParOf" srcId="{DE0FF631-929B-4D73-A115-5C796348C22C}" destId="{ECA3139A-3DDF-476B-AB52-809F221CD0CD}" srcOrd="0" destOrd="0" presId="urn:microsoft.com/office/officeart/2005/8/layout/process1"/>
    <dgm:cxn modelId="{97A8BFB3-C6E9-4296-9D76-6D08BBA96AD9}" type="presParOf" srcId="{65CC1076-3AC6-4E29-A47E-5FEB45B208AF}" destId="{E0C55919-C1F8-4667-AF14-D4AF85E32B66}" srcOrd="6"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1A2C326-3831-45DC-83DF-27F2D7FFD6B4}"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C0955F37-3F75-4303-9B09-D59D7A2C7B81}">
      <dgm:prSet/>
      <dgm:spPr/>
      <dgm:t>
        <a:bodyPr/>
        <a:lstStyle/>
        <a:p>
          <a:r>
            <a:rPr lang="en-US" dirty="0"/>
            <a:t>Generated 10s clips simulating logins</a:t>
          </a:r>
        </a:p>
      </dgm:t>
    </dgm:pt>
    <dgm:pt modelId="{A940D45A-880A-493C-AAB8-AAE3A66E3509}" type="parTrans" cxnId="{674041CD-748B-4139-90F7-8E99DCA18270}">
      <dgm:prSet/>
      <dgm:spPr/>
      <dgm:t>
        <a:bodyPr/>
        <a:lstStyle/>
        <a:p>
          <a:endParaRPr lang="en-US"/>
        </a:p>
      </dgm:t>
    </dgm:pt>
    <dgm:pt modelId="{2ACDD454-3213-4F70-BC6F-46640E7D12B0}" type="sibTrans" cxnId="{674041CD-748B-4139-90F7-8E99DCA18270}">
      <dgm:prSet/>
      <dgm:spPr/>
      <dgm:t>
        <a:bodyPr/>
        <a:lstStyle/>
        <a:p>
          <a:endParaRPr lang="en-US"/>
        </a:p>
      </dgm:t>
    </dgm:pt>
    <dgm:pt modelId="{3415BD9E-6DA5-4149-9E51-A9078F643BC8}">
      <dgm:prSet/>
      <dgm:spPr/>
      <dgm:t>
        <a:bodyPr/>
        <a:lstStyle/>
        <a:p>
          <a:r>
            <a:rPr lang="en-US" dirty="0"/>
            <a:t>CPU-only training for realism (no GPUs, attacker realism)</a:t>
          </a:r>
        </a:p>
      </dgm:t>
    </dgm:pt>
    <dgm:pt modelId="{554F7671-EA9B-4DAC-A003-0F2812F9061D}" type="parTrans" cxnId="{4E6D0474-84D5-4DB2-9649-ADB2E6203753}">
      <dgm:prSet/>
      <dgm:spPr/>
      <dgm:t>
        <a:bodyPr/>
        <a:lstStyle/>
        <a:p>
          <a:endParaRPr lang="en-US"/>
        </a:p>
      </dgm:t>
    </dgm:pt>
    <dgm:pt modelId="{C92BD181-6CD4-4C84-B627-508E44C5C31E}" type="sibTrans" cxnId="{4E6D0474-84D5-4DB2-9649-ADB2E6203753}">
      <dgm:prSet/>
      <dgm:spPr/>
      <dgm:t>
        <a:bodyPr/>
        <a:lstStyle/>
        <a:p>
          <a:endParaRPr lang="en-US"/>
        </a:p>
      </dgm:t>
    </dgm:pt>
    <dgm:pt modelId="{5FC424E4-DC38-4263-AB11-C04620BF61ED}">
      <dgm:prSet/>
      <dgm:spPr/>
      <dgm:t>
        <a:bodyPr/>
        <a:lstStyle/>
        <a:p>
          <a:r>
            <a:rPr lang="en-US" dirty="0"/>
            <a:t>Artefacts: blending, scaling issues, frame instability</a:t>
          </a:r>
        </a:p>
      </dgm:t>
    </dgm:pt>
    <dgm:pt modelId="{9ED37136-965F-406B-B4C1-32D82FDB6611}" type="parTrans" cxnId="{3AD53039-BB04-48DB-8CF4-C0AC249F6CBC}">
      <dgm:prSet/>
      <dgm:spPr/>
      <dgm:t>
        <a:bodyPr/>
        <a:lstStyle/>
        <a:p>
          <a:endParaRPr lang="en-US"/>
        </a:p>
      </dgm:t>
    </dgm:pt>
    <dgm:pt modelId="{F872219D-6693-4F48-91E6-66DF8ECA08A3}" type="sibTrans" cxnId="{3AD53039-BB04-48DB-8CF4-C0AC249F6CBC}">
      <dgm:prSet/>
      <dgm:spPr/>
      <dgm:t>
        <a:bodyPr/>
        <a:lstStyle/>
        <a:p>
          <a:endParaRPr lang="en-US"/>
        </a:p>
      </dgm:t>
    </dgm:pt>
    <dgm:pt modelId="{4A534B92-481C-4C12-B410-85F574A3A790}">
      <dgm:prSet/>
      <dgm:spPr/>
      <dgm:t>
        <a:bodyPr/>
        <a:lstStyle/>
        <a:p>
          <a:r>
            <a:rPr lang="en-US" dirty="0"/>
            <a:t>Data </a:t>
          </a:r>
          <a:r>
            <a:rPr lang="en-US" b="0" dirty="0"/>
            <a:t>stored locally + encrypted (GDPR compliant)</a:t>
          </a:r>
        </a:p>
      </dgm:t>
    </dgm:pt>
    <dgm:pt modelId="{EEFC5229-DEAA-4169-A060-2AC3345CC022}" type="parTrans" cxnId="{4B678825-1A27-43FC-97C2-A24CCEE5FF35}">
      <dgm:prSet/>
      <dgm:spPr/>
      <dgm:t>
        <a:bodyPr/>
        <a:lstStyle/>
        <a:p>
          <a:endParaRPr lang="en-US"/>
        </a:p>
      </dgm:t>
    </dgm:pt>
    <dgm:pt modelId="{52FD01BE-B31B-4CE5-B0DB-D8CD0B876265}" type="sibTrans" cxnId="{4B678825-1A27-43FC-97C2-A24CCEE5FF35}">
      <dgm:prSet/>
      <dgm:spPr/>
      <dgm:t>
        <a:bodyPr/>
        <a:lstStyle/>
        <a:p>
          <a:endParaRPr lang="en-US"/>
        </a:p>
      </dgm:t>
    </dgm:pt>
    <dgm:pt modelId="{0701935E-322E-4E3A-AABE-CC1AFDB4A9C5}" type="pres">
      <dgm:prSet presAssocID="{51A2C326-3831-45DC-83DF-27F2D7FFD6B4}" presName="outerComposite" presStyleCnt="0">
        <dgm:presLayoutVars>
          <dgm:chMax val="5"/>
          <dgm:dir/>
          <dgm:resizeHandles val="exact"/>
        </dgm:presLayoutVars>
      </dgm:prSet>
      <dgm:spPr/>
    </dgm:pt>
    <dgm:pt modelId="{234CFE15-4A51-4259-994C-881B12ACFD4A}" type="pres">
      <dgm:prSet presAssocID="{51A2C326-3831-45DC-83DF-27F2D7FFD6B4}" presName="dummyMaxCanvas" presStyleCnt="0">
        <dgm:presLayoutVars/>
      </dgm:prSet>
      <dgm:spPr/>
    </dgm:pt>
    <dgm:pt modelId="{44C53302-D593-4AE5-B534-EFBA8C225D07}" type="pres">
      <dgm:prSet presAssocID="{51A2C326-3831-45DC-83DF-27F2D7FFD6B4}" presName="FourNodes_1" presStyleLbl="node1" presStyleIdx="0" presStyleCnt="4">
        <dgm:presLayoutVars>
          <dgm:bulletEnabled val="1"/>
        </dgm:presLayoutVars>
      </dgm:prSet>
      <dgm:spPr/>
    </dgm:pt>
    <dgm:pt modelId="{98644918-46FB-4670-B7EC-493056492EEC}" type="pres">
      <dgm:prSet presAssocID="{51A2C326-3831-45DC-83DF-27F2D7FFD6B4}" presName="FourNodes_2" presStyleLbl="node1" presStyleIdx="1" presStyleCnt="4">
        <dgm:presLayoutVars>
          <dgm:bulletEnabled val="1"/>
        </dgm:presLayoutVars>
      </dgm:prSet>
      <dgm:spPr/>
    </dgm:pt>
    <dgm:pt modelId="{164823EB-0F92-4427-ADA4-518D3CAB66D4}" type="pres">
      <dgm:prSet presAssocID="{51A2C326-3831-45DC-83DF-27F2D7FFD6B4}" presName="FourNodes_3" presStyleLbl="node1" presStyleIdx="2" presStyleCnt="4">
        <dgm:presLayoutVars>
          <dgm:bulletEnabled val="1"/>
        </dgm:presLayoutVars>
      </dgm:prSet>
      <dgm:spPr/>
    </dgm:pt>
    <dgm:pt modelId="{C4AB77B7-B77B-41EF-B41F-6CDBC15FD899}" type="pres">
      <dgm:prSet presAssocID="{51A2C326-3831-45DC-83DF-27F2D7FFD6B4}" presName="FourNodes_4" presStyleLbl="node1" presStyleIdx="3" presStyleCnt="4">
        <dgm:presLayoutVars>
          <dgm:bulletEnabled val="1"/>
        </dgm:presLayoutVars>
      </dgm:prSet>
      <dgm:spPr/>
    </dgm:pt>
    <dgm:pt modelId="{6A2BF0F6-992F-4E25-AB64-330AD3C8C66F}" type="pres">
      <dgm:prSet presAssocID="{51A2C326-3831-45DC-83DF-27F2D7FFD6B4}" presName="FourConn_1-2" presStyleLbl="fgAccFollowNode1" presStyleIdx="0" presStyleCnt="3">
        <dgm:presLayoutVars>
          <dgm:bulletEnabled val="1"/>
        </dgm:presLayoutVars>
      </dgm:prSet>
      <dgm:spPr/>
    </dgm:pt>
    <dgm:pt modelId="{E73FB732-43AB-48AD-874D-F929B7850754}" type="pres">
      <dgm:prSet presAssocID="{51A2C326-3831-45DC-83DF-27F2D7FFD6B4}" presName="FourConn_2-3" presStyleLbl="fgAccFollowNode1" presStyleIdx="1" presStyleCnt="3">
        <dgm:presLayoutVars>
          <dgm:bulletEnabled val="1"/>
        </dgm:presLayoutVars>
      </dgm:prSet>
      <dgm:spPr/>
    </dgm:pt>
    <dgm:pt modelId="{62272B01-98A0-4EB8-B518-E1C61620B851}" type="pres">
      <dgm:prSet presAssocID="{51A2C326-3831-45DC-83DF-27F2D7FFD6B4}" presName="FourConn_3-4" presStyleLbl="fgAccFollowNode1" presStyleIdx="2" presStyleCnt="3">
        <dgm:presLayoutVars>
          <dgm:bulletEnabled val="1"/>
        </dgm:presLayoutVars>
      </dgm:prSet>
      <dgm:spPr/>
    </dgm:pt>
    <dgm:pt modelId="{465CBA83-3616-49CC-8750-6A6AD128C64E}" type="pres">
      <dgm:prSet presAssocID="{51A2C326-3831-45DC-83DF-27F2D7FFD6B4}" presName="FourNodes_1_text" presStyleLbl="node1" presStyleIdx="3" presStyleCnt="4">
        <dgm:presLayoutVars>
          <dgm:bulletEnabled val="1"/>
        </dgm:presLayoutVars>
      </dgm:prSet>
      <dgm:spPr/>
    </dgm:pt>
    <dgm:pt modelId="{7DBDA805-633A-407C-9F13-CDB909EE64EA}" type="pres">
      <dgm:prSet presAssocID="{51A2C326-3831-45DC-83DF-27F2D7FFD6B4}" presName="FourNodes_2_text" presStyleLbl="node1" presStyleIdx="3" presStyleCnt="4">
        <dgm:presLayoutVars>
          <dgm:bulletEnabled val="1"/>
        </dgm:presLayoutVars>
      </dgm:prSet>
      <dgm:spPr/>
    </dgm:pt>
    <dgm:pt modelId="{2655B33B-5AE6-4C65-B670-C9883E49A787}" type="pres">
      <dgm:prSet presAssocID="{51A2C326-3831-45DC-83DF-27F2D7FFD6B4}" presName="FourNodes_3_text" presStyleLbl="node1" presStyleIdx="3" presStyleCnt="4">
        <dgm:presLayoutVars>
          <dgm:bulletEnabled val="1"/>
        </dgm:presLayoutVars>
      </dgm:prSet>
      <dgm:spPr/>
    </dgm:pt>
    <dgm:pt modelId="{9AF2A621-0037-4097-B449-4B52FE56B851}" type="pres">
      <dgm:prSet presAssocID="{51A2C326-3831-45DC-83DF-27F2D7FFD6B4}" presName="FourNodes_4_text" presStyleLbl="node1" presStyleIdx="3" presStyleCnt="4">
        <dgm:presLayoutVars>
          <dgm:bulletEnabled val="1"/>
        </dgm:presLayoutVars>
      </dgm:prSet>
      <dgm:spPr/>
    </dgm:pt>
  </dgm:ptLst>
  <dgm:cxnLst>
    <dgm:cxn modelId="{4B678825-1A27-43FC-97C2-A24CCEE5FF35}" srcId="{51A2C326-3831-45DC-83DF-27F2D7FFD6B4}" destId="{4A534B92-481C-4C12-B410-85F574A3A790}" srcOrd="3" destOrd="0" parTransId="{EEFC5229-DEAA-4169-A060-2AC3345CC022}" sibTransId="{52FD01BE-B31B-4CE5-B0DB-D8CD0B876265}"/>
    <dgm:cxn modelId="{3AD53039-BB04-48DB-8CF4-C0AC249F6CBC}" srcId="{51A2C326-3831-45DC-83DF-27F2D7FFD6B4}" destId="{5FC424E4-DC38-4263-AB11-C04620BF61ED}" srcOrd="2" destOrd="0" parTransId="{9ED37136-965F-406B-B4C1-32D82FDB6611}" sibTransId="{F872219D-6693-4F48-91E6-66DF8ECA08A3}"/>
    <dgm:cxn modelId="{DDDFEF3B-8497-4EF3-A69E-ACA18124CDDF}" type="presOf" srcId="{3415BD9E-6DA5-4149-9E51-A9078F643BC8}" destId="{7DBDA805-633A-407C-9F13-CDB909EE64EA}" srcOrd="1" destOrd="0" presId="urn:microsoft.com/office/officeart/2005/8/layout/vProcess5"/>
    <dgm:cxn modelId="{B53CA540-B2A9-48A8-97A4-1968A1693D63}" type="presOf" srcId="{3415BD9E-6DA5-4149-9E51-A9078F643BC8}" destId="{98644918-46FB-4670-B7EC-493056492EEC}" srcOrd="0" destOrd="0" presId="urn:microsoft.com/office/officeart/2005/8/layout/vProcess5"/>
    <dgm:cxn modelId="{A8EAD766-24C8-40E8-BCB9-C05B81ECE9AA}" type="presOf" srcId="{C0955F37-3F75-4303-9B09-D59D7A2C7B81}" destId="{465CBA83-3616-49CC-8750-6A6AD128C64E}" srcOrd="1" destOrd="0" presId="urn:microsoft.com/office/officeart/2005/8/layout/vProcess5"/>
    <dgm:cxn modelId="{E7D1476B-F6A5-4CA9-B49A-DC616A26A22F}" type="presOf" srcId="{C92BD181-6CD4-4C84-B627-508E44C5C31E}" destId="{E73FB732-43AB-48AD-874D-F929B7850754}" srcOrd="0" destOrd="0" presId="urn:microsoft.com/office/officeart/2005/8/layout/vProcess5"/>
    <dgm:cxn modelId="{4914C24D-431E-4F02-8346-27BC726A6C3B}" type="presOf" srcId="{51A2C326-3831-45DC-83DF-27F2D7FFD6B4}" destId="{0701935E-322E-4E3A-AABE-CC1AFDB4A9C5}" srcOrd="0" destOrd="0" presId="urn:microsoft.com/office/officeart/2005/8/layout/vProcess5"/>
    <dgm:cxn modelId="{4E71C56D-420D-4948-90ED-FAFE89C5B0A8}" type="presOf" srcId="{C0955F37-3F75-4303-9B09-D59D7A2C7B81}" destId="{44C53302-D593-4AE5-B534-EFBA8C225D07}" srcOrd="0" destOrd="0" presId="urn:microsoft.com/office/officeart/2005/8/layout/vProcess5"/>
    <dgm:cxn modelId="{5D2B1171-7638-4D06-92FD-D19CAD3EC47F}" type="presOf" srcId="{4A534B92-481C-4C12-B410-85F574A3A790}" destId="{9AF2A621-0037-4097-B449-4B52FE56B851}" srcOrd="1" destOrd="0" presId="urn:microsoft.com/office/officeart/2005/8/layout/vProcess5"/>
    <dgm:cxn modelId="{4E6D0474-84D5-4DB2-9649-ADB2E6203753}" srcId="{51A2C326-3831-45DC-83DF-27F2D7FFD6B4}" destId="{3415BD9E-6DA5-4149-9E51-A9078F643BC8}" srcOrd="1" destOrd="0" parTransId="{554F7671-EA9B-4DAC-A003-0F2812F9061D}" sibTransId="{C92BD181-6CD4-4C84-B627-508E44C5C31E}"/>
    <dgm:cxn modelId="{B5615D74-2482-408C-9B25-5BE91871933E}" type="presOf" srcId="{2ACDD454-3213-4F70-BC6F-46640E7D12B0}" destId="{6A2BF0F6-992F-4E25-AB64-330AD3C8C66F}" srcOrd="0" destOrd="0" presId="urn:microsoft.com/office/officeart/2005/8/layout/vProcess5"/>
    <dgm:cxn modelId="{B3505295-50D8-4942-84DE-252C7D7BFB4B}" type="presOf" srcId="{4A534B92-481C-4C12-B410-85F574A3A790}" destId="{C4AB77B7-B77B-41EF-B41F-6CDBC15FD899}" srcOrd="0" destOrd="0" presId="urn:microsoft.com/office/officeart/2005/8/layout/vProcess5"/>
    <dgm:cxn modelId="{9379EA9D-237E-449F-B076-6A27A0B16878}" type="presOf" srcId="{5FC424E4-DC38-4263-AB11-C04620BF61ED}" destId="{2655B33B-5AE6-4C65-B670-C9883E49A787}" srcOrd="1" destOrd="0" presId="urn:microsoft.com/office/officeart/2005/8/layout/vProcess5"/>
    <dgm:cxn modelId="{1FA3BCCA-59BE-4DB4-962E-A5CEC82DA861}" type="presOf" srcId="{5FC424E4-DC38-4263-AB11-C04620BF61ED}" destId="{164823EB-0F92-4427-ADA4-518D3CAB66D4}" srcOrd="0" destOrd="0" presId="urn:microsoft.com/office/officeart/2005/8/layout/vProcess5"/>
    <dgm:cxn modelId="{674041CD-748B-4139-90F7-8E99DCA18270}" srcId="{51A2C326-3831-45DC-83DF-27F2D7FFD6B4}" destId="{C0955F37-3F75-4303-9B09-D59D7A2C7B81}" srcOrd="0" destOrd="0" parTransId="{A940D45A-880A-493C-AAB8-AAE3A66E3509}" sibTransId="{2ACDD454-3213-4F70-BC6F-46640E7D12B0}"/>
    <dgm:cxn modelId="{8F7F67E0-6B00-4047-BA66-3DC6089E258A}" type="presOf" srcId="{F872219D-6693-4F48-91E6-66DF8ECA08A3}" destId="{62272B01-98A0-4EB8-B518-E1C61620B851}" srcOrd="0" destOrd="0" presId="urn:microsoft.com/office/officeart/2005/8/layout/vProcess5"/>
    <dgm:cxn modelId="{5109B2E8-6E7E-4661-89B3-B748906B0C3E}" type="presParOf" srcId="{0701935E-322E-4E3A-AABE-CC1AFDB4A9C5}" destId="{234CFE15-4A51-4259-994C-881B12ACFD4A}" srcOrd="0" destOrd="0" presId="urn:microsoft.com/office/officeart/2005/8/layout/vProcess5"/>
    <dgm:cxn modelId="{31C383AF-F232-49DA-879D-AF980084D77E}" type="presParOf" srcId="{0701935E-322E-4E3A-AABE-CC1AFDB4A9C5}" destId="{44C53302-D593-4AE5-B534-EFBA8C225D07}" srcOrd="1" destOrd="0" presId="urn:microsoft.com/office/officeart/2005/8/layout/vProcess5"/>
    <dgm:cxn modelId="{6C1EF8DA-CFEA-4EC2-B297-361540B17EEE}" type="presParOf" srcId="{0701935E-322E-4E3A-AABE-CC1AFDB4A9C5}" destId="{98644918-46FB-4670-B7EC-493056492EEC}" srcOrd="2" destOrd="0" presId="urn:microsoft.com/office/officeart/2005/8/layout/vProcess5"/>
    <dgm:cxn modelId="{2BFAE85D-9CFE-4387-9247-FEC00BF5980B}" type="presParOf" srcId="{0701935E-322E-4E3A-AABE-CC1AFDB4A9C5}" destId="{164823EB-0F92-4427-ADA4-518D3CAB66D4}" srcOrd="3" destOrd="0" presId="urn:microsoft.com/office/officeart/2005/8/layout/vProcess5"/>
    <dgm:cxn modelId="{3E455BFF-5373-4807-8791-3F853DB6DBFF}" type="presParOf" srcId="{0701935E-322E-4E3A-AABE-CC1AFDB4A9C5}" destId="{C4AB77B7-B77B-41EF-B41F-6CDBC15FD899}" srcOrd="4" destOrd="0" presId="urn:microsoft.com/office/officeart/2005/8/layout/vProcess5"/>
    <dgm:cxn modelId="{4C7B2706-2DD7-4ED0-BD7C-2A63725ECF0D}" type="presParOf" srcId="{0701935E-322E-4E3A-AABE-CC1AFDB4A9C5}" destId="{6A2BF0F6-992F-4E25-AB64-330AD3C8C66F}" srcOrd="5" destOrd="0" presId="urn:microsoft.com/office/officeart/2005/8/layout/vProcess5"/>
    <dgm:cxn modelId="{03F2EDC8-4DCA-494D-93BB-11F27C294F3A}" type="presParOf" srcId="{0701935E-322E-4E3A-AABE-CC1AFDB4A9C5}" destId="{E73FB732-43AB-48AD-874D-F929B7850754}" srcOrd="6" destOrd="0" presId="urn:microsoft.com/office/officeart/2005/8/layout/vProcess5"/>
    <dgm:cxn modelId="{FD810515-2C09-4539-BC7E-5893D464A653}" type="presParOf" srcId="{0701935E-322E-4E3A-AABE-CC1AFDB4A9C5}" destId="{62272B01-98A0-4EB8-B518-E1C61620B851}" srcOrd="7" destOrd="0" presId="urn:microsoft.com/office/officeart/2005/8/layout/vProcess5"/>
    <dgm:cxn modelId="{F14B8D6B-9CA0-4FC6-BB88-51D0A348B868}" type="presParOf" srcId="{0701935E-322E-4E3A-AABE-CC1AFDB4A9C5}" destId="{465CBA83-3616-49CC-8750-6A6AD128C64E}" srcOrd="8" destOrd="0" presId="urn:microsoft.com/office/officeart/2005/8/layout/vProcess5"/>
    <dgm:cxn modelId="{3F68AE1C-2E72-420F-90F9-73DE0DF30670}" type="presParOf" srcId="{0701935E-322E-4E3A-AABE-CC1AFDB4A9C5}" destId="{7DBDA805-633A-407C-9F13-CDB909EE64EA}" srcOrd="9" destOrd="0" presId="urn:microsoft.com/office/officeart/2005/8/layout/vProcess5"/>
    <dgm:cxn modelId="{1C6537FE-BE3A-4B99-AD0A-BA9667F91386}" type="presParOf" srcId="{0701935E-322E-4E3A-AABE-CC1AFDB4A9C5}" destId="{2655B33B-5AE6-4C65-B670-C9883E49A787}" srcOrd="10" destOrd="0" presId="urn:microsoft.com/office/officeart/2005/8/layout/vProcess5"/>
    <dgm:cxn modelId="{BAE7C335-F40E-4F08-BCA3-2604E1B1F6FA}" type="presParOf" srcId="{0701935E-322E-4E3A-AABE-CC1AFDB4A9C5}" destId="{9AF2A621-0037-4097-B449-4B52FE56B851}" srcOrd="11"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F97F9ED-ED66-4FD6-81ED-DE703E85BF68}"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C13E1D97-519F-4679-AE52-EC86822DF317}">
      <dgm:prSet custT="1"/>
      <dgm:spPr/>
      <dgm:t>
        <a:bodyPr/>
        <a:lstStyle/>
        <a:p>
          <a:pPr>
            <a:lnSpc>
              <a:spcPct val="100000"/>
            </a:lnSpc>
          </a:pPr>
          <a:r>
            <a:rPr lang="en-US" sz="2200" kern="1200" dirty="0">
              <a:solidFill>
                <a:schemeClr val="accent5">
                  <a:lumMod val="40000"/>
                  <a:lumOff val="60000"/>
                </a:schemeClr>
              </a:solidFill>
              <a:latin typeface="+mn-lt"/>
              <a:ea typeface="+mn-ea"/>
              <a:cs typeface="+mn-cs"/>
            </a:rPr>
            <a:t>• CPU-only attacks feasible under certain conditions</a:t>
          </a:r>
        </a:p>
      </dgm:t>
    </dgm:pt>
    <dgm:pt modelId="{DF99E12D-B859-4A0E-89A8-5F23F3B19BF4}" type="parTrans" cxnId="{CB43D6B5-8BAA-4EBE-A4A5-F06D0764F036}">
      <dgm:prSet/>
      <dgm:spPr/>
      <dgm:t>
        <a:bodyPr/>
        <a:lstStyle/>
        <a:p>
          <a:endParaRPr lang="en-US"/>
        </a:p>
      </dgm:t>
    </dgm:pt>
    <dgm:pt modelId="{2A1AD25C-FACF-40BE-B803-57836CC074CA}" type="sibTrans" cxnId="{CB43D6B5-8BAA-4EBE-A4A5-F06D0764F036}">
      <dgm:prSet/>
      <dgm:spPr/>
      <dgm:t>
        <a:bodyPr/>
        <a:lstStyle/>
        <a:p>
          <a:pPr>
            <a:lnSpc>
              <a:spcPct val="100000"/>
            </a:lnSpc>
          </a:pPr>
          <a:endParaRPr lang="en-US"/>
        </a:p>
      </dgm:t>
    </dgm:pt>
    <dgm:pt modelId="{F7A89C75-3DD5-40DE-B192-07CA598C7F2D}">
      <dgm:prSet custT="1"/>
      <dgm:spPr/>
      <dgm:t>
        <a:bodyPr/>
        <a:lstStyle/>
        <a:p>
          <a:pPr>
            <a:lnSpc>
              <a:spcPct val="100000"/>
            </a:lnSpc>
          </a:pPr>
          <a:r>
            <a:rPr lang="en-US" sz="2200" kern="1200" dirty="0">
              <a:solidFill>
                <a:srgbClr val="5B9BD5">
                  <a:lumMod val="40000"/>
                  <a:lumOff val="60000"/>
                </a:srgbClr>
              </a:solidFill>
              <a:latin typeface="Calibri" panose="020F0502020204030204"/>
              <a:ea typeface="+mn-ea"/>
              <a:cs typeface="+mn-cs"/>
            </a:rPr>
            <a:t>• Enterprise MFA chains vulnerable </a:t>
          </a:r>
          <a:r>
            <a:rPr lang="en-IE" sz="2200" kern="1200" dirty="0">
              <a:solidFill>
                <a:srgbClr val="5B9BD5">
                  <a:lumMod val="40000"/>
                  <a:lumOff val="60000"/>
                </a:srgbClr>
              </a:solidFill>
              <a:latin typeface="Calibri" panose="020F0502020204030204"/>
              <a:ea typeface="+mn-ea"/>
              <a:cs typeface="+mn-cs"/>
            </a:rPr>
            <a:t>→ adaptive defences needed</a:t>
          </a:r>
          <a:endParaRPr lang="en-US" sz="2200" kern="1200" dirty="0">
            <a:solidFill>
              <a:srgbClr val="5B9BD5">
                <a:lumMod val="40000"/>
                <a:lumOff val="60000"/>
              </a:srgbClr>
            </a:solidFill>
            <a:latin typeface="Calibri" panose="020F0502020204030204"/>
            <a:ea typeface="+mn-ea"/>
            <a:cs typeface="+mn-cs"/>
          </a:endParaRPr>
        </a:p>
      </dgm:t>
    </dgm:pt>
    <dgm:pt modelId="{277D2586-EA2C-4761-9873-8C7245F1CF29}" type="parTrans" cxnId="{828BB7E4-AF71-4935-B93E-704F35B29E88}">
      <dgm:prSet/>
      <dgm:spPr/>
      <dgm:t>
        <a:bodyPr/>
        <a:lstStyle/>
        <a:p>
          <a:endParaRPr lang="en-US"/>
        </a:p>
      </dgm:t>
    </dgm:pt>
    <dgm:pt modelId="{7697B917-BD0A-4351-B0CD-DDA5656EF9C4}" type="sibTrans" cxnId="{828BB7E4-AF71-4935-B93E-704F35B29E88}">
      <dgm:prSet/>
      <dgm:spPr/>
      <dgm:t>
        <a:bodyPr/>
        <a:lstStyle/>
        <a:p>
          <a:pPr>
            <a:lnSpc>
              <a:spcPct val="100000"/>
            </a:lnSpc>
          </a:pPr>
          <a:endParaRPr lang="en-US"/>
        </a:p>
      </dgm:t>
    </dgm:pt>
    <dgm:pt modelId="{FCF93946-4274-47D7-A34E-D718B476D916}">
      <dgm:prSet custT="1"/>
      <dgm:spPr/>
      <dgm:t>
        <a:bodyPr/>
        <a:lstStyle/>
        <a:p>
          <a:pPr>
            <a:lnSpc>
              <a:spcPct val="100000"/>
            </a:lnSpc>
          </a:pPr>
          <a:r>
            <a:rPr lang="en-US" sz="2200" kern="1200" dirty="0">
              <a:solidFill>
                <a:srgbClr val="5B9BD5">
                  <a:lumMod val="40000"/>
                  <a:lumOff val="60000"/>
                </a:srgbClr>
              </a:solidFill>
              <a:latin typeface="Calibri" panose="020F0502020204030204"/>
              <a:ea typeface="+mn-ea"/>
              <a:cs typeface="+mn-cs"/>
            </a:rPr>
            <a:t>• Detection tools inconsistent </a:t>
          </a:r>
          <a:r>
            <a:rPr lang="en-IE" sz="2200" kern="1200" dirty="0">
              <a:solidFill>
                <a:srgbClr val="5B9BD5">
                  <a:lumMod val="40000"/>
                  <a:lumOff val="60000"/>
                </a:srgbClr>
              </a:solidFill>
              <a:latin typeface="Calibri" panose="020F0502020204030204"/>
              <a:ea typeface="+mn-ea"/>
              <a:cs typeface="+mn-cs"/>
            </a:rPr>
            <a:t>→ multi-engine + context-aware required</a:t>
          </a:r>
          <a:endParaRPr lang="en-US" sz="2200" kern="1200" dirty="0">
            <a:solidFill>
              <a:srgbClr val="5B9BD5">
                <a:lumMod val="40000"/>
                <a:lumOff val="60000"/>
              </a:srgbClr>
            </a:solidFill>
            <a:latin typeface="Calibri" panose="020F0502020204030204"/>
            <a:ea typeface="+mn-ea"/>
            <a:cs typeface="+mn-cs"/>
          </a:endParaRPr>
        </a:p>
      </dgm:t>
    </dgm:pt>
    <dgm:pt modelId="{883B0184-6F95-4F5A-B944-FD56B587E6B2}" type="parTrans" cxnId="{9DD88A4C-3FBB-4DC5-BFAB-12CEE0908974}">
      <dgm:prSet/>
      <dgm:spPr/>
      <dgm:t>
        <a:bodyPr/>
        <a:lstStyle/>
        <a:p>
          <a:endParaRPr lang="en-US"/>
        </a:p>
      </dgm:t>
    </dgm:pt>
    <dgm:pt modelId="{AB02C045-3376-47D2-BA5F-75513693A3CB}" type="sibTrans" cxnId="{9DD88A4C-3FBB-4DC5-BFAB-12CEE0908974}">
      <dgm:prSet/>
      <dgm:spPr/>
      <dgm:t>
        <a:bodyPr/>
        <a:lstStyle/>
        <a:p>
          <a:pPr>
            <a:lnSpc>
              <a:spcPct val="100000"/>
            </a:lnSpc>
          </a:pPr>
          <a:endParaRPr lang="en-US"/>
        </a:p>
      </dgm:t>
    </dgm:pt>
    <dgm:pt modelId="{8B9EED42-988A-4893-85C0-08275F341BF9}">
      <dgm:prSet custT="1"/>
      <dgm:spPr/>
      <dgm:t>
        <a:bodyPr/>
        <a:lstStyle/>
        <a:p>
          <a:pPr>
            <a:lnSpc>
              <a:spcPct val="100000"/>
            </a:lnSpc>
          </a:pPr>
          <a:r>
            <a:rPr lang="en-US" sz="2200" kern="1200" dirty="0">
              <a:solidFill>
                <a:srgbClr val="5B9BD5">
                  <a:lumMod val="40000"/>
                  <a:lumOff val="60000"/>
                </a:srgbClr>
              </a:solidFill>
              <a:latin typeface="Calibri" panose="020F0502020204030204"/>
              <a:ea typeface="+mn-ea"/>
              <a:cs typeface="+mn-cs"/>
            </a:rPr>
            <a:t>• </a:t>
          </a:r>
          <a:r>
            <a:rPr lang="en-IE" sz="2200" kern="1200" dirty="0">
              <a:solidFill>
                <a:srgbClr val="5B9BD5">
                  <a:lumMod val="40000"/>
                  <a:lumOff val="60000"/>
                </a:srgbClr>
              </a:solidFill>
              <a:latin typeface="Calibri" panose="020F0502020204030204"/>
              <a:ea typeface="+mn-ea"/>
              <a:cs typeface="+mn-cs"/>
            </a:rPr>
            <a:t>Policy gap: EU/Irish regulation lags behind tech risk</a:t>
          </a:r>
          <a:endParaRPr lang="en-US" sz="2200" kern="1200" dirty="0">
            <a:solidFill>
              <a:srgbClr val="5B9BD5">
                <a:lumMod val="40000"/>
                <a:lumOff val="60000"/>
              </a:srgbClr>
            </a:solidFill>
            <a:latin typeface="Calibri" panose="020F0502020204030204"/>
            <a:ea typeface="+mn-ea"/>
            <a:cs typeface="+mn-cs"/>
          </a:endParaRPr>
        </a:p>
      </dgm:t>
    </dgm:pt>
    <dgm:pt modelId="{9D41DEBE-7E4E-45F9-8C39-A52D43D02888}" type="parTrans" cxnId="{CF91BA99-062F-4C5B-8BED-F33357A964F8}">
      <dgm:prSet/>
      <dgm:spPr/>
      <dgm:t>
        <a:bodyPr/>
        <a:lstStyle/>
        <a:p>
          <a:endParaRPr lang="en-US"/>
        </a:p>
      </dgm:t>
    </dgm:pt>
    <dgm:pt modelId="{E21859C6-A81F-4AB7-8D51-B9690A9D50D8}" type="sibTrans" cxnId="{CF91BA99-062F-4C5B-8BED-F33357A964F8}">
      <dgm:prSet/>
      <dgm:spPr/>
      <dgm:t>
        <a:bodyPr/>
        <a:lstStyle/>
        <a:p>
          <a:endParaRPr lang="en-US"/>
        </a:p>
      </dgm:t>
    </dgm:pt>
    <dgm:pt modelId="{F6C0A4B9-7F00-47EE-8273-9F3C3565BEDA}" type="pres">
      <dgm:prSet presAssocID="{1F97F9ED-ED66-4FD6-81ED-DE703E85BF68}" presName="root" presStyleCnt="0">
        <dgm:presLayoutVars>
          <dgm:dir/>
          <dgm:resizeHandles val="exact"/>
        </dgm:presLayoutVars>
      </dgm:prSet>
      <dgm:spPr/>
    </dgm:pt>
    <dgm:pt modelId="{EE04D33B-97D1-4132-B776-5323C388F59E}" type="pres">
      <dgm:prSet presAssocID="{1F97F9ED-ED66-4FD6-81ED-DE703E85BF68}" presName="container" presStyleCnt="0">
        <dgm:presLayoutVars>
          <dgm:dir/>
          <dgm:resizeHandles val="exact"/>
        </dgm:presLayoutVars>
      </dgm:prSet>
      <dgm:spPr/>
    </dgm:pt>
    <dgm:pt modelId="{3CA21AF0-A423-4B12-8D11-59B2ABAB2BD8}" type="pres">
      <dgm:prSet presAssocID="{C13E1D97-519F-4679-AE52-EC86822DF317}" presName="compNode" presStyleCnt="0"/>
      <dgm:spPr/>
    </dgm:pt>
    <dgm:pt modelId="{F5561B83-F279-4BBB-83C6-05DB46E88426}" type="pres">
      <dgm:prSet presAssocID="{C13E1D97-519F-4679-AE52-EC86822DF317}" presName="iconBgRect" presStyleLbl="bgShp" presStyleIdx="0" presStyleCnt="4"/>
      <dgm:spPr/>
    </dgm:pt>
    <dgm:pt modelId="{C4FA5E93-8C64-44E0-AE11-5E8CBE8E0E53}" type="pres">
      <dgm:prSet presAssocID="{C13E1D97-519F-4679-AE52-EC86822DF31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sor"/>
        </a:ext>
      </dgm:extLst>
    </dgm:pt>
    <dgm:pt modelId="{F65E1CD1-5FF7-4C08-A67F-43AA0956B60E}" type="pres">
      <dgm:prSet presAssocID="{C13E1D97-519F-4679-AE52-EC86822DF317}" presName="spaceRect" presStyleCnt="0"/>
      <dgm:spPr/>
    </dgm:pt>
    <dgm:pt modelId="{163A132C-8F81-4F37-99EB-EE24F32D4B2B}" type="pres">
      <dgm:prSet presAssocID="{C13E1D97-519F-4679-AE52-EC86822DF317}" presName="textRect" presStyleLbl="revTx" presStyleIdx="0" presStyleCnt="4">
        <dgm:presLayoutVars>
          <dgm:chMax val="1"/>
          <dgm:chPref val="1"/>
        </dgm:presLayoutVars>
      </dgm:prSet>
      <dgm:spPr/>
    </dgm:pt>
    <dgm:pt modelId="{167E3E2F-1D1B-4F7D-BF6C-DA61C7B78FB4}" type="pres">
      <dgm:prSet presAssocID="{2A1AD25C-FACF-40BE-B803-57836CC074CA}" presName="sibTrans" presStyleLbl="sibTrans2D1" presStyleIdx="0" presStyleCnt="0"/>
      <dgm:spPr/>
    </dgm:pt>
    <dgm:pt modelId="{045B7231-5116-4A39-BDA9-4E6FA6DA6FF6}" type="pres">
      <dgm:prSet presAssocID="{F7A89C75-3DD5-40DE-B192-07CA598C7F2D}" presName="compNode" presStyleCnt="0"/>
      <dgm:spPr/>
    </dgm:pt>
    <dgm:pt modelId="{C739D719-9EAE-4449-82D1-1EBDBCEA8164}" type="pres">
      <dgm:prSet presAssocID="{F7A89C75-3DD5-40DE-B192-07CA598C7F2D}" presName="iconBgRect" presStyleLbl="bgShp" presStyleIdx="1" presStyleCnt="4"/>
      <dgm:spPr/>
    </dgm:pt>
    <dgm:pt modelId="{E36CDC18-C6C3-4FEF-B094-0BE7328DC3D9}" type="pres">
      <dgm:prSet presAssocID="{F7A89C75-3DD5-40DE-B192-07CA598C7F2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Lock"/>
        </a:ext>
      </dgm:extLst>
    </dgm:pt>
    <dgm:pt modelId="{963058F4-2DE9-43B5-A253-A339CC4826DB}" type="pres">
      <dgm:prSet presAssocID="{F7A89C75-3DD5-40DE-B192-07CA598C7F2D}" presName="spaceRect" presStyleCnt="0"/>
      <dgm:spPr/>
    </dgm:pt>
    <dgm:pt modelId="{FF10F361-CDC6-4C48-B143-CB6174F668D8}" type="pres">
      <dgm:prSet presAssocID="{F7A89C75-3DD5-40DE-B192-07CA598C7F2D}" presName="textRect" presStyleLbl="revTx" presStyleIdx="1" presStyleCnt="4">
        <dgm:presLayoutVars>
          <dgm:chMax val="1"/>
          <dgm:chPref val="1"/>
        </dgm:presLayoutVars>
      </dgm:prSet>
      <dgm:spPr/>
    </dgm:pt>
    <dgm:pt modelId="{A83F42AA-64EB-4F36-86CB-206DC26307C7}" type="pres">
      <dgm:prSet presAssocID="{7697B917-BD0A-4351-B0CD-DDA5656EF9C4}" presName="sibTrans" presStyleLbl="sibTrans2D1" presStyleIdx="0" presStyleCnt="0"/>
      <dgm:spPr/>
    </dgm:pt>
    <dgm:pt modelId="{02AA33D9-0B83-4FCA-A385-89FADEA885DC}" type="pres">
      <dgm:prSet presAssocID="{FCF93946-4274-47D7-A34E-D718B476D916}" presName="compNode" presStyleCnt="0"/>
      <dgm:spPr/>
    </dgm:pt>
    <dgm:pt modelId="{B08DCE64-D4D7-4858-B2C4-4E774BBC5DBA}" type="pres">
      <dgm:prSet presAssocID="{FCF93946-4274-47D7-A34E-D718B476D916}" presName="iconBgRect" presStyleLbl="bgShp" presStyleIdx="2" presStyleCnt="4"/>
      <dgm:spPr/>
    </dgm:pt>
    <dgm:pt modelId="{C7A722C6-B86E-4DD7-A72D-318EE1D40DBC}" type="pres">
      <dgm:prSet presAssocID="{FCF93946-4274-47D7-A34E-D718B476D91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Gears"/>
        </a:ext>
      </dgm:extLst>
    </dgm:pt>
    <dgm:pt modelId="{A12D564E-DFFE-43DD-9BE0-1C8E6CD78016}" type="pres">
      <dgm:prSet presAssocID="{FCF93946-4274-47D7-A34E-D718B476D916}" presName="spaceRect" presStyleCnt="0"/>
      <dgm:spPr/>
    </dgm:pt>
    <dgm:pt modelId="{03522EA0-D992-48E7-BABD-1643D677C1E9}" type="pres">
      <dgm:prSet presAssocID="{FCF93946-4274-47D7-A34E-D718B476D916}" presName="textRect" presStyleLbl="revTx" presStyleIdx="2" presStyleCnt="4">
        <dgm:presLayoutVars>
          <dgm:chMax val="1"/>
          <dgm:chPref val="1"/>
        </dgm:presLayoutVars>
      </dgm:prSet>
      <dgm:spPr/>
    </dgm:pt>
    <dgm:pt modelId="{4F699565-3EEC-4F94-B028-3BBAEE3F259D}" type="pres">
      <dgm:prSet presAssocID="{AB02C045-3376-47D2-BA5F-75513693A3CB}" presName="sibTrans" presStyleLbl="sibTrans2D1" presStyleIdx="0" presStyleCnt="0"/>
      <dgm:spPr/>
    </dgm:pt>
    <dgm:pt modelId="{390120DF-825C-443F-9C8B-1E65445AF28C}" type="pres">
      <dgm:prSet presAssocID="{8B9EED42-988A-4893-85C0-08275F341BF9}" presName="compNode" presStyleCnt="0"/>
      <dgm:spPr/>
    </dgm:pt>
    <dgm:pt modelId="{191AF90C-4ABA-4FC8-B544-E09A291F0133}" type="pres">
      <dgm:prSet presAssocID="{8B9EED42-988A-4893-85C0-08275F341BF9}" presName="iconBgRect" presStyleLbl="bgShp" presStyleIdx="3" presStyleCnt="4"/>
      <dgm:spPr/>
    </dgm:pt>
    <dgm:pt modelId="{6EE0C779-CDB3-408A-ACFC-40AD002BBA24}" type="pres">
      <dgm:prSet presAssocID="{8B9EED42-988A-4893-85C0-08275F341BF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hamrock"/>
        </a:ext>
      </dgm:extLst>
    </dgm:pt>
    <dgm:pt modelId="{CBDAB072-ADC0-450D-8B3D-AC7D8107B534}" type="pres">
      <dgm:prSet presAssocID="{8B9EED42-988A-4893-85C0-08275F341BF9}" presName="spaceRect" presStyleCnt="0"/>
      <dgm:spPr/>
    </dgm:pt>
    <dgm:pt modelId="{A03126B9-D9BA-4ED3-B8AA-36392E0DA822}" type="pres">
      <dgm:prSet presAssocID="{8B9EED42-988A-4893-85C0-08275F341BF9}" presName="textRect" presStyleLbl="revTx" presStyleIdx="3" presStyleCnt="4">
        <dgm:presLayoutVars>
          <dgm:chMax val="1"/>
          <dgm:chPref val="1"/>
        </dgm:presLayoutVars>
      </dgm:prSet>
      <dgm:spPr/>
    </dgm:pt>
  </dgm:ptLst>
  <dgm:cxnLst>
    <dgm:cxn modelId="{FF3BA123-2C55-4570-921D-4CA34F5FD617}" type="presOf" srcId="{7697B917-BD0A-4351-B0CD-DDA5656EF9C4}" destId="{A83F42AA-64EB-4F36-86CB-206DC26307C7}" srcOrd="0" destOrd="0" presId="urn:microsoft.com/office/officeart/2018/2/layout/IconCircleList"/>
    <dgm:cxn modelId="{9DD88A4C-3FBB-4DC5-BFAB-12CEE0908974}" srcId="{1F97F9ED-ED66-4FD6-81ED-DE703E85BF68}" destId="{FCF93946-4274-47D7-A34E-D718B476D916}" srcOrd="2" destOrd="0" parTransId="{883B0184-6F95-4F5A-B944-FD56B587E6B2}" sibTransId="{AB02C045-3376-47D2-BA5F-75513693A3CB}"/>
    <dgm:cxn modelId="{841C4D51-28EA-4293-8E98-9FB0B366650E}" type="presOf" srcId="{F7A89C75-3DD5-40DE-B192-07CA598C7F2D}" destId="{FF10F361-CDC6-4C48-B143-CB6174F668D8}" srcOrd="0" destOrd="0" presId="urn:microsoft.com/office/officeart/2018/2/layout/IconCircleList"/>
    <dgm:cxn modelId="{E9A5418B-219F-4177-A3C4-0424532550E0}" type="presOf" srcId="{FCF93946-4274-47D7-A34E-D718B476D916}" destId="{03522EA0-D992-48E7-BABD-1643D677C1E9}" srcOrd="0" destOrd="0" presId="urn:microsoft.com/office/officeart/2018/2/layout/IconCircleList"/>
    <dgm:cxn modelId="{CF91BA99-062F-4C5B-8BED-F33357A964F8}" srcId="{1F97F9ED-ED66-4FD6-81ED-DE703E85BF68}" destId="{8B9EED42-988A-4893-85C0-08275F341BF9}" srcOrd="3" destOrd="0" parTransId="{9D41DEBE-7E4E-45F9-8C39-A52D43D02888}" sibTransId="{E21859C6-A81F-4AB7-8D51-B9690A9D50D8}"/>
    <dgm:cxn modelId="{CB43D6B5-8BAA-4EBE-A4A5-F06D0764F036}" srcId="{1F97F9ED-ED66-4FD6-81ED-DE703E85BF68}" destId="{C13E1D97-519F-4679-AE52-EC86822DF317}" srcOrd="0" destOrd="0" parTransId="{DF99E12D-B859-4A0E-89A8-5F23F3B19BF4}" sibTransId="{2A1AD25C-FACF-40BE-B803-57836CC074CA}"/>
    <dgm:cxn modelId="{7A35A3D4-098C-4333-947A-794F66ECDAF8}" type="presOf" srcId="{2A1AD25C-FACF-40BE-B803-57836CC074CA}" destId="{167E3E2F-1D1B-4F7D-BF6C-DA61C7B78FB4}" srcOrd="0" destOrd="0" presId="urn:microsoft.com/office/officeart/2018/2/layout/IconCircleList"/>
    <dgm:cxn modelId="{FDB1D4D6-2D57-46EF-A840-01FDB8C22728}" type="presOf" srcId="{C13E1D97-519F-4679-AE52-EC86822DF317}" destId="{163A132C-8F81-4F37-99EB-EE24F32D4B2B}" srcOrd="0" destOrd="0" presId="urn:microsoft.com/office/officeart/2018/2/layout/IconCircleList"/>
    <dgm:cxn modelId="{C170BBDA-88D0-45A1-BF43-9EC1737D1D79}" type="presOf" srcId="{8B9EED42-988A-4893-85C0-08275F341BF9}" destId="{A03126B9-D9BA-4ED3-B8AA-36392E0DA822}" srcOrd="0" destOrd="0" presId="urn:microsoft.com/office/officeart/2018/2/layout/IconCircleList"/>
    <dgm:cxn modelId="{597EDFDF-49F6-45F2-BD1E-330EE14A0C33}" type="presOf" srcId="{AB02C045-3376-47D2-BA5F-75513693A3CB}" destId="{4F699565-3EEC-4F94-B028-3BBAEE3F259D}" srcOrd="0" destOrd="0" presId="urn:microsoft.com/office/officeart/2018/2/layout/IconCircleList"/>
    <dgm:cxn modelId="{828BB7E4-AF71-4935-B93E-704F35B29E88}" srcId="{1F97F9ED-ED66-4FD6-81ED-DE703E85BF68}" destId="{F7A89C75-3DD5-40DE-B192-07CA598C7F2D}" srcOrd="1" destOrd="0" parTransId="{277D2586-EA2C-4761-9873-8C7245F1CF29}" sibTransId="{7697B917-BD0A-4351-B0CD-DDA5656EF9C4}"/>
    <dgm:cxn modelId="{24EE5EE7-7311-4C83-B256-8EBCE0B828AE}" type="presOf" srcId="{1F97F9ED-ED66-4FD6-81ED-DE703E85BF68}" destId="{F6C0A4B9-7F00-47EE-8273-9F3C3565BEDA}" srcOrd="0" destOrd="0" presId="urn:microsoft.com/office/officeart/2018/2/layout/IconCircleList"/>
    <dgm:cxn modelId="{DABE0B7C-1AB5-4C74-B150-2877B062D059}" type="presParOf" srcId="{F6C0A4B9-7F00-47EE-8273-9F3C3565BEDA}" destId="{EE04D33B-97D1-4132-B776-5323C388F59E}" srcOrd="0" destOrd="0" presId="urn:microsoft.com/office/officeart/2018/2/layout/IconCircleList"/>
    <dgm:cxn modelId="{397FF599-57C1-4C07-88AC-C87C0D1A3E14}" type="presParOf" srcId="{EE04D33B-97D1-4132-B776-5323C388F59E}" destId="{3CA21AF0-A423-4B12-8D11-59B2ABAB2BD8}" srcOrd="0" destOrd="0" presId="urn:microsoft.com/office/officeart/2018/2/layout/IconCircleList"/>
    <dgm:cxn modelId="{1E6FA8DD-7D4F-43B3-9257-561A1D1DA743}" type="presParOf" srcId="{3CA21AF0-A423-4B12-8D11-59B2ABAB2BD8}" destId="{F5561B83-F279-4BBB-83C6-05DB46E88426}" srcOrd="0" destOrd="0" presId="urn:microsoft.com/office/officeart/2018/2/layout/IconCircleList"/>
    <dgm:cxn modelId="{544D83AF-8C46-4A40-8634-1C0D51BC4BA8}" type="presParOf" srcId="{3CA21AF0-A423-4B12-8D11-59B2ABAB2BD8}" destId="{C4FA5E93-8C64-44E0-AE11-5E8CBE8E0E53}" srcOrd="1" destOrd="0" presId="urn:microsoft.com/office/officeart/2018/2/layout/IconCircleList"/>
    <dgm:cxn modelId="{61DAB3A6-B63D-4D30-B777-C36FDEAA49EB}" type="presParOf" srcId="{3CA21AF0-A423-4B12-8D11-59B2ABAB2BD8}" destId="{F65E1CD1-5FF7-4C08-A67F-43AA0956B60E}" srcOrd="2" destOrd="0" presId="urn:microsoft.com/office/officeart/2018/2/layout/IconCircleList"/>
    <dgm:cxn modelId="{4979A4D5-3AFC-44E7-B4E4-466113A7483B}" type="presParOf" srcId="{3CA21AF0-A423-4B12-8D11-59B2ABAB2BD8}" destId="{163A132C-8F81-4F37-99EB-EE24F32D4B2B}" srcOrd="3" destOrd="0" presId="urn:microsoft.com/office/officeart/2018/2/layout/IconCircleList"/>
    <dgm:cxn modelId="{F34E7281-29F0-43A3-BA7C-7BA6C531C676}" type="presParOf" srcId="{EE04D33B-97D1-4132-B776-5323C388F59E}" destId="{167E3E2F-1D1B-4F7D-BF6C-DA61C7B78FB4}" srcOrd="1" destOrd="0" presId="urn:microsoft.com/office/officeart/2018/2/layout/IconCircleList"/>
    <dgm:cxn modelId="{449105E5-2128-44DC-A8B8-931E90B84955}" type="presParOf" srcId="{EE04D33B-97D1-4132-B776-5323C388F59E}" destId="{045B7231-5116-4A39-BDA9-4E6FA6DA6FF6}" srcOrd="2" destOrd="0" presId="urn:microsoft.com/office/officeart/2018/2/layout/IconCircleList"/>
    <dgm:cxn modelId="{F01ADE74-BF3C-4BA1-A3E4-075DD6320F86}" type="presParOf" srcId="{045B7231-5116-4A39-BDA9-4E6FA6DA6FF6}" destId="{C739D719-9EAE-4449-82D1-1EBDBCEA8164}" srcOrd="0" destOrd="0" presId="urn:microsoft.com/office/officeart/2018/2/layout/IconCircleList"/>
    <dgm:cxn modelId="{9B912A73-DFB1-40C1-9F47-395F9BCCD373}" type="presParOf" srcId="{045B7231-5116-4A39-BDA9-4E6FA6DA6FF6}" destId="{E36CDC18-C6C3-4FEF-B094-0BE7328DC3D9}" srcOrd="1" destOrd="0" presId="urn:microsoft.com/office/officeart/2018/2/layout/IconCircleList"/>
    <dgm:cxn modelId="{0A9752E1-2DC2-4A4F-87BF-E252DFE0D3AE}" type="presParOf" srcId="{045B7231-5116-4A39-BDA9-4E6FA6DA6FF6}" destId="{963058F4-2DE9-43B5-A253-A339CC4826DB}" srcOrd="2" destOrd="0" presId="urn:microsoft.com/office/officeart/2018/2/layout/IconCircleList"/>
    <dgm:cxn modelId="{55231FD3-D0D1-4D19-9C86-FE971FDAF2F6}" type="presParOf" srcId="{045B7231-5116-4A39-BDA9-4E6FA6DA6FF6}" destId="{FF10F361-CDC6-4C48-B143-CB6174F668D8}" srcOrd="3" destOrd="0" presId="urn:microsoft.com/office/officeart/2018/2/layout/IconCircleList"/>
    <dgm:cxn modelId="{4A5AE9A2-A559-4928-AA09-3BB98551774E}" type="presParOf" srcId="{EE04D33B-97D1-4132-B776-5323C388F59E}" destId="{A83F42AA-64EB-4F36-86CB-206DC26307C7}" srcOrd="3" destOrd="0" presId="urn:microsoft.com/office/officeart/2018/2/layout/IconCircleList"/>
    <dgm:cxn modelId="{91D275F3-CB39-4D15-AEDC-F7F68D25FFB1}" type="presParOf" srcId="{EE04D33B-97D1-4132-B776-5323C388F59E}" destId="{02AA33D9-0B83-4FCA-A385-89FADEA885DC}" srcOrd="4" destOrd="0" presId="urn:microsoft.com/office/officeart/2018/2/layout/IconCircleList"/>
    <dgm:cxn modelId="{A07FC468-BE20-4E92-A2C6-BC93A6C375AA}" type="presParOf" srcId="{02AA33D9-0B83-4FCA-A385-89FADEA885DC}" destId="{B08DCE64-D4D7-4858-B2C4-4E774BBC5DBA}" srcOrd="0" destOrd="0" presId="urn:microsoft.com/office/officeart/2018/2/layout/IconCircleList"/>
    <dgm:cxn modelId="{4BB0C913-1625-4260-B1EA-4C20C4D9EBB3}" type="presParOf" srcId="{02AA33D9-0B83-4FCA-A385-89FADEA885DC}" destId="{C7A722C6-B86E-4DD7-A72D-318EE1D40DBC}" srcOrd="1" destOrd="0" presId="urn:microsoft.com/office/officeart/2018/2/layout/IconCircleList"/>
    <dgm:cxn modelId="{CF49A68D-F0E0-4399-8BA8-0298DFF13573}" type="presParOf" srcId="{02AA33D9-0B83-4FCA-A385-89FADEA885DC}" destId="{A12D564E-DFFE-43DD-9BE0-1C8E6CD78016}" srcOrd="2" destOrd="0" presId="urn:microsoft.com/office/officeart/2018/2/layout/IconCircleList"/>
    <dgm:cxn modelId="{B9E30886-AFB4-49A9-9570-866DCDF1966E}" type="presParOf" srcId="{02AA33D9-0B83-4FCA-A385-89FADEA885DC}" destId="{03522EA0-D992-48E7-BABD-1643D677C1E9}" srcOrd="3" destOrd="0" presId="urn:microsoft.com/office/officeart/2018/2/layout/IconCircleList"/>
    <dgm:cxn modelId="{5FF48231-C852-4049-9E12-5AE134A0BF96}" type="presParOf" srcId="{EE04D33B-97D1-4132-B776-5323C388F59E}" destId="{4F699565-3EEC-4F94-B028-3BBAEE3F259D}" srcOrd="5" destOrd="0" presId="urn:microsoft.com/office/officeart/2018/2/layout/IconCircleList"/>
    <dgm:cxn modelId="{213A4FBD-E2AE-4B82-8721-1ADD80F21BFD}" type="presParOf" srcId="{EE04D33B-97D1-4132-B776-5323C388F59E}" destId="{390120DF-825C-443F-9C8B-1E65445AF28C}" srcOrd="6" destOrd="0" presId="urn:microsoft.com/office/officeart/2018/2/layout/IconCircleList"/>
    <dgm:cxn modelId="{D37EF256-421C-4CD6-AA25-F7C286C5357D}" type="presParOf" srcId="{390120DF-825C-443F-9C8B-1E65445AF28C}" destId="{191AF90C-4ABA-4FC8-B544-E09A291F0133}" srcOrd="0" destOrd="0" presId="urn:microsoft.com/office/officeart/2018/2/layout/IconCircleList"/>
    <dgm:cxn modelId="{F24C40DE-5974-4C7C-A648-13D50D7ACE55}" type="presParOf" srcId="{390120DF-825C-443F-9C8B-1E65445AF28C}" destId="{6EE0C779-CDB3-408A-ACFC-40AD002BBA24}" srcOrd="1" destOrd="0" presId="urn:microsoft.com/office/officeart/2018/2/layout/IconCircleList"/>
    <dgm:cxn modelId="{6D911AD4-4436-4AEC-92B3-8411DEA92515}" type="presParOf" srcId="{390120DF-825C-443F-9C8B-1E65445AF28C}" destId="{CBDAB072-ADC0-450D-8B3D-AC7D8107B534}" srcOrd="2" destOrd="0" presId="urn:microsoft.com/office/officeart/2018/2/layout/IconCircleList"/>
    <dgm:cxn modelId="{34C7966C-B116-446A-92F5-2D83268DB7E0}" type="presParOf" srcId="{390120DF-825C-443F-9C8B-1E65445AF28C}" destId="{A03126B9-D9BA-4ED3-B8AA-36392E0DA822}"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7BF4E2-9904-4233-A455-1D0299D1B996}">
      <dsp:nvSpPr>
        <dsp:cNvPr id="0" name=""/>
        <dsp:cNvSpPr/>
      </dsp:nvSpPr>
      <dsp:spPr>
        <a:xfrm>
          <a:off x="0" y="462537"/>
          <a:ext cx="10574595" cy="12729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 RQ1: How accurate are deepfakes generated with common open-source tools across OS and hardware conditions?</a:t>
          </a:r>
          <a:endParaRPr lang="en-IE" sz="3200" kern="1200"/>
        </a:p>
      </dsp:txBody>
      <dsp:txXfrm>
        <a:off x="62141" y="524678"/>
        <a:ext cx="10450313" cy="1148678"/>
      </dsp:txXfrm>
    </dsp:sp>
    <dsp:sp modelId="{778BA75F-BE4F-4900-94BB-BA00A68EE991}">
      <dsp:nvSpPr>
        <dsp:cNvPr id="0" name=""/>
        <dsp:cNvSpPr/>
      </dsp:nvSpPr>
      <dsp:spPr>
        <a:xfrm>
          <a:off x="0" y="2203114"/>
          <a:ext cx="10574595" cy="12729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 RQ2: Can deepfakes bypass Apple Face ID to unlock Microsoft Authenticator and gain enterprise access?</a:t>
          </a:r>
          <a:endParaRPr lang="en-IE" sz="3200" kern="1200" dirty="0"/>
        </a:p>
      </dsp:txBody>
      <dsp:txXfrm>
        <a:off x="62141" y="2265255"/>
        <a:ext cx="10450313" cy="11486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0BB64A-1294-46A3-AD99-4D6377B75CBF}">
      <dsp:nvSpPr>
        <dsp:cNvPr id="0" name=""/>
        <dsp:cNvSpPr/>
      </dsp:nvSpPr>
      <dsp:spPr>
        <a:xfrm>
          <a:off x="0" y="0"/>
          <a:ext cx="1124330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56CB3C-014D-49DD-8387-C20BDE70DF0B}">
      <dsp:nvSpPr>
        <dsp:cNvPr id="0" name=""/>
        <dsp:cNvSpPr/>
      </dsp:nvSpPr>
      <dsp:spPr>
        <a:xfrm>
          <a:off x="0" y="0"/>
          <a:ext cx="11243308" cy="7615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solidFill>
                <a:schemeClr val="accent5">
                  <a:lumMod val="40000"/>
                  <a:lumOff val="60000"/>
                </a:schemeClr>
              </a:solidFill>
              <a:latin typeface="+mn-lt"/>
              <a:ea typeface="+mn-ea"/>
              <a:cs typeface="+mn-cs"/>
            </a:rPr>
            <a:t>Assess the ability of deepfakes to bypass facial biometric systems</a:t>
          </a:r>
          <a:endParaRPr lang="en-IE" sz="3200" kern="1200" dirty="0">
            <a:solidFill>
              <a:schemeClr val="accent5">
                <a:lumMod val="40000"/>
                <a:lumOff val="60000"/>
              </a:schemeClr>
            </a:solidFill>
            <a:latin typeface="+mn-lt"/>
            <a:ea typeface="+mn-ea"/>
            <a:cs typeface="+mn-cs"/>
          </a:endParaRPr>
        </a:p>
      </dsp:txBody>
      <dsp:txXfrm>
        <a:off x="0" y="0"/>
        <a:ext cx="11243308" cy="761522"/>
      </dsp:txXfrm>
    </dsp:sp>
    <dsp:sp modelId="{BB6EF8EC-8DC9-4D17-8152-E85CE8CB791F}">
      <dsp:nvSpPr>
        <dsp:cNvPr id="0" name=""/>
        <dsp:cNvSpPr/>
      </dsp:nvSpPr>
      <dsp:spPr>
        <a:xfrm>
          <a:off x="0" y="761522"/>
          <a:ext cx="1124330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7279CE-B90A-4E2D-9621-9C6739093799}">
      <dsp:nvSpPr>
        <dsp:cNvPr id="0" name=""/>
        <dsp:cNvSpPr/>
      </dsp:nvSpPr>
      <dsp:spPr>
        <a:xfrm>
          <a:off x="0" y="761522"/>
          <a:ext cx="11243308" cy="7615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solidFill>
                <a:schemeClr val="accent5">
                  <a:lumMod val="40000"/>
                  <a:lumOff val="60000"/>
                </a:schemeClr>
              </a:solidFill>
              <a:latin typeface="+mn-lt"/>
              <a:ea typeface="+mn-ea"/>
              <a:cs typeface="+mn-cs"/>
            </a:rPr>
            <a:t>Evaluate state-of-the-art detection tools</a:t>
          </a:r>
          <a:endParaRPr lang="en-IE" sz="3200" kern="1200" dirty="0">
            <a:solidFill>
              <a:schemeClr val="accent5">
                <a:lumMod val="40000"/>
                <a:lumOff val="60000"/>
              </a:schemeClr>
            </a:solidFill>
            <a:latin typeface="+mn-lt"/>
            <a:ea typeface="+mn-ea"/>
            <a:cs typeface="+mn-cs"/>
          </a:endParaRPr>
        </a:p>
      </dsp:txBody>
      <dsp:txXfrm>
        <a:off x="0" y="761522"/>
        <a:ext cx="11243308" cy="761522"/>
      </dsp:txXfrm>
    </dsp:sp>
    <dsp:sp modelId="{592EECAC-3653-4373-A948-E703B57CC220}">
      <dsp:nvSpPr>
        <dsp:cNvPr id="0" name=""/>
        <dsp:cNvSpPr/>
      </dsp:nvSpPr>
      <dsp:spPr>
        <a:xfrm>
          <a:off x="0" y="1523045"/>
          <a:ext cx="1124330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FDF6AF-8A62-4635-A135-3C5FCEAF9677}">
      <dsp:nvSpPr>
        <dsp:cNvPr id="0" name=""/>
        <dsp:cNvSpPr/>
      </dsp:nvSpPr>
      <dsp:spPr>
        <a:xfrm>
          <a:off x="0" y="1523045"/>
          <a:ext cx="11243308" cy="7615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solidFill>
                <a:schemeClr val="accent5">
                  <a:lumMod val="40000"/>
                  <a:lumOff val="60000"/>
                </a:schemeClr>
              </a:solidFill>
              <a:latin typeface="+mn-lt"/>
              <a:ea typeface="+mn-ea"/>
              <a:cs typeface="+mn-cs"/>
            </a:rPr>
            <a:t>Identify</a:t>
          </a:r>
          <a:r>
            <a:rPr lang="en-US" sz="3500" kern="1200" dirty="0"/>
            <a:t> </a:t>
          </a:r>
          <a:r>
            <a:rPr lang="en-US" sz="3200" kern="1200" dirty="0">
              <a:solidFill>
                <a:schemeClr val="accent5">
                  <a:lumMod val="40000"/>
                  <a:lumOff val="60000"/>
                </a:schemeClr>
              </a:solidFill>
              <a:latin typeface="+mn-lt"/>
              <a:ea typeface="+mn-ea"/>
              <a:cs typeface="+mn-cs"/>
            </a:rPr>
            <a:t>weaknesses in current defences</a:t>
          </a:r>
          <a:endParaRPr lang="en-IE" sz="3200" kern="1200" dirty="0">
            <a:solidFill>
              <a:schemeClr val="accent5">
                <a:lumMod val="40000"/>
                <a:lumOff val="60000"/>
              </a:schemeClr>
            </a:solidFill>
            <a:latin typeface="+mn-lt"/>
            <a:ea typeface="+mn-ea"/>
            <a:cs typeface="+mn-cs"/>
          </a:endParaRPr>
        </a:p>
      </dsp:txBody>
      <dsp:txXfrm>
        <a:off x="0" y="1523045"/>
        <a:ext cx="11243308" cy="761522"/>
      </dsp:txXfrm>
    </dsp:sp>
    <dsp:sp modelId="{1237C76A-2991-40FF-8F26-44611E3E2C2A}">
      <dsp:nvSpPr>
        <dsp:cNvPr id="0" name=""/>
        <dsp:cNvSpPr/>
      </dsp:nvSpPr>
      <dsp:spPr>
        <a:xfrm>
          <a:off x="0" y="2284567"/>
          <a:ext cx="1124330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E599D59-CF2C-429E-AF48-5169CC63634A}">
      <dsp:nvSpPr>
        <dsp:cNvPr id="0" name=""/>
        <dsp:cNvSpPr/>
      </dsp:nvSpPr>
      <dsp:spPr>
        <a:xfrm>
          <a:off x="0" y="2284567"/>
          <a:ext cx="11243308" cy="7615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solidFill>
                <a:schemeClr val="accent5">
                  <a:lumMod val="40000"/>
                  <a:lumOff val="60000"/>
                </a:schemeClr>
              </a:solidFill>
              <a:latin typeface="+mn-lt"/>
              <a:ea typeface="+mn-ea"/>
              <a:cs typeface="+mn-cs"/>
            </a:rPr>
            <a:t>Propose</a:t>
          </a:r>
          <a:r>
            <a:rPr lang="en-US" sz="3500" kern="1200" dirty="0"/>
            <a:t> </a:t>
          </a:r>
          <a:r>
            <a:rPr lang="en-US" sz="3200" kern="1200" dirty="0">
              <a:solidFill>
                <a:schemeClr val="accent5">
                  <a:lumMod val="40000"/>
                  <a:lumOff val="60000"/>
                </a:schemeClr>
              </a:solidFill>
              <a:latin typeface="+mn-lt"/>
              <a:ea typeface="+mn-ea"/>
              <a:cs typeface="+mn-cs"/>
            </a:rPr>
            <a:t>recommendations</a:t>
          </a:r>
          <a:r>
            <a:rPr lang="en-US" sz="3500" kern="1200" dirty="0"/>
            <a:t> </a:t>
          </a:r>
          <a:r>
            <a:rPr lang="en-US" sz="3200" kern="1200" dirty="0">
              <a:solidFill>
                <a:schemeClr val="accent5">
                  <a:lumMod val="40000"/>
                  <a:lumOff val="60000"/>
                </a:schemeClr>
              </a:solidFill>
              <a:latin typeface="+mn-lt"/>
              <a:ea typeface="+mn-ea"/>
              <a:cs typeface="+mn-cs"/>
            </a:rPr>
            <a:t>for</a:t>
          </a:r>
          <a:r>
            <a:rPr lang="en-US" sz="3500" kern="1200" dirty="0"/>
            <a:t> </a:t>
          </a:r>
          <a:r>
            <a:rPr lang="en-US" sz="3200" kern="1200" dirty="0">
              <a:solidFill>
                <a:schemeClr val="accent5">
                  <a:lumMod val="40000"/>
                  <a:lumOff val="60000"/>
                </a:schemeClr>
              </a:solidFill>
              <a:latin typeface="+mn-lt"/>
              <a:ea typeface="+mn-ea"/>
              <a:cs typeface="+mn-cs"/>
            </a:rPr>
            <a:t>resilience</a:t>
          </a:r>
          <a:endParaRPr lang="en-IE" sz="3200" kern="1200" dirty="0">
            <a:solidFill>
              <a:schemeClr val="accent5">
                <a:lumMod val="40000"/>
                <a:lumOff val="60000"/>
              </a:schemeClr>
            </a:solidFill>
            <a:latin typeface="+mn-lt"/>
            <a:ea typeface="+mn-ea"/>
            <a:cs typeface="+mn-cs"/>
          </a:endParaRPr>
        </a:p>
      </dsp:txBody>
      <dsp:txXfrm>
        <a:off x="0" y="2284567"/>
        <a:ext cx="11243308" cy="76152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EC008-E3D5-4364-BAE3-EA569B6DED1B}">
      <dsp:nvSpPr>
        <dsp:cNvPr id="0" name=""/>
        <dsp:cNvSpPr/>
      </dsp:nvSpPr>
      <dsp:spPr>
        <a:xfrm>
          <a:off x="0" y="6634"/>
          <a:ext cx="10838906" cy="69556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t>Generative AI methods - GANs, diffusion models</a:t>
          </a:r>
        </a:p>
      </dsp:txBody>
      <dsp:txXfrm>
        <a:off x="33955" y="40589"/>
        <a:ext cx="10770996" cy="627655"/>
      </dsp:txXfrm>
    </dsp:sp>
    <dsp:sp modelId="{8336C286-1200-4288-96AF-010A28FF07BF}">
      <dsp:nvSpPr>
        <dsp:cNvPr id="0" name=""/>
        <dsp:cNvSpPr/>
      </dsp:nvSpPr>
      <dsp:spPr>
        <a:xfrm>
          <a:off x="0" y="785719"/>
          <a:ext cx="10838906" cy="69556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t>Deepfake attack types - face swaps, lip-syncing, identity synthesis</a:t>
          </a:r>
        </a:p>
      </dsp:txBody>
      <dsp:txXfrm>
        <a:off x="33955" y="819674"/>
        <a:ext cx="10770996" cy="627655"/>
      </dsp:txXfrm>
    </dsp:sp>
    <dsp:sp modelId="{EA3E598A-777F-4441-8CA3-E80A0362525A}">
      <dsp:nvSpPr>
        <dsp:cNvPr id="0" name=""/>
        <dsp:cNvSpPr/>
      </dsp:nvSpPr>
      <dsp:spPr>
        <a:xfrm>
          <a:off x="0" y="1564804"/>
          <a:ext cx="10838906" cy="69556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t>Defences - detection models, multi-factor approaches</a:t>
          </a:r>
        </a:p>
      </dsp:txBody>
      <dsp:txXfrm>
        <a:off x="33955" y="1598759"/>
        <a:ext cx="10770996" cy="627655"/>
      </dsp:txXfrm>
    </dsp:sp>
    <dsp:sp modelId="{4D21498D-7839-427C-A2C2-656B1F5C52F6}">
      <dsp:nvSpPr>
        <dsp:cNvPr id="0" name=""/>
        <dsp:cNvSpPr/>
      </dsp:nvSpPr>
      <dsp:spPr>
        <a:xfrm>
          <a:off x="0" y="2343890"/>
          <a:ext cx="10838906" cy="69556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t>Gap - studies often lab-based, not real-world deployment</a:t>
          </a:r>
        </a:p>
      </dsp:txBody>
      <dsp:txXfrm>
        <a:off x="33955" y="2377845"/>
        <a:ext cx="10770996" cy="6276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2F378B-9E63-41CA-B0AE-D65CEC65BAFD}">
      <dsp:nvSpPr>
        <dsp:cNvPr id="0" name=""/>
        <dsp:cNvSpPr/>
      </dsp:nvSpPr>
      <dsp:spPr>
        <a:xfrm>
          <a:off x="3175" y="978987"/>
          <a:ext cx="2267278" cy="14397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A7E361-2279-4B00-86CC-00A007295F17}">
      <dsp:nvSpPr>
        <dsp:cNvPr id="0" name=""/>
        <dsp:cNvSpPr/>
      </dsp:nvSpPr>
      <dsp:spPr>
        <a:xfrm>
          <a:off x="255095" y="1218311"/>
          <a:ext cx="2267278" cy="143972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First CPU-only, cross-tool, cross-OS benchmark (DeepFaceLab,       FaceSwap, FaceFusion)</a:t>
          </a:r>
        </a:p>
      </dsp:txBody>
      <dsp:txXfrm>
        <a:off x="297263" y="1260479"/>
        <a:ext cx="2182942" cy="1355386"/>
      </dsp:txXfrm>
    </dsp:sp>
    <dsp:sp modelId="{1021B88C-E476-445A-A91D-1E54A101E469}">
      <dsp:nvSpPr>
        <dsp:cNvPr id="0" name=""/>
        <dsp:cNvSpPr/>
      </dsp:nvSpPr>
      <dsp:spPr>
        <a:xfrm>
          <a:off x="2774294" y="978987"/>
          <a:ext cx="2267278" cy="14397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CB7511-7E4E-488D-8A0C-B12C57A79C3D}">
      <dsp:nvSpPr>
        <dsp:cNvPr id="0" name=""/>
        <dsp:cNvSpPr/>
      </dsp:nvSpPr>
      <dsp:spPr>
        <a:xfrm>
          <a:off x="3026214" y="1218311"/>
          <a:ext cx="2267278" cy="143972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Private biometric dataset (ethical, GDPR-compliant)</a:t>
          </a:r>
        </a:p>
      </dsp:txBody>
      <dsp:txXfrm>
        <a:off x="3068382" y="1260479"/>
        <a:ext cx="2182942" cy="1355386"/>
      </dsp:txXfrm>
    </dsp:sp>
    <dsp:sp modelId="{2A541DCE-27F8-4F08-9965-FB03CB4EE3D3}">
      <dsp:nvSpPr>
        <dsp:cNvPr id="0" name=""/>
        <dsp:cNvSpPr/>
      </dsp:nvSpPr>
      <dsp:spPr>
        <a:xfrm>
          <a:off x="5545412" y="978987"/>
          <a:ext cx="2267278" cy="14397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F94A3E-DE2A-4693-A2B6-1440913D5F62}">
      <dsp:nvSpPr>
        <dsp:cNvPr id="0" name=""/>
        <dsp:cNvSpPr/>
      </dsp:nvSpPr>
      <dsp:spPr>
        <a:xfrm>
          <a:off x="5797332" y="1218311"/>
          <a:ext cx="2267278" cy="143972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First MFA bypass demonstration: iPhone Face ID </a:t>
          </a:r>
          <a:r>
            <a:rPr lang="en-IE" sz="1700" kern="1200" dirty="0"/>
            <a:t>→ Microsoft Authenticator → Azure</a:t>
          </a:r>
          <a:endParaRPr lang="en-US" sz="1700" kern="1200" dirty="0"/>
        </a:p>
      </dsp:txBody>
      <dsp:txXfrm>
        <a:off x="5839500" y="1260479"/>
        <a:ext cx="2182942" cy="1355386"/>
      </dsp:txXfrm>
    </dsp:sp>
    <dsp:sp modelId="{CE50FCC3-C411-4375-8D41-DC1F84051E67}">
      <dsp:nvSpPr>
        <dsp:cNvPr id="0" name=""/>
        <dsp:cNvSpPr/>
      </dsp:nvSpPr>
      <dsp:spPr>
        <a:xfrm>
          <a:off x="8316531" y="978987"/>
          <a:ext cx="2267278" cy="143972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5176C3-8319-4CEC-B39B-88961F3FF025}">
      <dsp:nvSpPr>
        <dsp:cNvPr id="0" name=""/>
        <dsp:cNvSpPr/>
      </dsp:nvSpPr>
      <dsp:spPr>
        <a:xfrm>
          <a:off x="8568451" y="1218311"/>
          <a:ext cx="2267278" cy="143972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E" sz="1700" kern="1200" dirty="0"/>
            <a:t>Policy-relevant insights: regulatory + enterprise security gaps</a:t>
          </a:r>
          <a:endParaRPr lang="en-US" sz="1700" kern="1200" dirty="0"/>
        </a:p>
      </dsp:txBody>
      <dsp:txXfrm>
        <a:off x="8610619" y="1260479"/>
        <a:ext cx="2182942" cy="135538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AD4F22-D3E2-42FD-B768-67C38AC4F546}">
      <dsp:nvSpPr>
        <dsp:cNvPr id="0" name=""/>
        <dsp:cNvSpPr/>
      </dsp:nvSpPr>
      <dsp:spPr>
        <a:xfrm>
          <a:off x="4763" y="1797493"/>
          <a:ext cx="2082573" cy="124954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Attacker</a:t>
          </a:r>
          <a:endParaRPr lang="en-IE" sz="2600" kern="1200" dirty="0"/>
        </a:p>
      </dsp:txBody>
      <dsp:txXfrm>
        <a:off x="41361" y="1834091"/>
        <a:ext cx="2009377" cy="1176347"/>
      </dsp:txXfrm>
    </dsp:sp>
    <dsp:sp modelId="{EFD5659C-A091-426C-A8BE-C215BE4516D2}">
      <dsp:nvSpPr>
        <dsp:cNvPr id="0" name=""/>
        <dsp:cNvSpPr/>
      </dsp:nvSpPr>
      <dsp:spPr>
        <a:xfrm>
          <a:off x="2295593" y="2164026"/>
          <a:ext cx="441505" cy="5164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IE" sz="2100" kern="1200"/>
        </a:p>
      </dsp:txBody>
      <dsp:txXfrm>
        <a:off x="2295593" y="2267322"/>
        <a:ext cx="309054" cy="309886"/>
      </dsp:txXfrm>
    </dsp:sp>
    <dsp:sp modelId="{566FC313-AB3C-4687-B3ED-7EC855BE0024}">
      <dsp:nvSpPr>
        <dsp:cNvPr id="0" name=""/>
        <dsp:cNvSpPr/>
      </dsp:nvSpPr>
      <dsp:spPr>
        <a:xfrm>
          <a:off x="2920365" y="1797493"/>
          <a:ext cx="2082573" cy="124954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Deepfake Tool</a:t>
          </a:r>
          <a:endParaRPr lang="en-IE" sz="2600" kern="1200" dirty="0"/>
        </a:p>
      </dsp:txBody>
      <dsp:txXfrm>
        <a:off x="2956963" y="1834091"/>
        <a:ext cx="2009377" cy="1176347"/>
      </dsp:txXfrm>
    </dsp:sp>
    <dsp:sp modelId="{ABD1BF3C-FBC7-407C-9A1D-D6CC4980ED7E}">
      <dsp:nvSpPr>
        <dsp:cNvPr id="0" name=""/>
        <dsp:cNvSpPr/>
      </dsp:nvSpPr>
      <dsp:spPr>
        <a:xfrm>
          <a:off x="5211195" y="2164026"/>
          <a:ext cx="441505" cy="5164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IE" sz="2100" kern="1200"/>
        </a:p>
      </dsp:txBody>
      <dsp:txXfrm>
        <a:off x="5211195" y="2267322"/>
        <a:ext cx="309054" cy="309886"/>
      </dsp:txXfrm>
    </dsp:sp>
    <dsp:sp modelId="{6664BC08-5815-4B8E-BFCC-4DF19B986036}">
      <dsp:nvSpPr>
        <dsp:cNvPr id="0" name=""/>
        <dsp:cNvSpPr/>
      </dsp:nvSpPr>
      <dsp:spPr>
        <a:xfrm>
          <a:off x="5835967" y="1797493"/>
          <a:ext cx="2082573" cy="124954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dirty="0"/>
            <a:t>Target device (Face ID)</a:t>
          </a:r>
          <a:endParaRPr lang="en-IE" sz="2600" b="1" kern="1200" dirty="0"/>
        </a:p>
      </dsp:txBody>
      <dsp:txXfrm>
        <a:off x="5872565" y="1834091"/>
        <a:ext cx="2009377" cy="1176347"/>
      </dsp:txXfrm>
    </dsp:sp>
    <dsp:sp modelId="{DE0FF631-929B-4D73-A115-5C796348C22C}">
      <dsp:nvSpPr>
        <dsp:cNvPr id="0" name=""/>
        <dsp:cNvSpPr/>
      </dsp:nvSpPr>
      <dsp:spPr>
        <a:xfrm>
          <a:off x="8126797" y="2164026"/>
          <a:ext cx="441505" cy="5164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IE" sz="2100" kern="1200"/>
        </a:p>
      </dsp:txBody>
      <dsp:txXfrm>
        <a:off x="8126797" y="2267322"/>
        <a:ext cx="309054" cy="309886"/>
      </dsp:txXfrm>
    </dsp:sp>
    <dsp:sp modelId="{E0C55919-C1F8-4667-AF14-D4AF85E32B66}">
      <dsp:nvSpPr>
        <dsp:cNvPr id="0" name=""/>
        <dsp:cNvSpPr/>
      </dsp:nvSpPr>
      <dsp:spPr>
        <a:xfrm>
          <a:off x="8751569" y="1797493"/>
          <a:ext cx="2082573" cy="124954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E" sz="2600" kern="1200" dirty="0"/>
            <a:t>Azure</a:t>
          </a:r>
        </a:p>
      </dsp:txBody>
      <dsp:txXfrm>
        <a:off x="8788167" y="1834091"/>
        <a:ext cx="2009377" cy="117634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C53302-D593-4AE5-B534-EFBA8C225D07}">
      <dsp:nvSpPr>
        <dsp:cNvPr id="0" name=""/>
        <dsp:cNvSpPr/>
      </dsp:nvSpPr>
      <dsp:spPr>
        <a:xfrm>
          <a:off x="0" y="0"/>
          <a:ext cx="8671124" cy="80014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Generated 10s clips simulating logins</a:t>
          </a:r>
        </a:p>
      </dsp:txBody>
      <dsp:txXfrm>
        <a:off x="23435" y="23435"/>
        <a:ext cx="7740094" cy="753274"/>
      </dsp:txXfrm>
    </dsp:sp>
    <dsp:sp modelId="{98644918-46FB-4670-B7EC-493056492EEC}">
      <dsp:nvSpPr>
        <dsp:cNvPr id="0" name=""/>
        <dsp:cNvSpPr/>
      </dsp:nvSpPr>
      <dsp:spPr>
        <a:xfrm>
          <a:off x="726206" y="945625"/>
          <a:ext cx="8671124" cy="80014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CPU-only training for realism (no GPUs, attacker realism)</a:t>
          </a:r>
        </a:p>
      </dsp:txBody>
      <dsp:txXfrm>
        <a:off x="749641" y="969060"/>
        <a:ext cx="7377954" cy="753274"/>
      </dsp:txXfrm>
    </dsp:sp>
    <dsp:sp modelId="{164823EB-0F92-4427-ADA4-518D3CAB66D4}">
      <dsp:nvSpPr>
        <dsp:cNvPr id="0" name=""/>
        <dsp:cNvSpPr/>
      </dsp:nvSpPr>
      <dsp:spPr>
        <a:xfrm>
          <a:off x="1441574" y="1891250"/>
          <a:ext cx="8671124" cy="80014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Artefacts: blending, scaling issues, frame instability</a:t>
          </a:r>
        </a:p>
      </dsp:txBody>
      <dsp:txXfrm>
        <a:off x="1465009" y="1914685"/>
        <a:ext cx="7388793" cy="753274"/>
      </dsp:txXfrm>
    </dsp:sp>
    <dsp:sp modelId="{C4AB77B7-B77B-41EF-B41F-6CDBC15FD899}">
      <dsp:nvSpPr>
        <dsp:cNvPr id="0" name=""/>
        <dsp:cNvSpPr/>
      </dsp:nvSpPr>
      <dsp:spPr>
        <a:xfrm>
          <a:off x="2167781" y="2836876"/>
          <a:ext cx="8671124" cy="80014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Data </a:t>
          </a:r>
          <a:r>
            <a:rPr lang="en-US" sz="2400" b="0" kern="1200" dirty="0"/>
            <a:t>stored locally + encrypted (GDPR compliant)</a:t>
          </a:r>
        </a:p>
      </dsp:txBody>
      <dsp:txXfrm>
        <a:off x="2191216" y="2860311"/>
        <a:ext cx="7377954" cy="753274"/>
      </dsp:txXfrm>
    </dsp:sp>
    <dsp:sp modelId="{6A2BF0F6-992F-4E25-AB64-330AD3C8C66F}">
      <dsp:nvSpPr>
        <dsp:cNvPr id="0" name=""/>
        <dsp:cNvSpPr/>
      </dsp:nvSpPr>
      <dsp:spPr>
        <a:xfrm>
          <a:off x="8151030" y="612838"/>
          <a:ext cx="520094" cy="520094"/>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8268051" y="612838"/>
        <a:ext cx="286052" cy="391371"/>
      </dsp:txXfrm>
    </dsp:sp>
    <dsp:sp modelId="{E73FB732-43AB-48AD-874D-F929B7850754}">
      <dsp:nvSpPr>
        <dsp:cNvPr id="0" name=""/>
        <dsp:cNvSpPr/>
      </dsp:nvSpPr>
      <dsp:spPr>
        <a:xfrm>
          <a:off x="8877237" y="1558463"/>
          <a:ext cx="520094" cy="520094"/>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8994258" y="1558463"/>
        <a:ext cx="286052" cy="391371"/>
      </dsp:txXfrm>
    </dsp:sp>
    <dsp:sp modelId="{62272B01-98A0-4EB8-B518-E1C61620B851}">
      <dsp:nvSpPr>
        <dsp:cNvPr id="0" name=""/>
        <dsp:cNvSpPr/>
      </dsp:nvSpPr>
      <dsp:spPr>
        <a:xfrm>
          <a:off x="9592605" y="2504088"/>
          <a:ext cx="520094" cy="520094"/>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9709626" y="2504088"/>
        <a:ext cx="286052" cy="39137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561B83-F279-4BBB-83C6-05DB46E88426}">
      <dsp:nvSpPr>
        <dsp:cNvPr id="0" name=""/>
        <dsp:cNvSpPr/>
      </dsp:nvSpPr>
      <dsp:spPr>
        <a:xfrm>
          <a:off x="267145" y="367085"/>
          <a:ext cx="1364204" cy="136420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FA5E93-8C64-44E0-AE11-5E8CBE8E0E53}">
      <dsp:nvSpPr>
        <dsp:cNvPr id="0" name=""/>
        <dsp:cNvSpPr/>
      </dsp:nvSpPr>
      <dsp:spPr>
        <a:xfrm>
          <a:off x="553628" y="653568"/>
          <a:ext cx="791238" cy="79123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3A132C-8F81-4F37-99EB-EE24F32D4B2B}">
      <dsp:nvSpPr>
        <dsp:cNvPr id="0" name=""/>
        <dsp:cNvSpPr/>
      </dsp:nvSpPr>
      <dsp:spPr>
        <a:xfrm>
          <a:off x="1923679" y="367085"/>
          <a:ext cx="3215624" cy="13642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100000"/>
            </a:lnSpc>
            <a:spcBef>
              <a:spcPct val="0"/>
            </a:spcBef>
            <a:spcAft>
              <a:spcPct val="35000"/>
            </a:spcAft>
            <a:buNone/>
          </a:pPr>
          <a:r>
            <a:rPr lang="en-US" sz="2200" kern="1200" dirty="0">
              <a:solidFill>
                <a:schemeClr val="accent5">
                  <a:lumMod val="40000"/>
                  <a:lumOff val="60000"/>
                </a:schemeClr>
              </a:solidFill>
              <a:latin typeface="+mn-lt"/>
              <a:ea typeface="+mn-ea"/>
              <a:cs typeface="+mn-cs"/>
            </a:rPr>
            <a:t>• CPU-only attacks feasible under certain conditions</a:t>
          </a:r>
        </a:p>
      </dsp:txBody>
      <dsp:txXfrm>
        <a:off x="1923679" y="367085"/>
        <a:ext cx="3215624" cy="1364204"/>
      </dsp:txXfrm>
    </dsp:sp>
    <dsp:sp modelId="{C739D719-9EAE-4449-82D1-1EBDBCEA8164}">
      <dsp:nvSpPr>
        <dsp:cNvPr id="0" name=""/>
        <dsp:cNvSpPr/>
      </dsp:nvSpPr>
      <dsp:spPr>
        <a:xfrm>
          <a:off x="5699602" y="367085"/>
          <a:ext cx="1364204" cy="136420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6CDC18-C6C3-4FEF-B094-0BE7328DC3D9}">
      <dsp:nvSpPr>
        <dsp:cNvPr id="0" name=""/>
        <dsp:cNvSpPr/>
      </dsp:nvSpPr>
      <dsp:spPr>
        <a:xfrm>
          <a:off x="5986084" y="653568"/>
          <a:ext cx="791238" cy="79123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10F361-CDC6-4C48-B143-CB6174F668D8}">
      <dsp:nvSpPr>
        <dsp:cNvPr id="0" name=""/>
        <dsp:cNvSpPr/>
      </dsp:nvSpPr>
      <dsp:spPr>
        <a:xfrm>
          <a:off x="7356135" y="367085"/>
          <a:ext cx="3215624" cy="13642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100000"/>
            </a:lnSpc>
            <a:spcBef>
              <a:spcPct val="0"/>
            </a:spcBef>
            <a:spcAft>
              <a:spcPct val="35000"/>
            </a:spcAft>
            <a:buNone/>
          </a:pPr>
          <a:r>
            <a:rPr lang="en-US" sz="2200" kern="1200" dirty="0">
              <a:solidFill>
                <a:srgbClr val="5B9BD5">
                  <a:lumMod val="40000"/>
                  <a:lumOff val="60000"/>
                </a:srgbClr>
              </a:solidFill>
              <a:latin typeface="Calibri" panose="020F0502020204030204"/>
              <a:ea typeface="+mn-ea"/>
              <a:cs typeface="+mn-cs"/>
            </a:rPr>
            <a:t>• Enterprise MFA chains vulnerable </a:t>
          </a:r>
          <a:r>
            <a:rPr lang="en-IE" sz="2200" kern="1200" dirty="0">
              <a:solidFill>
                <a:srgbClr val="5B9BD5">
                  <a:lumMod val="40000"/>
                  <a:lumOff val="60000"/>
                </a:srgbClr>
              </a:solidFill>
              <a:latin typeface="Calibri" panose="020F0502020204030204"/>
              <a:ea typeface="+mn-ea"/>
              <a:cs typeface="+mn-cs"/>
            </a:rPr>
            <a:t>→ adaptive defences needed</a:t>
          </a:r>
          <a:endParaRPr lang="en-US" sz="2200" kern="1200" dirty="0">
            <a:solidFill>
              <a:srgbClr val="5B9BD5">
                <a:lumMod val="40000"/>
                <a:lumOff val="60000"/>
              </a:srgbClr>
            </a:solidFill>
            <a:latin typeface="Calibri" panose="020F0502020204030204"/>
            <a:ea typeface="+mn-ea"/>
            <a:cs typeface="+mn-cs"/>
          </a:endParaRPr>
        </a:p>
      </dsp:txBody>
      <dsp:txXfrm>
        <a:off x="7356135" y="367085"/>
        <a:ext cx="3215624" cy="1364204"/>
      </dsp:txXfrm>
    </dsp:sp>
    <dsp:sp modelId="{B08DCE64-D4D7-4858-B2C4-4E774BBC5DBA}">
      <dsp:nvSpPr>
        <dsp:cNvPr id="0" name=""/>
        <dsp:cNvSpPr/>
      </dsp:nvSpPr>
      <dsp:spPr>
        <a:xfrm>
          <a:off x="267145" y="2440493"/>
          <a:ext cx="1364204" cy="136420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A722C6-B86E-4DD7-A72D-318EE1D40DBC}">
      <dsp:nvSpPr>
        <dsp:cNvPr id="0" name=""/>
        <dsp:cNvSpPr/>
      </dsp:nvSpPr>
      <dsp:spPr>
        <a:xfrm>
          <a:off x="553628" y="2726975"/>
          <a:ext cx="791238" cy="79123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522EA0-D992-48E7-BABD-1643D677C1E9}">
      <dsp:nvSpPr>
        <dsp:cNvPr id="0" name=""/>
        <dsp:cNvSpPr/>
      </dsp:nvSpPr>
      <dsp:spPr>
        <a:xfrm>
          <a:off x="1923679" y="2440493"/>
          <a:ext cx="3215624" cy="13642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100000"/>
            </a:lnSpc>
            <a:spcBef>
              <a:spcPct val="0"/>
            </a:spcBef>
            <a:spcAft>
              <a:spcPct val="35000"/>
            </a:spcAft>
            <a:buNone/>
          </a:pPr>
          <a:r>
            <a:rPr lang="en-US" sz="2200" kern="1200" dirty="0">
              <a:solidFill>
                <a:srgbClr val="5B9BD5">
                  <a:lumMod val="40000"/>
                  <a:lumOff val="60000"/>
                </a:srgbClr>
              </a:solidFill>
              <a:latin typeface="Calibri" panose="020F0502020204030204"/>
              <a:ea typeface="+mn-ea"/>
              <a:cs typeface="+mn-cs"/>
            </a:rPr>
            <a:t>• Detection tools inconsistent </a:t>
          </a:r>
          <a:r>
            <a:rPr lang="en-IE" sz="2200" kern="1200" dirty="0">
              <a:solidFill>
                <a:srgbClr val="5B9BD5">
                  <a:lumMod val="40000"/>
                  <a:lumOff val="60000"/>
                </a:srgbClr>
              </a:solidFill>
              <a:latin typeface="Calibri" panose="020F0502020204030204"/>
              <a:ea typeface="+mn-ea"/>
              <a:cs typeface="+mn-cs"/>
            </a:rPr>
            <a:t>→ multi-engine + context-aware required</a:t>
          </a:r>
          <a:endParaRPr lang="en-US" sz="2200" kern="1200" dirty="0">
            <a:solidFill>
              <a:srgbClr val="5B9BD5">
                <a:lumMod val="40000"/>
                <a:lumOff val="60000"/>
              </a:srgbClr>
            </a:solidFill>
            <a:latin typeface="Calibri" panose="020F0502020204030204"/>
            <a:ea typeface="+mn-ea"/>
            <a:cs typeface="+mn-cs"/>
          </a:endParaRPr>
        </a:p>
      </dsp:txBody>
      <dsp:txXfrm>
        <a:off x="1923679" y="2440493"/>
        <a:ext cx="3215624" cy="1364204"/>
      </dsp:txXfrm>
    </dsp:sp>
    <dsp:sp modelId="{191AF90C-4ABA-4FC8-B544-E09A291F0133}">
      <dsp:nvSpPr>
        <dsp:cNvPr id="0" name=""/>
        <dsp:cNvSpPr/>
      </dsp:nvSpPr>
      <dsp:spPr>
        <a:xfrm>
          <a:off x="5699602" y="2440493"/>
          <a:ext cx="1364204" cy="136420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E0C779-CDB3-408A-ACFC-40AD002BBA24}">
      <dsp:nvSpPr>
        <dsp:cNvPr id="0" name=""/>
        <dsp:cNvSpPr/>
      </dsp:nvSpPr>
      <dsp:spPr>
        <a:xfrm>
          <a:off x="5986084" y="2726975"/>
          <a:ext cx="791238" cy="79123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3126B9-D9BA-4ED3-B8AA-36392E0DA822}">
      <dsp:nvSpPr>
        <dsp:cNvPr id="0" name=""/>
        <dsp:cNvSpPr/>
      </dsp:nvSpPr>
      <dsp:spPr>
        <a:xfrm>
          <a:off x="7356135" y="2440493"/>
          <a:ext cx="3215624" cy="13642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100000"/>
            </a:lnSpc>
            <a:spcBef>
              <a:spcPct val="0"/>
            </a:spcBef>
            <a:spcAft>
              <a:spcPct val="35000"/>
            </a:spcAft>
            <a:buNone/>
          </a:pPr>
          <a:r>
            <a:rPr lang="en-US" sz="2200" kern="1200" dirty="0">
              <a:solidFill>
                <a:srgbClr val="5B9BD5">
                  <a:lumMod val="40000"/>
                  <a:lumOff val="60000"/>
                </a:srgbClr>
              </a:solidFill>
              <a:latin typeface="Calibri" panose="020F0502020204030204"/>
              <a:ea typeface="+mn-ea"/>
              <a:cs typeface="+mn-cs"/>
            </a:rPr>
            <a:t>• </a:t>
          </a:r>
          <a:r>
            <a:rPr lang="en-IE" sz="2200" kern="1200" dirty="0">
              <a:solidFill>
                <a:srgbClr val="5B9BD5">
                  <a:lumMod val="40000"/>
                  <a:lumOff val="60000"/>
                </a:srgbClr>
              </a:solidFill>
              <a:latin typeface="Calibri" panose="020F0502020204030204"/>
              <a:ea typeface="+mn-ea"/>
              <a:cs typeface="+mn-cs"/>
            </a:rPr>
            <a:t>Policy gap: EU/Irish regulation lags behind tech risk</a:t>
          </a:r>
          <a:endParaRPr lang="en-US" sz="2200" kern="1200" dirty="0">
            <a:solidFill>
              <a:srgbClr val="5B9BD5">
                <a:lumMod val="40000"/>
                <a:lumOff val="60000"/>
              </a:srgbClr>
            </a:solidFill>
            <a:latin typeface="Calibri" panose="020F0502020204030204"/>
            <a:ea typeface="+mn-ea"/>
            <a:cs typeface="+mn-cs"/>
          </a:endParaRPr>
        </a:p>
      </dsp:txBody>
      <dsp:txXfrm>
        <a:off x="7356135" y="2440493"/>
        <a:ext cx="3215624" cy="136420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C496C09-DBDD-8B2F-E851-E1FC4C6D8BA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a:extLst>
              <a:ext uri="{FF2B5EF4-FFF2-40B4-BE49-F238E27FC236}">
                <a16:creationId xmlns:a16="http://schemas.microsoft.com/office/drawing/2014/main" id="{E2E851CD-4343-0F73-C9E9-4E798C95E47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28E3C7-81A6-48E6-BFD6-355D8193FCE0}" type="datetimeFigureOut">
              <a:rPr lang="en-IE" smtClean="0"/>
              <a:t>07/02/2026</a:t>
            </a:fld>
            <a:endParaRPr lang="en-IE"/>
          </a:p>
        </p:txBody>
      </p:sp>
      <p:sp>
        <p:nvSpPr>
          <p:cNvPr id="4" name="Footer Placeholder 3">
            <a:extLst>
              <a:ext uri="{FF2B5EF4-FFF2-40B4-BE49-F238E27FC236}">
                <a16:creationId xmlns:a16="http://schemas.microsoft.com/office/drawing/2014/main" id="{73B0353B-E818-1E00-A684-6222CF4FADA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5" name="Slide Number Placeholder 4">
            <a:extLst>
              <a:ext uri="{FF2B5EF4-FFF2-40B4-BE49-F238E27FC236}">
                <a16:creationId xmlns:a16="http://schemas.microsoft.com/office/drawing/2014/main" id="{AE530E69-F77C-7359-9A38-CBB8CA11F7C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4CC865-6F60-4F33-BB13-C8B30AACF38A}" type="slidenum">
              <a:rPr lang="en-IE" smtClean="0"/>
              <a:t>‹#›</a:t>
            </a:fld>
            <a:endParaRPr lang="en-IE"/>
          </a:p>
        </p:txBody>
      </p:sp>
    </p:spTree>
    <p:extLst>
      <p:ext uri="{BB962C8B-B14F-4D97-AF65-F5344CB8AC3E}">
        <p14:creationId xmlns:p14="http://schemas.microsoft.com/office/powerpoint/2010/main" val="6814476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AE0656-D3FF-4C07-9157-2D31CCB86848}" type="datetimeFigureOut">
              <a:rPr lang="en-IE" smtClean="0"/>
              <a:t>07/02/2026</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DD90FF-299D-4B66-AC18-6A9E9ADDEF0C}" type="slidenum">
              <a:rPr lang="en-IE" smtClean="0"/>
              <a:t>‹#›</a:t>
            </a:fld>
            <a:endParaRPr lang="en-IE"/>
          </a:p>
        </p:txBody>
      </p:sp>
    </p:spTree>
    <p:extLst>
      <p:ext uri="{BB962C8B-B14F-4D97-AF65-F5344CB8AC3E}">
        <p14:creationId xmlns:p14="http://schemas.microsoft.com/office/powerpoint/2010/main" val="897125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r>
              <a:rPr lang="en-US" dirty="0"/>
              <a:t>Good evening, my name is Daniel Fitzmaurice, and today I’ll be presenting my MSc research: Generative AI Deepfakes – Real-World Threats to Facial Biometric Authentication.</a:t>
            </a:r>
          </a:p>
          <a:p>
            <a:endParaRPr lang="en-US" dirty="0"/>
          </a:p>
          <a:p>
            <a:r>
              <a:rPr lang="en-US" dirty="0"/>
              <a:t>This research was carried out under the supervision of Dr Oonagh O’Brien, with Dr Naumann Qureshi as second reader.</a:t>
            </a:r>
          </a:p>
          <a:p>
            <a:endParaRPr lang="en-US" dirty="0"/>
          </a:p>
          <a:p>
            <a:r>
              <a:rPr lang="en-US" dirty="0"/>
              <a:t>What I’m going to do today is walk you through why I chose this topic, the research questions and objectives, the methods I used to test deepfake attacks, the results I found, and finally the implications — both for cybersecurity practice and for policy.</a:t>
            </a:r>
          </a:p>
          <a:p>
            <a:endParaRPr lang="en-US" dirty="0"/>
          </a:p>
          <a:p>
            <a:r>
              <a:rPr lang="en-US" dirty="0"/>
              <a:t>By the end, I hope to show you that deepfakes are not just a curiosity or a social media gimmick, but a real, technical threat to the biometric systems we use to protect both personal and enterprise accounts. </a:t>
            </a:r>
            <a:endParaRPr lang="en-IE" dirty="0"/>
          </a:p>
        </p:txBody>
      </p:sp>
      <p:sp>
        <p:nvSpPr>
          <p:cNvPr id="4" name="Slide Number Placeholder 3"/>
          <p:cNvSpPr>
            <a:spLocks noGrp="1"/>
          </p:cNvSpPr>
          <p:nvPr>
            <p:ph type="sldNum" sz="quarter" idx="5"/>
          </p:nvPr>
        </p:nvSpPr>
        <p:spPr/>
        <p:txBody>
          <a:bodyPr/>
          <a:lstStyle/>
          <a:p>
            <a:fld id="{88DD90FF-299D-4B66-AC18-6A9E9ADDEF0C}" type="slidenum">
              <a:rPr lang="en-IE" smtClean="0"/>
              <a:t>1</a:t>
            </a:fld>
            <a:endParaRPr lang="en-IE"/>
          </a:p>
        </p:txBody>
      </p:sp>
    </p:spTree>
    <p:extLst>
      <p:ext uri="{BB962C8B-B14F-4D97-AF65-F5344CB8AC3E}">
        <p14:creationId xmlns:p14="http://schemas.microsoft.com/office/powerpoint/2010/main" val="4283160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r>
              <a:rPr lang="en-US" dirty="0"/>
              <a:t>The motivation for this project came from two directions: real-world fraud cases, and gaps in the academic literature.</a:t>
            </a:r>
          </a:p>
          <a:p>
            <a:endParaRPr lang="en-US" dirty="0"/>
          </a:p>
          <a:p>
            <a:r>
              <a:rPr lang="en-US" dirty="0"/>
              <a:t>On the fraud side, one case really stood out — in Hong Kong in 2023, a finance worker was tricked into transferring the equivalent of 25 million US dollars after attending a video call with what looked like their CFO and other colleagues. In reality, everyone on that call was a deepfake. It’s one of the largest corporate losses to deepfake technology ever reported, and it highlights how attackers are now </a:t>
            </a:r>
            <a:r>
              <a:rPr lang="en-US" dirty="0" err="1"/>
              <a:t>weaponising</a:t>
            </a:r>
            <a:r>
              <a:rPr lang="en-US" dirty="0"/>
              <a:t> generative AI for high-value crime.</a:t>
            </a:r>
          </a:p>
          <a:p>
            <a:endParaRPr lang="en-US" dirty="0"/>
          </a:p>
          <a:p>
            <a:r>
              <a:rPr lang="en-US" dirty="0"/>
              <a:t>Closer to home, here in Ireland we’ve also seen manipulated media — for example, deepfakes of political figures being circulated online and AI-generated voices used in scam calls. These may not all be as sophisticated as the Hong Kong case, but they show the direction of travel: this technology is spreading fast and becoming more accessible.</a:t>
            </a:r>
          </a:p>
          <a:p>
            <a:endParaRPr lang="en-US" dirty="0"/>
          </a:p>
          <a:p>
            <a:r>
              <a:rPr lang="en-US" dirty="0"/>
              <a:t>Now, why is that relevant to biometrics? Because we increasingly rely on facial recognition — whether it’s Face ID on an iPhone, Windows Hello on a laptop, or even Microsoft Authenticator, which enterprises use to protect access to Azure accounts. The problem is, if a deepfake can bypass these systems, then the ‘trusted’ biometric factor in multi-factor authentication is undermined.</a:t>
            </a:r>
          </a:p>
          <a:p>
            <a:endParaRPr lang="en-US" dirty="0"/>
          </a:p>
          <a:p>
            <a:r>
              <a:rPr lang="en-US" dirty="0"/>
              <a:t>And when I looked at the research, I found a gap. Most academic studies on deepfakes assume the attacker has access to powerful GPUs and cloud resources. That’s not very realistic. Not every attacker is a state actor. Many are ordinary criminals working with limited means. So the question I asked was: what if we put ourselves in the shoes of a CPU only attacker — no GPUs, just the kind of resources most people already have? Could they still generate deepfakes capable of bypassing real biometric systems? </a:t>
            </a:r>
            <a:endParaRPr lang="en-IE" dirty="0"/>
          </a:p>
        </p:txBody>
      </p:sp>
      <p:sp>
        <p:nvSpPr>
          <p:cNvPr id="4" name="Slide Number Placeholder 3"/>
          <p:cNvSpPr>
            <a:spLocks noGrp="1"/>
          </p:cNvSpPr>
          <p:nvPr>
            <p:ph type="sldNum" sz="quarter" idx="5"/>
          </p:nvPr>
        </p:nvSpPr>
        <p:spPr/>
        <p:txBody>
          <a:bodyPr/>
          <a:lstStyle/>
          <a:p>
            <a:fld id="{88DD90FF-299D-4B66-AC18-6A9E9ADDEF0C}" type="slidenum">
              <a:rPr lang="en-IE" smtClean="0"/>
              <a:t>2</a:t>
            </a:fld>
            <a:endParaRPr lang="en-IE"/>
          </a:p>
        </p:txBody>
      </p:sp>
    </p:spTree>
    <p:extLst>
      <p:ext uri="{BB962C8B-B14F-4D97-AF65-F5344CB8AC3E}">
        <p14:creationId xmlns:p14="http://schemas.microsoft.com/office/powerpoint/2010/main" val="40900874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r>
              <a:rPr lang="en-US" dirty="0"/>
              <a:t>To tackle that problem, I broke it into two research questions.</a:t>
            </a:r>
          </a:p>
          <a:p>
            <a:endParaRPr lang="en-US" dirty="0"/>
          </a:p>
          <a:p>
            <a:r>
              <a:rPr lang="en-US" dirty="0"/>
              <a:t>The first was more technical: How accurate are deepfakes generated with open-source tools across different operating systems and hardware conditions? What I mean by that is: if you take the same source data and run it through DeepFaceLab, </a:t>
            </a:r>
            <a:r>
              <a:rPr lang="en-US" dirty="0" err="1"/>
              <a:t>FaceSwap</a:t>
            </a:r>
            <a:r>
              <a:rPr lang="en-US" dirty="0"/>
              <a:t>, or FaceFusion — across different devices and OS platforms — how do the results differ? Are the deepfakes realistic enough to potentially fool a biometric system?</a:t>
            </a:r>
          </a:p>
          <a:p>
            <a:endParaRPr lang="en-US" dirty="0"/>
          </a:p>
          <a:p>
            <a:r>
              <a:rPr lang="en-US" dirty="0"/>
              <a:t>The second question was security-driven: Can deepfakes actually bypass Apple Face ID to unlock Microsoft Authenticator, and by extension, compromise access to Azure enterprise accounts? This is the critical scenario — because if an attacker can get through Face ID on an iPhone, they can potentially get into the linked Authenticator app, and from there into enterprise logins. That turns what looks like a personal device attack into an enterprise security breach.</a:t>
            </a:r>
          </a:p>
          <a:p>
            <a:endParaRPr lang="en-US" dirty="0"/>
          </a:p>
          <a:p>
            <a:r>
              <a:rPr lang="en-US" dirty="0"/>
              <a:t>So, in short: the first question was about the quality and performance of deepfakes in practice, and the second was about whether they could be </a:t>
            </a:r>
            <a:r>
              <a:rPr lang="en-US" dirty="0" err="1"/>
              <a:t>weaponised</a:t>
            </a:r>
            <a:r>
              <a:rPr lang="en-US" dirty="0"/>
              <a:t> to break real-world security systems.</a:t>
            </a:r>
            <a:endParaRPr lang="en-IE" dirty="0"/>
          </a:p>
        </p:txBody>
      </p:sp>
      <p:sp>
        <p:nvSpPr>
          <p:cNvPr id="4" name="Slide Number Placeholder 3"/>
          <p:cNvSpPr>
            <a:spLocks noGrp="1"/>
          </p:cNvSpPr>
          <p:nvPr>
            <p:ph type="sldNum" sz="quarter" idx="5"/>
          </p:nvPr>
        </p:nvSpPr>
        <p:spPr/>
        <p:txBody>
          <a:bodyPr/>
          <a:lstStyle/>
          <a:p>
            <a:fld id="{88DD90FF-299D-4B66-AC18-6A9E9ADDEF0C}" type="slidenum">
              <a:rPr lang="en-IE" smtClean="0"/>
              <a:t>3</a:t>
            </a:fld>
            <a:endParaRPr lang="en-IE"/>
          </a:p>
        </p:txBody>
      </p:sp>
    </p:spTree>
    <p:extLst>
      <p:ext uri="{BB962C8B-B14F-4D97-AF65-F5344CB8AC3E}">
        <p14:creationId xmlns:p14="http://schemas.microsoft.com/office/powerpoint/2010/main" val="38487005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r>
              <a:rPr lang="en-US" dirty="0"/>
              <a:t>To answer those two research questions, I set myself four key objectives.</a:t>
            </a:r>
          </a:p>
          <a:p>
            <a:endParaRPr lang="en-US" dirty="0"/>
          </a:p>
          <a:p>
            <a:r>
              <a:rPr lang="en-US" dirty="0"/>
              <a:t>The first was to evaluate whether deepfakes could bypass live biometric systems in practice. Not just in theory, not just on benchmark datasets, but actually testing against devices like iPhones, Samsung phones, and Windows Hello laptops.</a:t>
            </a:r>
          </a:p>
          <a:p>
            <a:endParaRPr lang="en-US" dirty="0"/>
          </a:p>
          <a:p>
            <a:r>
              <a:rPr lang="en-US" dirty="0"/>
              <a:t>The second was to test the effectiveness of state-of-the-art detection tools — specifically Attestiv and Deepware AI. These tools are often marketed as solutions for enterprises who are worried about deepfakes, but there’s very little independent research on how reliable they really are when faced with realistic attacks.</a:t>
            </a:r>
          </a:p>
          <a:p>
            <a:endParaRPr lang="en-US" dirty="0"/>
          </a:p>
          <a:p>
            <a:r>
              <a:rPr lang="en-US" dirty="0"/>
              <a:t>The third objective was to identify where the weaknesses are. Is it the deepfake tools themselves that make the difference? Is it the device hardware, or the environmental conditions like lighting or playback quality? Understanding that helps us know where defences should be focused.</a:t>
            </a:r>
          </a:p>
          <a:p>
            <a:endParaRPr lang="en-US" dirty="0"/>
          </a:p>
          <a:p>
            <a:r>
              <a:rPr lang="en-US" dirty="0"/>
              <a:t>Finally, I wanted to make practical recommendations — for both technology and policy. If deepfakes are already able to bypass biometrics in certain scenarios, then how do we make authentication systems more resilient? And what kind of policy or regulatory support is needed to keep up with these emerging threats? </a:t>
            </a:r>
            <a:endParaRPr lang="en-IE" dirty="0"/>
          </a:p>
        </p:txBody>
      </p:sp>
      <p:sp>
        <p:nvSpPr>
          <p:cNvPr id="4" name="Slide Number Placeholder 3"/>
          <p:cNvSpPr>
            <a:spLocks noGrp="1"/>
          </p:cNvSpPr>
          <p:nvPr>
            <p:ph type="sldNum" sz="quarter" idx="5"/>
          </p:nvPr>
        </p:nvSpPr>
        <p:spPr/>
        <p:txBody>
          <a:bodyPr/>
          <a:lstStyle/>
          <a:p>
            <a:fld id="{88DD90FF-299D-4B66-AC18-6A9E9ADDEF0C}" type="slidenum">
              <a:rPr lang="en-IE" smtClean="0"/>
              <a:t>4</a:t>
            </a:fld>
            <a:endParaRPr lang="en-IE"/>
          </a:p>
        </p:txBody>
      </p:sp>
    </p:spTree>
    <p:extLst>
      <p:ext uri="{BB962C8B-B14F-4D97-AF65-F5344CB8AC3E}">
        <p14:creationId xmlns:p14="http://schemas.microsoft.com/office/powerpoint/2010/main" val="12339393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r>
              <a:rPr lang="en-US" dirty="0"/>
              <a:t>Before running my own experiments, I looked at what the literature already said about deepfakes and biometric security.</a:t>
            </a:r>
          </a:p>
          <a:p>
            <a:endParaRPr lang="en-US" dirty="0"/>
          </a:p>
          <a:p>
            <a:r>
              <a:rPr lang="en-US" dirty="0"/>
              <a:t>On the generation side, deepfakes are usually produced using generative adversarial networks, or GANs, and more recently diffusion models. These techniques have massively improved realism — we’ve gone from blurry, uncanny outputs a few years ago to near photorealistic faces today.</a:t>
            </a:r>
          </a:p>
          <a:p>
            <a:endParaRPr lang="en-US" dirty="0"/>
          </a:p>
          <a:p>
            <a:r>
              <a:rPr lang="en-US" dirty="0"/>
              <a:t>In terms of attack methods, the literature identifies a range of approaches — face swaps, lip syncing, identity transfer, and even fully synthetic characters. Some of these are more convincing than others, but all present challenges for detection.</a:t>
            </a:r>
          </a:p>
          <a:p>
            <a:endParaRPr lang="en-US" dirty="0"/>
          </a:p>
          <a:p>
            <a:r>
              <a:rPr lang="en-US" dirty="0"/>
              <a:t>On the defensive side, there are a lot of proposed detection methods: </a:t>
            </a:r>
            <a:r>
              <a:rPr lang="en-US" dirty="0" err="1"/>
              <a:t>analysing</a:t>
            </a:r>
            <a:r>
              <a:rPr lang="en-US" dirty="0"/>
              <a:t> spatial artefacts in the image, looking for temporal inconsistencies across frames, or using frequency analysis to spot subtle anomalies. More recently, biometric-based detectors that </a:t>
            </a:r>
            <a:r>
              <a:rPr lang="en-US" dirty="0" err="1"/>
              <a:t>analyse</a:t>
            </a:r>
            <a:r>
              <a:rPr lang="en-US" dirty="0"/>
              <a:t> eye movements or micro-expressions have also been tested.</a:t>
            </a:r>
          </a:p>
          <a:p>
            <a:endParaRPr lang="en-US" dirty="0"/>
          </a:p>
          <a:p>
            <a:r>
              <a:rPr lang="en-US" dirty="0"/>
              <a:t>But here’s the gap: most of these studies are lab-based, trained on datasets like </a:t>
            </a:r>
            <a:r>
              <a:rPr lang="en-US" dirty="0" err="1"/>
              <a:t>FaceForensics</a:t>
            </a:r>
            <a:r>
              <a:rPr lang="en-US" dirty="0"/>
              <a:t>, and they rarely test against actual deployed systems like iPhone Face ID or Microsoft Authenticator. That means they don’t necessarily reflect what happens in the real world when a deepfake is played back to a biometric sensor. That’s where my research comes in — moving from lab datasets to real-world systems. </a:t>
            </a:r>
            <a:endParaRPr lang="en-IE" dirty="0"/>
          </a:p>
        </p:txBody>
      </p:sp>
      <p:sp>
        <p:nvSpPr>
          <p:cNvPr id="4" name="Slide Number Placeholder 3"/>
          <p:cNvSpPr>
            <a:spLocks noGrp="1"/>
          </p:cNvSpPr>
          <p:nvPr>
            <p:ph type="sldNum" sz="quarter" idx="5"/>
          </p:nvPr>
        </p:nvSpPr>
        <p:spPr/>
        <p:txBody>
          <a:bodyPr/>
          <a:lstStyle/>
          <a:p>
            <a:fld id="{88DD90FF-299D-4B66-AC18-6A9E9ADDEF0C}" type="slidenum">
              <a:rPr lang="en-IE" smtClean="0"/>
              <a:t>5</a:t>
            </a:fld>
            <a:endParaRPr lang="en-IE"/>
          </a:p>
        </p:txBody>
      </p:sp>
    </p:spTree>
    <p:extLst>
      <p:ext uri="{BB962C8B-B14F-4D97-AF65-F5344CB8AC3E}">
        <p14:creationId xmlns:p14="http://schemas.microsoft.com/office/powerpoint/2010/main" val="3597376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r>
              <a:rPr lang="en-US" dirty="0"/>
              <a:t>My research makes four main contributions.</a:t>
            </a:r>
          </a:p>
          <a:p>
            <a:endParaRPr lang="en-US" dirty="0"/>
          </a:p>
          <a:p>
            <a:r>
              <a:rPr lang="en-US" dirty="0"/>
              <a:t>First, I carried out a cross-tool, cross-environment analysis using three open-source deepfake generators: DeepFaceLab, </a:t>
            </a:r>
            <a:r>
              <a:rPr lang="en-US" dirty="0" err="1"/>
              <a:t>FaceSwap</a:t>
            </a:r>
            <a:r>
              <a:rPr lang="en-US" dirty="0"/>
              <a:t>, and FaceFusion. Each of these tools has different strengths and weaknesses, and by testing them across devices and operating systems, I was able to compare their effectiveness in practice.</a:t>
            </a:r>
          </a:p>
          <a:p>
            <a:endParaRPr lang="en-US" dirty="0"/>
          </a:p>
          <a:p>
            <a:r>
              <a:rPr lang="en-US" dirty="0"/>
              <a:t>Second, I built and used a private biometric dataset — in other words, I only used my own facial data to train the models. That kept the research ethical and GDPR-compliant, while still producing realistic results.</a:t>
            </a:r>
          </a:p>
          <a:p>
            <a:endParaRPr lang="en-US" dirty="0"/>
          </a:p>
          <a:p>
            <a:r>
              <a:rPr lang="en-US" dirty="0"/>
              <a:t>Third, and probably the most significant, I demonstrated an end-to-end MFA bypass scenario. That means using a deepfake to spoof Apple Face ID, which then unlocked the Microsoft Authenticator app, and in turn provided access to Azure enterprise accounts. This shows how a personal biometric weakness can cascade into an enterprise-level compromise.</a:t>
            </a:r>
          </a:p>
          <a:p>
            <a:endParaRPr lang="en-US" dirty="0"/>
          </a:p>
          <a:p>
            <a:r>
              <a:rPr lang="en-US" dirty="0"/>
              <a:t>And finally, I modelled the attack under CPU-only conditions. This is important because most research assumes the attacker has powerful GPUs. I wanted to test a more realistic attacker — someone using just the resources available on a standard PC or laptop. And as I’ll show later, even under those constraints, deepfakes were still able to bypass biometrics in some scenarios. </a:t>
            </a:r>
            <a:endParaRPr lang="en-IE" dirty="0"/>
          </a:p>
        </p:txBody>
      </p:sp>
      <p:sp>
        <p:nvSpPr>
          <p:cNvPr id="4" name="Slide Number Placeholder 3"/>
          <p:cNvSpPr>
            <a:spLocks noGrp="1"/>
          </p:cNvSpPr>
          <p:nvPr>
            <p:ph type="sldNum" sz="quarter" idx="5"/>
          </p:nvPr>
        </p:nvSpPr>
        <p:spPr/>
        <p:txBody>
          <a:bodyPr/>
          <a:lstStyle/>
          <a:p>
            <a:fld id="{88DD90FF-299D-4B66-AC18-6A9E9ADDEF0C}" type="slidenum">
              <a:rPr lang="en-IE" smtClean="0"/>
              <a:t>6</a:t>
            </a:fld>
            <a:endParaRPr lang="en-IE"/>
          </a:p>
        </p:txBody>
      </p:sp>
    </p:spTree>
    <p:extLst>
      <p:ext uri="{BB962C8B-B14F-4D97-AF65-F5344CB8AC3E}">
        <p14:creationId xmlns:p14="http://schemas.microsoft.com/office/powerpoint/2010/main" val="9285530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r>
              <a:rPr lang="en-US" dirty="0"/>
              <a:t>To make the research clear and reproducible, I defined a simple threat model.</a:t>
            </a:r>
          </a:p>
          <a:p>
            <a:endParaRPr lang="en-US" dirty="0"/>
          </a:p>
          <a:p>
            <a:r>
              <a:rPr lang="en-US" dirty="0"/>
              <a:t>The attacker’s goal is straightforward: </a:t>
            </a:r>
            <a:r>
              <a:rPr lang="en-US" dirty="0" err="1"/>
              <a:t>unauthorised</a:t>
            </a:r>
            <a:r>
              <a:rPr lang="en-US" dirty="0"/>
              <a:t> access to a device or account using synthetic media.</a:t>
            </a:r>
          </a:p>
          <a:p>
            <a:endParaRPr lang="en-US" dirty="0"/>
          </a:p>
          <a:p>
            <a:r>
              <a:rPr lang="en-US" dirty="0"/>
              <a:t>The main attack vector I considered was video injection or replay attacks — in other words, playing back a pre-generated deepfake clip to the target device’s camera.</a:t>
            </a:r>
          </a:p>
          <a:p>
            <a:endParaRPr lang="en-US" dirty="0"/>
          </a:p>
          <a:p>
            <a:r>
              <a:rPr lang="en-US" dirty="0"/>
              <a:t>And the targets were systems that rely on single-factor facial authentication — iPhone Face ID, Android Face Unlock, and Windows Hello. These are widely used both by individuals and in enterprise contexts.</a:t>
            </a:r>
          </a:p>
          <a:p>
            <a:endParaRPr lang="en-US" dirty="0"/>
          </a:p>
          <a:p>
            <a:r>
              <a:rPr lang="en-US" dirty="0"/>
              <a:t>Visually, you can think of the chain as: Attacker → Deepfake Tool → Target Device → Authenticator which is Azure. If the attacker succeeds at the Face ID stage, they potentially gain access to everything linked to that authenticator app.</a:t>
            </a:r>
          </a:p>
          <a:p>
            <a:endParaRPr lang="en-US" dirty="0"/>
          </a:p>
          <a:p>
            <a:r>
              <a:rPr lang="en-US" dirty="0"/>
              <a:t>This threat model kept the research focused and realistic, and it also illustrates why this problem matters beyond just one device. The risk cascades from a single bypass into enterprise-level compromise. </a:t>
            </a:r>
            <a:endParaRPr lang="en-IE" dirty="0"/>
          </a:p>
        </p:txBody>
      </p:sp>
      <p:sp>
        <p:nvSpPr>
          <p:cNvPr id="4" name="Slide Number Placeholder 3"/>
          <p:cNvSpPr>
            <a:spLocks noGrp="1"/>
          </p:cNvSpPr>
          <p:nvPr>
            <p:ph type="sldNum" sz="quarter" idx="5"/>
          </p:nvPr>
        </p:nvSpPr>
        <p:spPr/>
        <p:txBody>
          <a:bodyPr/>
          <a:lstStyle/>
          <a:p>
            <a:fld id="{88DD90FF-299D-4B66-AC18-6A9E9ADDEF0C}" type="slidenum">
              <a:rPr lang="en-IE" smtClean="0"/>
              <a:t>7</a:t>
            </a:fld>
            <a:endParaRPr lang="en-IE"/>
          </a:p>
        </p:txBody>
      </p:sp>
    </p:spTree>
    <p:extLst>
      <p:ext uri="{BB962C8B-B14F-4D97-AF65-F5344CB8AC3E}">
        <p14:creationId xmlns:p14="http://schemas.microsoft.com/office/powerpoint/2010/main" val="12964436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r>
              <a:rPr lang="en-US" dirty="0"/>
              <a:t>My methodology followed a fairly structured process.</a:t>
            </a:r>
          </a:p>
          <a:p>
            <a:endParaRPr lang="en-US" dirty="0"/>
          </a:p>
          <a:p>
            <a:r>
              <a:rPr lang="en-US" dirty="0"/>
              <a:t>First, I started with data collection. Since I wanted to stay ethical and GDPR-compliant, I only used my own facial biometrics. That meant capturing video samples of my face in controlled conditions — different lighting and angles — so that I could train the deepfake models.</a:t>
            </a:r>
          </a:p>
          <a:p>
            <a:endParaRPr lang="en-US" dirty="0"/>
          </a:p>
          <a:p>
            <a:r>
              <a:rPr lang="en-US" dirty="0"/>
              <a:t>Second, I selected three open-source deepfake tools: DeepFaceLab, </a:t>
            </a:r>
            <a:r>
              <a:rPr lang="en-US" dirty="0" err="1"/>
              <a:t>FaceSwap</a:t>
            </a:r>
            <a:r>
              <a:rPr lang="en-US" dirty="0"/>
              <a:t>, and FaceFusion. These were chosen because they’re accessible to the average attacker, each has active developer communities, and each represents a different balance of usability, realism, and performance.</a:t>
            </a:r>
          </a:p>
          <a:p>
            <a:endParaRPr lang="en-US" dirty="0"/>
          </a:p>
          <a:p>
            <a:r>
              <a:rPr lang="en-US" dirty="0"/>
              <a:t>Third, I trained and generated deepfake clips. A key design choice here was to keep everything CPU-only — no GPUs, no cloud servers. The idea was to replicate what a determined but resource-limited attacker could actually do at home.</a:t>
            </a:r>
          </a:p>
          <a:p>
            <a:endParaRPr lang="en-US" dirty="0"/>
          </a:p>
          <a:p>
            <a:r>
              <a:rPr lang="en-US" dirty="0"/>
              <a:t>Fourth, I tested these clips against live biometric systems. I used an iPhone 11 with Face ID, several Samsung models with Android Face Unlock, and Windows Hello on a laptop. For the enterprise chain, I linked the iPhone’s Face ID to Microsoft Authenticator and Azure.</a:t>
            </a:r>
          </a:p>
          <a:p>
            <a:endParaRPr lang="en-US" dirty="0"/>
          </a:p>
          <a:p>
            <a:r>
              <a:rPr lang="en-US" dirty="0"/>
              <a:t>Finally, I evaluated the results in three ways: whether the spoof attempt succeeded, whether detection tools like Attestiv and Deepware flagged it, and my own qualitative review of artefacts and realism. </a:t>
            </a:r>
            <a:endParaRPr lang="en-IE" dirty="0"/>
          </a:p>
        </p:txBody>
      </p:sp>
      <p:sp>
        <p:nvSpPr>
          <p:cNvPr id="4" name="Slide Number Placeholder 3"/>
          <p:cNvSpPr>
            <a:spLocks noGrp="1"/>
          </p:cNvSpPr>
          <p:nvPr>
            <p:ph type="sldNum" sz="quarter" idx="5"/>
          </p:nvPr>
        </p:nvSpPr>
        <p:spPr/>
        <p:txBody>
          <a:bodyPr/>
          <a:lstStyle/>
          <a:p>
            <a:fld id="{88DD90FF-299D-4B66-AC18-6A9E9ADDEF0C}" type="slidenum">
              <a:rPr lang="en-IE" smtClean="0"/>
              <a:t>8</a:t>
            </a:fld>
            <a:endParaRPr lang="en-IE"/>
          </a:p>
        </p:txBody>
      </p:sp>
    </p:spTree>
    <p:extLst>
      <p:ext uri="{BB962C8B-B14F-4D97-AF65-F5344CB8AC3E}">
        <p14:creationId xmlns:p14="http://schemas.microsoft.com/office/powerpoint/2010/main" val="2512407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r>
              <a:rPr lang="en-US" dirty="0"/>
              <a:t>Once the design was set, I moved on to the implementation.</a:t>
            </a:r>
          </a:p>
          <a:p>
            <a:endParaRPr lang="en-US" dirty="0"/>
          </a:p>
          <a:p>
            <a:r>
              <a:rPr lang="en-US" dirty="0"/>
              <a:t>I generated 10-second video clips simulating login attempts. These were long enough to trigger Face ID or Face Unlock, but short enough to train efficiently on a CPU.</a:t>
            </a:r>
          </a:p>
          <a:p>
            <a:endParaRPr lang="en-US" dirty="0"/>
          </a:p>
          <a:p>
            <a:r>
              <a:rPr lang="en-US" dirty="0"/>
              <a:t>All training was carried out on a CPU-only machine. This was deliberately restrictive, but it allowed me to answer the question: can an attacker with just a normal laptop produce a convincing deepfake?</a:t>
            </a:r>
          </a:p>
          <a:p>
            <a:endParaRPr lang="en-US" dirty="0"/>
          </a:p>
          <a:p>
            <a:r>
              <a:rPr lang="en-US" dirty="0"/>
              <a:t>As I generated clips, I noticed several artefacts — things like poor blending at the edges of the face, mismatched scaling where the fake face didn’t perfectly align, or frame instability that caused flickering. These artefacts varied by tool. DeepFaceLab, for example, produced higher fidelity but with long training times, while FaceFusion produced rougher visuals but much faster.</a:t>
            </a:r>
          </a:p>
          <a:p>
            <a:endParaRPr lang="en-US" dirty="0"/>
          </a:p>
          <a:p>
            <a:r>
              <a:rPr lang="en-US" dirty="0"/>
              <a:t>Finally, I made sure all data handling was ethical. Everything was stored locally, encrypted, and never uploaded to the cloud. This was important not just for compliance, but also because attackers in the wild may prefer local methods to avoid detection.</a:t>
            </a:r>
            <a:endParaRPr lang="en-IE" dirty="0"/>
          </a:p>
        </p:txBody>
      </p:sp>
      <p:sp>
        <p:nvSpPr>
          <p:cNvPr id="4" name="Slide Number Placeholder 3"/>
          <p:cNvSpPr>
            <a:spLocks noGrp="1"/>
          </p:cNvSpPr>
          <p:nvPr>
            <p:ph type="sldNum" sz="quarter" idx="5"/>
          </p:nvPr>
        </p:nvSpPr>
        <p:spPr/>
        <p:txBody>
          <a:bodyPr/>
          <a:lstStyle/>
          <a:p>
            <a:fld id="{88DD90FF-299D-4B66-AC18-6A9E9ADDEF0C}" type="slidenum">
              <a:rPr lang="en-IE" smtClean="0"/>
              <a:t>9</a:t>
            </a:fld>
            <a:endParaRPr lang="en-IE"/>
          </a:p>
        </p:txBody>
      </p:sp>
    </p:spTree>
    <p:extLst>
      <p:ext uri="{BB962C8B-B14F-4D97-AF65-F5344CB8AC3E}">
        <p14:creationId xmlns:p14="http://schemas.microsoft.com/office/powerpoint/2010/main" val="32691597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r>
              <a:rPr lang="en-US" dirty="0"/>
              <a:t>The most striking finding was that FaceFusion, even though it produced the least polished visuals, had the highest spoof success rate — up to 63% on iPhone 11 Face ID.</a:t>
            </a:r>
          </a:p>
          <a:p>
            <a:endParaRPr lang="en-US" dirty="0"/>
          </a:p>
          <a:p>
            <a:r>
              <a:rPr lang="en-US" dirty="0"/>
              <a:t>DeepFaceLab was slower to train but moderately successful, with around 23% success on the same device.</a:t>
            </a:r>
          </a:p>
          <a:p>
            <a:endParaRPr lang="en-US" dirty="0"/>
          </a:p>
          <a:p>
            <a:r>
              <a:rPr lang="en-US" dirty="0" err="1"/>
              <a:t>FaceSwap</a:t>
            </a:r>
            <a:r>
              <a:rPr lang="en-US" dirty="0"/>
              <a:t> was the surprise — it actually produced some of the cleanest visuals but achieved 0% spoof success across all tests.</a:t>
            </a:r>
          </a:p>
          <a:p>
            <a:endParaRPr lang="en-US" dirty="0"/>
          </a:p>
          <a:p>
            <a:r>
              <a:rPr lang="en-US" dirty="0"/>
              <a:t>This shows that what looks good to the human eye doesn’t necessarily fool biometric systems, and vice versa.</a:t>
            </a:r>
          </a:p>
          <a:p>
            <a:endParaRPr lang="en-US" dirty="0"/>
          </a:p>
          <a:p>
            <a:r>
              <a:rPr lang="en-US" dirty="0"/>
              <a:t>I also tested on newer Samsung devices like the S21 FE and S23 Ultra, and here success rates dropped to near zero. These newer devices integrate multi-sensor hardware and liveness detection, which made them much more resilient.</a:t>
            </a:r>
          </a:p>
          <a:p>
            <a:endParaRPr lang="en-US" dirty="0"/>
          </a:p>
          <a:p>
            <a:r>
              <a:rPr lang="en-US" dirty="0"/>
              <a:t>The key takeaway is that older devices remain vulnerable, while newer devices are far more resistant.</a:t>
            </a:r>
            <a:endParaRPr lang="en-IE" dirty="0"/>
          </a:p>
        </p:txBody>
      </p:sp>
      <p:sp>
        <p:nvSpPr>
          <p:cNvPr id="4" name="Slide Number Placeholder 3"/>
          <p:cNvSpPr>
            <a:spLocks noGrp="1"/>
          </p:cNvSpPr>
          <p:nvPr>
            <p:ph type="sldNum" sz="quarter" idx="5"/>
          </p:nvPr>
        </p:nvSpPr>
        <p:spPr/>
        <p:txBody>
          <a:bodyPr/>
          <a:lstStyle/>
          <a:p>
            <a:fld id="{88DD90FF-299D-4B66-AC18-6A9E9ADDEF0C}" type="slidenum">
              <a:rPr lang="en-IE" smtClean="0"/>
              <a:t>10</a:t>
            </a:fld>
            <a:endParaRPr lang="en-IE"/>
          </a:p>
        </p:txBody>
      </p:sp>
    </p:spTree>
    <p:extLst>
      <p:ext uri="{BB962C8B-B14F-4D97-AF65-F5344CB8AC3E}">
        <p14:creationId xmlns:p14="http://schemas.microsoft.com/office/powerpoint/2010/main" val="20238244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r>
              <a:rPr lang="en-US" dirty="0"/>
              <a:t>I also tested detection tools.</a:t>
            </a:r>
          </a:p>
          <a:p>
            <a:endParaRPr lang="en-US" dirty="0"/>
          </a:p>
          <a:p>
            <a:r>
              <a:rPr lang="en-US" dirty="0"/>
              <a:t>The main finding was that detection is inconsistent. Sometimes Attestiv or Deepware AI caught the deepfakes, but other times they let them through.</a:t>
            </a:r>
          </a:p>
          <a:p>
            <a:endParaRPr lang="en-US" dirty="0"/>
          </a:p>
          <a:p>
            <a:r>
              <a:rPr lang="en-US" dirty="0"/>
              <a:t>Interestingly, visual realism didn’t always equal success. Some very polished fakes were still blocked, while some poor-quality ones slipped through. This suggests biometric systems and detectors are sensitive to different signals.</a:t>
            </a:r>
          </a:p>
          <a:p>
            <a:endParaRPr lang="en-US" dirty="0"/>
          </a:p>
          <a:p>
            <a:r>
              <a:rPr lang="en-US" dirty="0"/>
              <a:t>Device differences also mattered. The exact same deepfake clip could spoof an iPhone but fail against a Samsung device. That underlines how much hardware variation affects outcomes.</a:t>
            </a:r>
          </a:p>
          <a:p>
            <a:endParaRPr lang="en-US" dirty="0"/>
          </a:p>
          <a:p>
            <a:r>
              <a:rPr lang="en-US" dirty="0"/>
              <a:t>The bottom line is: detection tools alone are unreliable. They miss cases, they produce false negatives, and they’re not consistent enough to serve as the only line of </a:t>
            </a:r>
            <a:r>
              <a:rPr lang="en-US" dirty="0" err="1"/>
              <a:t>defence</a:t>
            </a:r>
            <a:r>
              <a:rPr lang="en-US" dirty="0"/>
              <a:t>.</a:t>
            </a:r>
          </a:p>
          <a:p>
            <a:endParaRPr lang="en-IE" dirty="0"/>
          </a:p>
        </p:txBody>
      </p:sp>
      <p:sp>
        <p:nvSpPr>
          <p:cNvPr id="4" name="Slide Number Placeholder 3"/>
          <p:cNvSpPr>
            <a:spLocks noGrp="1"/>
          </p:cNvSpPr>
          <p:nvPr>
            <p:ph type="sldNum" sz="quarter" idx="5"/>
          </p:nvPr>
        </p:nvSpPr>
        <p:spPr/>
        <p:txBody>
          <a:bodyPr/>
          <a:lstStyle/>
          <a:p>
            <a:fld id="{88DD90FF-299D-4B66-AC18-6A9E9ADDEF0C}" type="slidenum">
              <a:rPr lang="en-IE" smtClean="0"/>
              <a:t>11</a:t>
            </a:fld>
            <a:endParaRPr lang="en-IE"/>
          </a:p>
        </p:txBody>
      </p:sp>
    </p:spTree>
    <p:extLst>
      <p:ext uri="{BB962C8B-B14F-4D97-AF65-F5344CB8AC3E}">
        <p14:creationId xmlns:p14="http://schemas.microsoft.com/office/powerpoint/2010/main" val="176112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r>
              <a:rPr lang="en-US" dirty="0"/>
              <a:t>Here are some examples of the deepfakes I generated.</a:t>
            </a:r>
          </a:p>
          <a:p>
            <a:endParaRPr lang="en-US" dirty="0"/>
          </a:p>
          <a:p>
            <a:r>
              <a:rPr lang="en-US" dirty="0"/>
              <a:t>On the left you can see a DeepFaceLab output — fairly realistic, but with blending artefacts around the jawline.</a:t>
            </a:r>
          </a:p>
          <a:p>
            <a:endParaRPr lang="en-US" dirty="0"/>
          </a:p>
          <a:p>
            <a:r>
              <a:rPr lang="en-US" dirty="0"/>
              <a:t>In the middle, </a:t>
            </a:r>
            <a:r>
              <a:rPr lang="en-US" dirty="0" err="1"/>
              <a:t>FaceSwap</a:t>
            </a:r>
            <a:r>
              <a:rPr lang="en-US" dirty="0"/>
              <a:t> looks clean visually, but again, remember this had zero spoof success in practice.</a:t>
            </a:r>
          </a:p>
          <a:p>
            <a:endParaRPr lang="en-US" dirty="0"/>
          </a:p>
          <a:p>
            <a:r>
              <a:rPr lang="en-US" dirty="0"/>
              <a:t>On the right, FaceFusion looks less polished, with some distortion, but ironically it was the most successful at spoofing Face ID.</a:t>
            </a:r>
          </a:p>
          <a:p>
            <a:endParaRPr lang="en-US" dirty="0"/>
          </a:p>
          <a:p>
            <a:r>
              <a:rPr lang="en-US" dirty="0"/>
              <a:t>This illustrates the important point that aesthetic realism doesn’t always predict security risk. What fools us as humans isn’t necessarily what fools an algorithm, and vice versa. </a:t>
            </a:r>
            <a:endParaRPr lang="en-IE" dirty="0"/>
          </a:p>
        </p:txBody>
      </p:sp>
      <p:sp>
        <p:nvSpPr>
          <p:cNvPr id="4" name="Slide Number Placeholder 3"/>
          <p:cNvSpPr>
            <a:spLocks noGrp="1"/>
          </p:cNvSpPr>
          <p:nvPr>
            <p:ph type="sldNum" sz="quarter" idx="5"/>
          </p:nvPr>
        </p:nvSpPr>
        <p:spPr/>
        <p:txBody>
          <a:bodyPr/>
          <a:lstStyle/>
          <a:p>
            <a:fld id="{88DD90FF-299D-4B66-AC18-6A9E9ADDEF0C}" type="slidenum">
              <a:rPr lang="en-IE" smtClean="0"/>
              <a:t>12</a:t>
            </a:fld>
            <a:endParaRPr lang="en-IE"/>
          </a:p>
        </p:txBody>
      </p:sp>
    </p:spTree>
    <p:extLst>
      <p:ext uri="{BB962C8B-B14F-4D97-AF65-F5344CB8AC3E}">
        <p14:creationId xmlns:p14="http://schemas.microsoft.com/office/powerpoint/2010/main" val="5862562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r>
              <a:rPr lang="en-US" dirty="0"/>
              <a:t>Another key finding was performance under CPU-only conditions.</a:t>
            </a:r>
          </a:p>
          <a:p>
            <a:endParaRPr lang="en-US" dirty="0"/>
          </a:p>
          <a:p>
            <a:r>
              <a:rPr lang="en-US" dirty="0"/>
              <a:t>FaceFusion was by far the fastest, producing usable deepfakes in around 6 hours of training.</a:t>
            </a:r>
          </a:p>
          <a:p>
            <a:endParaRPr lang="en-US" dirty="0"/>
          </a:p>
          <a:p>
            <a:r>
              <a:rPr lang="en-US" dirty="0" err="1"/>
              <a:t>FaceSwap</a:t>
            </a:r>
            <a:r>
              <a:rPr lang="en-US" dirty="0"/>
              <a:t> was in the middle range.</a:t>
            </a:r>
          </a:p>
          <a:p>
            <a:endParaRPr lang="en-US" dirty="0"/>
          </a:p>
          <a:p>
            <a:r>
              <a:rPr lang="en-US" dirty="0"/>
              <a:t>DeepFaceLab was the slowest, often taking over 24 hours to produce one model. So there’s a trade-off: DeepFaceLab gives higher visual fidelity but at a heavy time cost, while FaceFusion is faster and actually more effective in spoofing.</a:t>
            </a:r>
          </a:p>
          <a:p>
            <a:endParaRPr lang="en-US" dirty="0"/>
          </a:p>
          <a:p>
            <a:r>
              <a:rPr lang="en-US" dirty="0"/>
              <a:t>The key takeaway is that CPU-only attackers are still viable. Even without a GPU, an attacker could realistically train deepfakes that bypass certain biometric systems.</a:t>
            </a:r>
            <a:endParaRPr lang="en-IE" dirty="0"/>
          </a:p>
        </p:txBody>
      </p:sp>
      <p:sp>
        <p:nvSpPr>
          <p:cNvPr id="4" name="Slide Number Placeholder 3"/>
          <p:cNvSpPr>
            <a:spLocks noGrp="1"/>
          </p:cNvSpPr>
          <p:nvPr>
            <p:ph type="sldNum" sz="quarter" idx="5"/>
          </p:nvPr>
        </p:nvSpPr>
        <p:spPr/>
        <p:txBody>
          <a:bodyPr/>
          <a:lstStyle/>
          <a:p>
            <a:fld id="{88DD90FF-299D-4B66-AC18-6A9E9ADDEF0C}" type="slidenum">
              <a:rPr lang="en-IE" smtClean="0"/>
              <a:t>13</a:t>
            </a:fld>
            <a:endParaRPr lang="en-IE"/>
          </a:p>
        </p:txBody>
      </p:sp>
    </p:spTree>
    <p:extLst>
      <p:ext uri="{BB962C8B-B14F-4D97-AF65-F5344CB8AC3E}">
        <p14:creationId xmlns:p14="http://schemas.microsoft.com/office/powerpoint/2010/main" val="42794063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r>
              <a:rPr lang="en-US" dirty="0"/>
              <a:t>So, what does all this mean in practice?</a:t>
            </a:r>
          </a:p>
          <a:p>
            <a:endParaRPr lang="en-US" dirty="0"/>
          </a:p>
          <a:p>
            <a:r>
              <a:rPr lang="en-US" dirty="0"/>
              <a:t>First, we’ve shown that CPU-only attacks are feasible under certain conditions. That challenges the assumption that deepfake attacks always require high-end GPUs or cloud infrastructure.</a:t>
            </a:r>
          </a:p>
          <a:p>
            <a:endParaRPr lang="en-US" dirty="0"/>
          </a:p>
          <a:p>
            <a:r>
              <a:rPr lang="en-US" dirty="0"/>
              <a:t>Second, we’ve demonstrated that enterprise MFA chains can be vulnerable. If Face ID can be spoofed, that doesn’t just give access to one phone. It can unlock Authenticator apps, and from there, enterprise logins like Azure. That means the risk cascades from the individual level into the enterprise level.</a:t>
            </a:r>
          </a:p>
          <a:p>
            <a:endParaRPr lang="en-US" dirty="0"/>
          </a:p>
          <a:p>
            <a:r>
              <a:rPr lang="en-US" dirty="0"/>
              <a:t>Third, we’ve seen that detection tools are not reliable enough. Neither Attestiv nor Deepware AI consistently caught the fakes. That means detection alone is not a sufficient safeguard.</a:t>
            </a:r>
          </a:p>
          <a:p>
            <a:endParaRPr lang="en-US" dirty="0"/>
          </a:p>
          <a:p>
            <a:r>
              <a:rPr lang="en-US" dirty="0"/>
              <a:t>Finally, there’s a clear policy gap. The pace of generative AI is far ahead of EU and Irish regulation. The European AI Act is moving in the right direction, but it hasn’t yet addressed the practical risks of biometric spoofing with deepfakes. That leaves enterprises and individuals exposed.</a:t>
            </a:r>
          </a:p>
          <a:p>
            <a:endParaRPr lang="en-US" dirty="0"/>
          </a:p>
          <a:p>
            <a:r>
              <a:rPr lang="en-US" dirty="0"/>
              <a:t>The broader implication is that security has to evolve beyond single-factor biometrics. We need layered defences: multi-factor authentication that doesn’t just rely on a face scan, detection tools combined with hardware checks, and stronger policy frameworks to guide deployment.</a:t>
            </a:r>
            <a:endParaRPr lang="en-IE" dirty="0"/>
          </a:p>
        </p:txBody>
      </p:sp>
      <p:sp>
        <p:nvSpPr>
          <p:cNvPr id="4" name="Slide Number Placeholder 3"/>
          <p:cNvSpPr>
            <a:spLocks noGrp="1"/>
          </p:cNvSpPr>
          <p:nvPr>
            <p:ph type="sldNum" sz="quarter" idx="5"/>
          </p:nvPr>
        </p:nvSpPr>
        <p:spPr/>
        <p:txBody>
          <a:bodyPr/>
          <a:lstStyle/>
          <a:p>
            <a:fld id="{88DD90FF-299D-4B66-AC18-6A9E9ADDEF0C}" type="slidenum">
              <a:rPr lang="en-IE" smtClean="0"/>
              <a:t>14</a:t>
            </a:fld>
            <a:endParaRPr lang="en-IE"/>
          </a:p>
        </p:txBody>
      </p:sp>
    </p:spTree>
    <p:extLst>
      <p:ext uri="{BB962C8B-B14F-4D97-AF65-F5344CB8AC3E}">
        <p14:creationId xmlns:p14="http://schemas.microsoft.com/office/powerpoint/2010/main" val="24853640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r>
              <a:rPr lang="en-US" dirty="0"/>
              <a:t>To wrap up, my research makes four main contributions.</a:t>
            </a:r>
          </a:p>
          <a:p>
            <a:endParaRPr lang="en-US" dirty="0"/>
          </a:p>
          <a:p>
            <a:r>
              <a:rPr lang="en-US" dirty="0"/>
              <a:t>First, it provides one of the first empirical, ethical studies of deepfake attacks under CPU only conditions, showing what’s realistically possible for a low-resource attacker.</a:t>
            </a:r>
          </a:p>
          <a:p>
            <a:endParaRPr lang="en-US" dirty="0"/>
          </a:p>
          <a:p>
            <a:r>
              <a:rPr lang="en-US" dirty="0"/>
              <a:t>Second, the findings confirm that vulnerabilities exist, but the outcomes vary by device and environment. Older devices like the iPhone 11 are much more at risk, while newer devices with multi-sensor security are far more resilient.</a:t>
            </a:r>
          </a:p>
          <a:p>
            <a:endParaRPr lang="en-US" dirty="0"/>
          </a:p>
          <a:p>
            <a:r>
              <a:rPr lang="en-US" dirty="0"/>
              <a:t>Third, the implications are clear: single-factor biometrics are not enough. If deepfakes can bypass Face ID even occasionally, that means additional layers of security are necessary.</a:t>
            </a:r>
          </a:p>
          <a:p>
            <a:endParaRPr lang="en-US" dirty="0"/>
          </a:p>
          <a:p>
            <a:r>
              <a:rPr lang="en-US" dirty="0"/>
              <a:t>And finally, I’ve identified several directions for future work:</a:t>
            </a:r>
          </a:p>
          <a:p>
            <a:pPr marL="171450" indent="-171450">
              <a:buFontTx/>
              <a:buChar char="-"/>
            </a:pPr>
            <a:r>
              <a:rPr lang="en-US" dirty="0"/>
              <a:t>Expanding the dataset to include more faces and demographics, since my study focused only on my own biometrics.</a:t>
            </a:r>
          </a:p>
          <a:p>
            <a:pPr marL="171450" indent="-171450">
              <a:buFontTx/>
              <a:buChar char="-"/>
            </a:pPr>
            <a:endParaRPr lang="en-US" dirty="0"/>
          </a:p>
          <a:p>
            <a:pPr marL="171450" indent="-171450">
              <a:buFontTx/>
              <a:buChar char="-"/>
            </a:pPr>
            <a:r>
              <a:rPr lang="en-US" dirty="0"/>
              <a:t>Benchmarking GPU-based and commercial deepfake tools, to see how much stronger they are compared to open-source, CPU-only methods.</a:t>
            </a:r>
          </a:p>
          <a:p>
            <a:pPr marL="171450" indent="-171450">
              <a:buFontTx/>
              <a:buChar char="-"/>
            </a:pPr>
            <a:endParaRPr lang="en-US" dirty="0"/>
          </a:p>
          <a:p>
            <a:pPr marL="171450" indent="-171450">
              <a:buFontTx/>
              <a:buChar char="-"/>
            </a:pPr>
            <a:r>
              <a:rPr lang="en-US" dirty="0"/>
              <a:t>And testing next-generation deepfakes, like chimeric faces or “impossible faces” that don’t exist in reality, which may pose even greater challenges to biometrics.</a:t>
            </a:r>
          </a:p>
          <a:p>
            <a:pPr marL="171450" indent="-171450">
              <a:buFontTx/>
              <a:buChar char="-"/>
            </a:pPr>
            <a:endParaRPr lang="en-US" dirty="0"/>
          </a:p>
          <a:p>
            <a:pPr marL="0" indent="0">
              <a:buFontTx/>
              <a:buNone/>
            </a:pPr>
            <a:r>
              <a:rPr lang="en-US" dirty="0"/>
              <a:t>So, in short, my work shows that deepfakes are a genuine, emerging threat to biometric systems, but it also points to the steps we need to take to strengthen security. </a:t>
            </a:r>
            <a:endParaRPr lang="en-IE" dirty="0"/>
          </a:p>
        </p:txBody>
      </p:sp>
      <p:sp>
        <p:nvSpPr>
          <p:cNvPr id="4" name="Slide Number Placeholder 3"/>
          <p:cNvSpPr>
            <a:spLocks noGrp="1"/>
          </p:cNvSpPr>
          <p:nvPr>
            <p:ph type="sldNum" sz="quarter" idx="5"/>
          </p:nvPr>
        </p:nvSpPr>
        <p:spPr/>
        <p:txBody>
          <a:bodyPr/>
          <a:lstStyle/>
          <a:p>
            <a:fld id="{88DD90FF-299D-4B66-AC18-6A9E9ADDEF0C}" type="slidenum">
              <a:rPr lang="en-IE" smtClean="0"/>
              <a:t>15</a:t>
            </a:fld>
            <a:endParaRPr lang="en-IE"/>
          </a:p>
        </p:txBody>
      </p:sp>
    </p:spTree>
    <p:extLst>
      <p:ext uri="{BB962C8B-B14F-4D97-AF65-F5344CB8AC3E}">
        <p14:creationId xmlns:p14="http://schemas.microsoft.com/office/powerpoint/2010/main" val="4519380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Key takeaway: </a:t>
            </a:r>
            <a:r>
              <a:rPr lang="en-US" i="1" dirty="0"/>
              <a:t>Deepfakes pose a realistic but inconsistent threat to biometrics; layered security is essential</a:t>
            </a:r>
            <a:endParaRPr lang="en-US" dirty="0"/>
          </a:p>
          <a:p>
            <a:endParaRPr lang="en-IE" dirty="0"/>
          </a:p>
          <a:p>
            <a:r>
              <a:rPr lang="en-US" dirty="0"/>
              <a:t>And that brings me to the end of my presentation.</a:t>
            </a:r>
          </a:p>
          <a:p>
            <a:endParaRPr lang="en-US" dirty="0"/>
          </a:p>
          <a:p>
            <a:r>
              <a:rPr lang="en-US" dirty="0"/>
              <a:t>Thank you very much for your attention and for the opportunity to share this work.</a:t>
            </a:r>
          </a:p>
          <a:p>
            <a:endParaRPr lang="en-US" dirty="0"/>
          </a:p>
          <a:p>
            <a:r>
              <a:rPr lang="en-US" dirty="0"/>
              <a:t>I’d now be happy to take any questions you may have.</a:t>
            </a:r>
          </a:p>
          <a:p>
            <a:endParaRPr lang="en-IE" dirty="0"/>
          </a:p>
        </p:txBody>
      </p:sp>
      <p:sp>
        <p:nvSpPr>
          <p:cNvPr id="4" name="Slide Number Placeholder 3"/>
          <p:cNvSpPr>
            <a:spLocks noGrp="1"/>
          </p:cNvSpPr>
          <p:nvPr>
            <p:ph type="sldNum" sz="quarter" idx="5"/>
          </p:nvPr>
        </p:nvSpPr>
        <p:spPr/>
        <p:txBody>
          <a:bodyPr/>
          <a:lstStyle/>
          <a:p>
            <a:fld id="{88DD90FF-299D-4B66-AC18-6A9E9ADDEF0C}" type="slidenum">
              <a:rPr lang="en-IE" smtClean="0"/>
              <a:t>16</a:t>
            </a:fld>
            <a:endParaRPr lang="en-IE"/>
          </a:p>
        </p:txBody>
      </p:sp>
    </p:spTree>
    <p:extLst>
      <p:ext uri="{BB962C8B-B14F-4D97-AF65-F5344CB8AC3E}">
        <p14:creationId xmlns:p14="http://schemas.microsoft.com/office/powerpoint/2010/main" val="11276901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EF3C6-D42D-FBB2-3C12-4943D8BDC7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CD311F6-14F1-7164-C5D7-569410943A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BAFED3A-E328-D77C-D9FA-7741AC7FC58C}"/>
              </a:ext>
            </a:extLst>
          </p:cNvPr>
          <p:cNvSpPr>
            <a:spLocks noGrp="1"/>
          </p:cNvSpPr>
          <p:nvPr>
            <p:ph type="dt" sz="half" idx="10"/>
          </p:nvPr>
        </p:nvSpPr>
        <p:spPr/>
        <p:txBody>
          <a:bodyPr/>
          <a:lstStyle/>
          <a:p>
            <a:fld id="{7552B2EA-71EB-4264-9E89-A558A675152C}" type="datetimeFigureOut">
              <a:rPr lang="en-IN" smtClean="0"/>
              <a:t>07-02-2026</a:t>
            </a:fld>
            <a:endParaRPr lang="en-IN"/>
          </a:p>
        </p:txBody>
      </p:sp>
      <p:sp>
        <p:nvSpPr>
          <p:cNvPr id="5" name="Footer Placeholder 4">
            <a:extLst>
              <a:ext uri="{FF2B5EF4-FFF2-40B4-BE49-F238E27FC236}">
                <a16:creationId xmlns:a16="http://schemas.microsoft.com/office/drawing/2014/main" id="{286BA92E-A00B-BDCC-C867-89A9F57825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561B33-D7E5-53CF-9114-26892D439DC7}"/>
              </a:ext>
            </a:extLst>
          </p:cNvPr>
          <p:cNvSpPr>
            <a:spLocks noGrp="1"/>
          </p:cNvSpPr>
          <p:nvPr>
            <p:ph type="sldNum" sz="quarter" idx="12"/>
          </p:nvPr>
        </p:nvSpPr>
        <p:spPr/>
        <p:txBody>
          <a:bodyPr/>
          <a:lstStyle/>
          <a:p>
            <a:fld id="{CB0669AF-E1E2-45B9-99D0-0211188FA7E2}" type="slidenum">
              <a:rPr lang="en-IN" smtClean="0"/>
              <a:t>‹#›</a:t>
            </a:fld>
            <a:endParaRPr lang="en-IN"/>
          </a:p>
        </p:txBody>
      </p:sp>
    </p:spTree>
    <p:extLst>
      <p:ext uri="{BB962C8B-B14F-4D97-AF65-F5344CB8AC3E}">
        <p14:creationId xmlns:p14="http://schemas.microsoft.com/office/powerpoint/2010/main" val="2629860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7A79-89D8-9ECF-B57E-76486AD174F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346BBF1-009F-0F01-94E5-37933D9CE6D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460963-54D4-CC1F-E746-2F3E18F6CA2E}"/>
              </a:ext>
            </a:extLst>
          </p:cNvPr>
          <p:cNvSpPr>
            <a:spLocks noGrp="1"/>
          </p:cNvSpPr>
          <p:nvPr>
            <p:ph type="dt" sz="half" idx="10"/>
          </p:nvPr>
        </p:nvSpPr>
        <p:spPr/>
        <p:txBody>
          <a:bodyPr/>
          <a:lstStyle/>
          <a:p>
            <a:fld id="{7552B2EA-71EB-4264-9E89-A558A675152C}" type="datetimeFigureOut">
              <a:rPr lang="en-IN" smtClean="0"/>
              <a:t>07-02-2026</a:t>
            </a:fld>
            <a:endParaRPr lang="en-IN"/>
          </a:p>
        </p:txBody>
      </p:sp>
      <p:sp>
        <p:nvSpPr>
          <p:cNvPr id="5" name="Footer Placeholder 4">
            <a:extLst>
              <a:ext uri="{FF2B5EF4-FFF2-40B4-BE49-F238E27FC236}">
                <a16:creationId xmlns:a16="http://schemas.microsoft.com/office/drawing/2014/main" id="{1C92FFFB-D6D4-0E6C-94FF-35CB55AC4F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BFE336-48A6-D600-69EF-B2C0D4BCDAFD}"/>
              </a:ext>
            </a:extLst>
          </p:cNvPr>
          <p:cNvSpPr>
            <a:spLocks noGrp="1"/>
          </p:cNvSpPr>
          <p:nvPr>
            <p:ph type="sldNum" sz="quarter" idx="12"/>
          </p:nvPr>
        </p:nvSpPr>
        <p:spPr/>
        <p:txBody>
          <a:bodyPr/>
          <a:lstStyle/>
          <a:p>
            <a:fld id="{CB0669AF-E1E2-45B9-99D0-0211188FA7E2}" type="slidenum">
              <a:rPr lang="en-IN" smtClean="0"/>
              <a:t>‹#›</a:t>
            </a:fld>
            <a:endParaRPr lang="en-IN"/>
          </a:p>
        </p:txBody>
      </p:sp>
    </p:spTree>
    <p:extLst>
      <p:ext uri="{BB962C8B-B14F-4D97-AF65-F5344CB8AC3E}">
        <p14:creationId xmlns:p14="http://schemas.microsoft.com/office/powerpoint/2010/main" val="17402999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5488D-84E8-AE81-C4E9-A0CA8D3721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739B4C9-AEAF-3F9D-2CFF-8168BC987C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2265E6-3169-A660-04CE-0F3348DBCCCA}"/>
              </a:ext>
            </a:extLst>
          </p:cNvPr>
          <p:cNvSpPr>
            <a:spLocks noGrp="1"/>
          </p:cNvSpPr>
          <p:nvPr>
            <p:ph type="dt" sz="half" idx="10"/>
          </p:nvPr>
        </p:nvSpPr>
        <p:spPr/>
        <p:txBody>
          <a:bodyPr/>
          <a:lstStyle/>
          <a:p>
            <a:fld id="{7552B2EA-71EB-4264-9E89-A558A675152C}" type="datetimeFigureOut">
              <a:rPr lang="en-IN" smtClean="0"/>
              <a:t>07-02-2026</a:t>
            </a:fld>
            <a:endParaRPr lang="en-IN"/>
          </a:p>
        </p:txBody>
      </p:sp>
      <p:sp>
        <p:nvSpPr>
          <p:cNvPr id="5" name="Footer Placeholder 4">
            <a:extLst>
              <a:ext uri="{FF2B5EF4-FFF2-40B4-BE49-F238E27FC236}">
                <a16:creationId xmlns:a16="http://schemas.microsoft.com/office/drawing/2014/main" id="{27916707-7DE7-5EAE-D10F-8060666FE3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88491-E5F3-860C-7F61-6B9689236995}"/>
              </a:ext>
            </a:extLst>
          </p:cNvPr>
          <p:cNvSpPr>
            <a:spLocks noGrp="1"/>
          </p:cNvSpPr>
          <p:nvPr>
            <p:ph type="sldNum" sz="quarter" idx="12"/>
          </p:nvPr>
        </p:nvSpPr>
        <p:spPr/>
        <p:txBody>
          <a:bodyPr/>
          <a:lstStyle/>
          <a:p>
            <a:fld id="{CB0669AF-E1E2-45B9-99D0-0211188FA7E2}" type="slidenum">
              <a:rPr lang="en-IN" smtClean="0"/>
              <a:t>‹#›</a:t>
            </a:fld>
            <a:endParaRPr lang="en-IN"/>
          </a:p>
        </p:txBody>
      </p:sp>
    </p:spTree>
    <p:extLst>
      <p:ext uri="{BB962C8B-B14F-4D97-AF65-F5344CB8AC3E}">
        <p14:creationId xmlns:p14="http://schemas.microsoft.com/office/powerpoint/2010/main" val="2544998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4C652-B25D-E950-0B03-5D1230D3958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CA4F115-4933-BAD6-190C-233465003A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4E17791-B07A-92DB-9366-72C3160627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49949EA-65AE-8077-B177-8C51AA8019BE}"/>
              </a:ext>
            </a:extLst>
          </p:cNvPr>
          <p:cNvSpPr>
            <a:spLocks noGrp="1"/>
          </p:cNvSpPr>
          <p:nvPr>
            <p:ph type="dt" sz="half" idx="10"/>
          </p:nvPr>
        </p:nvSpPr>
        <p:spPr/>
        <p:txBody>
          <a:bodyPr/>
          <a:lstStyle/>
          <a:p>
            <a:fld id="{7552B2EA-71EB-4264-9E89-A558A675152C}" type="datetimeFigureOut">
              <a:rPr lang="en-IN" smtClean="0"/>
              <a:t>07-02-2026</a:t>
            </a:fld>
            <a:endParaRPr lang="en-IN"/>
          </a:p>
        </p:txBody>
      </p:sp>
      <p:sp>
        <p:nvSpPr>
          <p:cNvPr id="6" name="Footer Placeholder 5">
            <a:extLst>
              <a:ext uri="{FF2B5EF4-FFF2-40B4-BE49-F238E27FC236}">
                <a16:creationId xmlns:a16="http://schemas.microsoft.com/office/drawing/2014/main" id="{6982449A-988F-7636-72C9-35E6445C1A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095EFC-CB32-6947-6B57-53F05A11CA04}"/>
              </a:ext>
            </a:extLst>
          </p:cNvPr>
          <p:cNvSpPr>
            <a:spLocks noGrp="1"/>
          </p:cNvSpPr>
          <p:nvPr>
            <p:ph type="sldNum" sz="quarter" idx="12"/>
          </p:nvPr>
        </p:nvSpPr>
        <p:spPr/>
        <p:txBody>
          <a:bodyPr/>
          <a:lstStyle/>
          <a:p>
            <a:fld id="{CB0669AF-E1E2-45B9-99D0-0211188FA7E2}" type="slidenum">
              <a:rPr lang="en-IN" smtClean="0"/>
              <a:t>‹#›</a:t>
            </a:fld>
            <a:endParaRPr lang="en-IN"/>
          </a:p>
        </p:txBody>
      </p:sp>
    </p:spTree>
    <p:extLst>
      <p:ext uri="{BB962C8B-B14F-4D97-AF65-F5344CB8AC3E}">
        <p14:creationId xmlns:p14="http://schemas.microsoft.com/office/powerpoint/2010/main" val="1997834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6FD15-ECB8-66E7-4CF7-A639D06B69D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9D5A840-8C4C-6050-3998-F281C0DBBC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73E3F5-5C88-7518-81E7-C11E81F71A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8415CE1-1FFA-D341-07BE-E982409E3C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CADC34-098B-A881-A939-6A171A73B8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C5F1EDC-7BF9-6CCB-ABEF-EAB6B2539664}"/>
              </a:ext>
            </a:extLst>
          </p:cNvPr>
          <p:cNvSpPr>
            <a:spLocks noGrp="1"/>
          </p:cNvSpPr>
          <p:nvPr>
            <p:ph type="dt" sz="half" idx="10"/>
          </p:nvPr>
        </p:nvSpPr>
        <p:spPr/>
        <p:txBody>
          <a:bodyPr/>
          <a:lstStyle/>
          <a:p>
            <a:fld id="{7552B2EA-71EB-4264-9E89-A558A675152C}" type="datetimeFigureOut">
              <a:rPr lang="en-IN" smtClean="0"/>
              <a:t>07-02-2026</a:t>
            </a:fld>
            <a:endParaRPr lang="en-IN"/>
          </a:p>
        </p:txBody>
      </p:sp>
      <p:sp>
        <p:nvSpPr>
          <p:cNvPr id="8" name="Footer Placeholder 7">
            <a:extLst>
              <a:ext uri="{FF2B5EF4-FFF2-40B4-BE49-F238E27FC236}">
                <a16:creationId xmlns:a16="http://schemas.microsoft.com/office/drawing/2014/main" id="{0E752EE5-9320-DA5F-C09A-26970D71D35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1ADFEBF-039E-F397-FA67-109408D3BB5F}"/>
              </a:ext>
            </a:extLst>
          </p:cNvPr>
          <p:cNvSpPr>
            <a:spLocks noGrp="1"/>
          </p:cNvSpPr>
          <p:nvPr>
            <p:ph type="sldNum" sz="quarter" idx="12"/>
          </p:nvPr>
        </p:nvSpPr>
        <p:spPr/>
        <p:txBody>
          <a:bodyPr/>
          <a:lstStyle/>
          <a:p>
            <a:fld id="{CB0669AF-E1E2-45B9-99D0-0211188FA7E2}" type="slidenum">
              <a:rPr lang="en-IN" smtClean="0"/>
              <a:t>‹#›</a:t>
            </a:fld>
            <a:endParaRPr lang="en-IN"/>
          </a:p>
        </p:txBody>
      </p:sp>
    </p:spTree>
    <p:extLst>
      <p:ext uri="{BB962C8B-B14F-4D97-AF65-F5344CB8AC3E}">
        <p14:creationId xmlns:p14="http://schemas.microsoft.com/office/powerpoint/2010/main" val="3838524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CF51A-4F71-E105-C4BE-0516D91E08F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CE81928-C1F5-56C4-D237-B8CA906C1B2B}"/>
              </a:ext>
            </a:extLst>
          </p:cNvPr>
          <p:cNvSpPr>
            <a:spLocks noGrp="1"/>
          </p:cNvSpPr>
          <p:nvPr>
            <p:ph type="dt" sz="half" idx="10"/>
          </p:nvPr>
        </p:nvSpPr>
        <p:spPr/>
        <p:txBody>
          <a:bodyPr/>
          <a:lstStyle/>
          <a:p>
            <a:fld id="{7552B2EA-71EB-4264-9E89-A558A675152C}" type="datetimeFigureOut">
              <a:rPr lang="en-IN" smtClean="0"/>
              <a:t>07-02-2026</a:t>
            </a:fld>
            <a:endParaRPr lang="en-IN"/>
          </a:p>
        </p:txBody>
      </p:sp>
      <p:sp>
        <p:nvSpPr>
          <p:cNvPr id="4" name="Footer Placeholder 3">
            <a:extLst>
              <a:ext uri="{FF2B5EF4-FFF2-40B4-BE49-F238E27FC236}">
                <a16:creationId xmlns:a16="http://schemas.microsoft.com/office/drawing/2014/main" id="{2A22D082-DCAA-D4DB-6F38-284ED725174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6A9180D-0D55-0485-93CE-35CBF6D6A897}"/>
              </a:ext>
            </a:extLst>
          </p:cNvPr>
          <p:cNvSpPr>
            <a:spLocks noGrp="1"/>
          </p:cNvSpPr>
          <p:nvPr>
            <p:ph type="sldNum" sz="quarter" idx="12"/>
          </p:nvPr>
        </p:nvSpPr>
        <p:spPr/>
        <p:txBody>
          <a:bodyPr/>
          <a:lstStyle/>
          <a:p>
            <a:fld id="{CB0669AF-E1E2-45B9-99D0-0211188FA7E2}" type="slidenum">
              <a:rPr lang="en-IN" smtClean="0"/>
              <a:t>‹#›</a:t>
            </a:fld>
            <a:endParaRPr lang="en-IN"/>
          </a:p>
        </p:txBody>
      </p:sp>
    </p:spTree>
    <p:extLst>
      <p:ext uri="{BB962C8B-B14F-4D97-AF65-F5344CB8AC3E}">
        <p14:creationId xmlns:p14="http://schemas.microsoft.com/office/powerpoint/2010/main" val="40115985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3661C9-BC55-3BE3-7E67-1C1ECCB17246}"/>
              </a:ext>
            </a:extLst>
          </p:cNvPr>
          <p:cNvSpPr>
            <a:spLocks noGrp="1"/>
          </p:cNvSpPr>
          <p:nvPr>
            <p:ph type="dt" sz="half" idx="10"/>
          </p:nvPr>
        </p:nvSpPr>
        <p:spPr/>
        <p:txBody>
          <a:bodyPr/>
          <a:lstStyle/>
          <a:p>
            <a:fld id="{7552B2EA-71EB-4264-9E89-A558A675152C}" type="datetimeFigureOut">
              <a:rPr lang="en-IN" smtClean="0"/>
              <a:t>07-02-2026</a:t>
            </a:fld>
            <a:endParaRPr lang="en-IN"/>
          </a:p>
        </p:txBody>
      </p:sp>
      <p:sp>
        <p:nvSpPr>
          <p:cNvPr id="3" name="Footer Placeholder 2">
            <a:extLst>
              <a:ext uri="{FF2B5EF4-FFF2-40B4-BE49-F238E27FC236}">
                <a16:creationId xmlns:a16="http://schemas.microsoft.com/office/drawing/2014/main" id="{AC1C8C0A-7E10-C47D-D068-4DC96E5B7FB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8BEE441-B414-AA30-7F76-56EB3F4BA4F5}"/>
              </a:ext>
            </a:extLst>
          </p:cNvPr>
          <p:cNvSpPr>
            <a:spLocks noGrp="1"/>
          </p:cNvSpPr>
          <p:nvPr>
            <p:ph type="sldNum" sz="quarter" idx="12"/>
          </p:nvPr>
        </p:nvSpPr>
        <p:spPr/>
        <p:txBody>
          <a:bodyPr/>
          <a:lstStyle/>
          <a:p>
            <a:fld id="{CB0669AF-E1E2-45B9-99D0-0211188FA7E2}" type="slidenum">
              <a:rPr lang="en-IN" smtClean="0"/>
              <a:t>‹#›</a:t>
            </a:fld>
            <a:endParaRPr lang="en-IN"/>
          </a:p>
        </p:txBody>
      </p:sp>
    </p:spTree>
    <p:extLst>
      <p:ext uri="{BB962C8B-B14F-4D97-AF65-F5344CB8AC3E}">
        <p14:creationId xmlns:p14="http://schemas.microsoft.com/office/powerpoint/2010/main" val="3888077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FA1E3-9F7D-83F8-A706-E2F92628B9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0D7B774-BB41-EDE9-4ED0-B882F24A79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43160A2-BFEC-F2D4-C178-55B7A9BB38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7C4C3C-5FDA-3D76-7B2D-7B5ECF6CF89D}"/>
              </a:ext>
            </a:extLst>
          </p:cNvPr>
          <p:cNvSpPr>
            <a:spLocks noGrp="1"/>
          </p:cNvSpPr>
          <p:nvPr>
            <p:ph type="dt" sz="half" idx="10"/>
          </p:nvPr>
        </p:nvSpPr>
        <p:spPr/>
        <p:txBody>
          <a:bodyPr/>
          <a:lstStyle/>
          <a:p>
            <a:fld id="{7552B2EA-71EB-4264-9E89-A558A675152C}" type="datetimeFigureOut">
              <a:rPr lang="en-IN" smtClean="0"/>
              <a:t>07-02-2026</a:t>
            </a:fld>
            <a:endParaRPr lang="en-IN"/>
          </a:p>
        </p:txBody>
      </p:sp>
      <p:sp>
        <p:nvSpPr>
          <p:cNvPr id="6" name="Footer Placeholder 5">
            <a:extLst>
              <a:ext uri="{FF2B5EF4-FFF2-40B4-BE49-F238E27FC236}">
                <a16:creationId xmlns:a16="http://schemas.microsoft.com/office/drawing/2014/main" id="{1365B65A-C510-A717-1FCC-0072C55D9E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D29C456-3BC3-CFF3-D755-A09D4058B8A9}"/>
              </a:ext>
            </a:extLst>
          </p:cNvPr>
          <p:cNvSpPr>
            <a:spLocks noGrp="1"/>
          </p:cNvSpPr>
          <p:nvPr>
            <p:ph type="sldNum" sz="quarter" idx="12"/>
          </p:nvPr>
        </p:nvSpPr>
        <p:spPr/>
        <p:txBody>
          <a:bodyPr/>
          <a:lstStyle/>
          <a:p>
            <a:fld id="{CB0669AF-E1E2-45B9-99D0-0211188FA7E2}" type="slidenum">
              <a:rPr lang="en-IN" smtClean="0"/>
              <a:t>‹#›</a:t>
            </a:fld>
            <a:endParaRPr lang="en-IN"/>
          </a:p>
        </p:txBody>
      </p:sp>
    </p:spTree>
    <p:extLst>
      <p:ext uri="{BB962C8B-B14F-4D97-AF65-F5344CB8AC3E}">
        <p14:creationId xmlns:p14="http://schemas.microsoft.com/office/powerpoint/2010/main" val="1947175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6B4AC-02A7-1049-0546-8840C94D9E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D45298D-55C4-6825-83E1-868C5467BC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C0DC126-9460-708E-DEC0-BC0C20AC1F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F635E6-E0F0-6138-7581-D2317CA3D6E3}"/>
              </a:ext>
            </a:extLst>
          </p:cNvPr>
          <p:cNvSpPr>
            <a:spLocks noGrp="1"/>
          </p:cNvSpPr>
          <p:nvPr>
            <p:ph type="dt" sz="half" idx="10"/>
          </p:nvPr>
        </p:nvSpPr>
        <p:spPr/>
        <p:txBody>
          <a:bodyPr/>
          <a:lstStyle/>
          <a:p>
            <a:fld id="{7552B2EA-71EB-4264-9E89-A558A675152C}" type="datetimeFigureOut">
              <a:rPr lang="en-IN" smtClean="0"/>
              <a:t>07-02-2026</a:t>
            </a:fld>
            <a:endParaRPr lang="en-IN"/>
          </a:p>
        </p:txBody>
      </p:sp>
      <p:sp>
        <p:nvSpPr>
          <p:cNvPr id="6" name="Footer Placeholder 5">
            <a:extLst>
              <a:ext uri="{FF2B5EF4-FFF2-40B4-BE49-F238E27FC236}">
                <a16:creationId xmlns:a16="http://schemas.microsoft.com/office/drawing/2014/main" id="{1814FA04-849A-3C6B-0FF0-30164D07DB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39E1BD-E8F6-4E30-34AF-C5287CDB861C}"/>
              </a:ext>
            </a:extLst>
          </p:cNvPr>
          <p:cNvSpPr>
            <a:spLocks noGrp="1"/>
          </p:cNvSpPr>
          <p:nvPr>
            <p:ph type="sldNum" sz="quarter" idx="12"/>
          </p:nvPr>
        </p:nvSpPr>
        <p:spPr/>
        <p:txBody>
          <a:bodyPr/>
          <a:lstStyle/>
          <a:p>
            <a:fld id="{CB0669AF-E1E2-45B9-99D0-0211188FA7E2}" type="slidenum">
              <a:rPr lang="en-IN" smtClean="0"/>
              <a:t>‹#›</a:t>
            </a:fld>
            <a:endParaRPr lang="en-IN"/>
          </a:p>
        </p:txBody>
      </p:sp>
    </p:spTree>
    <p:extLst>
      <p:ext uri="{BB962C8B-B14F-4D97-AF65-F5344CB8AC3E}">
        <p14:creationId xmlns:p14="http://schemas.microsoft.com/office/powerpoint/2010/main" val="1342804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540A7-DF22-58A2-752D-46A83F04AAA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727AE63-DE7F-C12E-82DA-2F961327E9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4A8604-0233-F3C0-D0DF-7E2233794ABF}"/>
              </a:ext>
            </a:extLst>
          </p:cNvPr>
          <p:cNvSpPr>
            <a:spLocks noGrp="1"/>
          </p:cNvSpPr>
          <p:nvPr>
            <p:ph type="dt" sz="half" idx="10"/>
          </p:nvPr>
        </p:nvSpPr>
        <p:spPr/>
        <p:txBody>
          <a:bodyPr/>
          <a:lstStyle/>
          <a:p>
            <a:fld id="{7552B2EA-71EB-4264-9E89-A558A675152C}" type="datetimeFigureOut">
              <a:rPr lang="en-IN" smtClean="0"/>
              <a:t>07-02-2026</a:t>
            </a:fld>
            <a:endParaRPr lang="en-IN"/>
          </a:p>
        </p:txBody>
      </p:sp>
      <p:sp>
        <p:nvSpPr>
          <p:cNvPr id="5" name="Footer Placeholder 4">
            <a:extLst>
              <a:ext uri="{FF2B5EF4-FFF2-40B4-BE49-F238E27FC236}">
                <a16:creationId xmlns:a16="http://schemas.microsoft.com/office/drawing/2014/main" id="{D47DFF96-0FBE-BE48-A551-8CF7B601AE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7EA18D-01DF-1B24-121B-B9F685822565}"/>
              </a:ext>
            </a:extLst>
          </p:cNvPr>
          <p:cNvSpPr>
            <a:spLocks noGrp="1"/>
          </p:cNvSpPr>
          <p:nvPr>
            <p:ph type="sldNum" sz="quarter" idx="12"/>
          </p:nvPr>
        </p:nvSpPr>
        <p:spPr/>
        <p:txBody>
          <a:bodyPr/>
          <a:lstStyle/>
          <a:p>
            <a:fld id="{CB0669AF-E1E2-45B9-99D0-0211188FA7E2}" type="slidenum">
              <a:rPr lang="en-IN" smtClean="0"/>
              <a:t>‹#›</a:t>
            </a:fld>
            <a:endParaRPr lang="en-IN"/>
          </a:p>
        </p:txBody>
      </p:sp>
    </p:spTree>
    <p:extLst>
      <p:ext uri="{BB962C8B-B14F-4D97-AF65-F5344CB8AC3E}">
        <p14:creationId xmlns:p14="http://schemas.microsoft.com/office/powerpoint/2010/main" val="571757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3AE225-9B63-0A4E-99DF-39B9ECFD4FA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0CEA41A-AD17-8F50-22B6-34537337CF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47308A-5F21-B2AA-96E3-309BFDA4D7D5}"/>
              </a:ext>
            </a:extLst>
          </p:cNvPr>
          <p:cNvSpPr>
            <a:spLocks noGrp="1"/>
          </p:cNvSpPr>
          <p:nvPr>
            <p:ph type="dt" sz="half" idx="10"/>
          </p:nvPr>
        </p:nvSpPr>
        <p:spPr/>
        <p:txBody>
          <a:bodyPr/>
          <a:lstStyle/>
          <a:p>
            <a:fld id="{7552B2EA-71EB-4264-9E89-A558A675152C}" type="datetimeFigureOut">
              <a:rPr lang="en-IN" smtClean="0"/>
              <a:t>07-02-2026</a:t>
            </a:fld>
            <a:endParaRPr lang="en-IN"/>
          </a:p>
        </p:txBody>
      </p:sp>
      <p:sp>
        <p:nvSpPr>
          <p:cNvPr id="5" name="Footer Placeholder 4">
            <a:extLst>
              <a:ext uri="{FF2B5EF4-FFF2-40B4-BE49-F238E27FC236}">
                <a16:creationId xmlns:a16="http://schemas.microsoft.com/office/drawing/2014/main" id="{ADD08BD1-4BCA-6EB7-4893-AD9DB3FCF0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855EFF-AE46-2D30-7AE8-C98F7DED8438}"/>
              </a:ext>
            </a:extLst>
          </p:cNvPr>
          <p:cNvSpPr>
            <a:spLocks noGrp="1"/>
          </p:cNvSpPr>
          <p:nvPr>
            <p:ph type="sldNum" sz="quarter" idx="12"/>
          </p:nvPr>
        </p:nvSpPr>
        <p:spPr/>
        <p:txBody>
          <a:bodyPr/>
          <a:lstStyle/>
          <a:p>
            <a:fld id="{CB0669AF-E1E2-45B9-99D0-0211188FA7E2}" type="slidenum">
              <a:rPr lang="en-IN" smtClean="0"/>
              <a:t>‹#›</a:t>
            </a:fld>
            <a:endParaRPr lang="en-IN"/>
          </a:p>
        </p:txBody>
      </p:sp>
    </p:spTree>
    <p:extLst>
      <p:ext uri="{BB962C8B-B14F-4D97-AF65-F5344CB8AC3E}">
        <p14:creationId xmlns:p14="http://schemas.microsoft.com/office/powerpoint/2010/main" val="2828687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A202AD-CD4A-5E55-8E75-29087E37C4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5C123F-ADBF-6422-A246-35C38CB178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060C74-C5E0-B39D-6D3F-D17227810B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52B2EA-71EB-4264-9E89-A558A675152C}" type="datetimeFigureOut">
              <a:rPr lang="en-IN" smtClean="0"/>
              <a:t>07-02-2026</a:t>
            </a:fld>
            <a:endParaRPr lang="en-IN"/>
          </a:p>
        </p:txBody>
      </p:sp>
      <p:sp>
        <p:nvSpPr>
          <p:cNvPr id="5" name="Footer Placeholder 4">
            <a:extLst>
              <a:ext uri="{FF2B5EF4-FFF2-40B4-BE49-F238E27FC236}">
                <a16:creationId xmlns:a16="http://schemas.microsoft.com/office/drawing/2014/main" id="{A8966518-996D-A8B0-8AA5-7507CEDABD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52D1FBD-40AF-41B8-39DE-AE699F2071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0669AF-E1E2-45B9-99D0-0211188FA7E2}" type="slidenum">
              <a:rPr lang="en-IN" smtClean="0"/>
              <a:t>‹#›</a:t>
            </a:fld>
            <a:endParaRPr lang="en-IN"/>
          </a:p>
        </p:txBody>
      </p:sp>
    </p:spTree>
    <p:extLst>
      <p:ext uri="{BB962C8B-B14F-4D97-AF65-F5344CB8AC3E}">
        <p14:creationId xmlns:p14="http://schemas.microsoft.com/office/powerpoint/2010/main" val="643963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jpg"/><Relationship Id="rId7"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jpg"/><Relationship Id="rId7" Type="http://schemas.openxmlformats.org/officeDocument/2006/relationships/diagramColors" Target="../diagrams/colors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6.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jpg"/><Relationship Id="rId7" Type="http://schemas.openxmlformats.org/officeDocument/2006/relationships/diagramColors" Target="../diagrams/colors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7.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1.jpg"/><Relationship Id="rId7" Type="http://schemas.openxmlformats.org/officeDocument/2006/relationships/diagramColors" Target="../diagrams/colors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1.jpg"/><Relationship Id="rId7" Type="http://schemas.openxmlformats.org/officeDocument/2006/relationships/diagramColors" Target="../diagrams/colors6.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1.jpg"/><Relationship Id="rId7" Type="http://schemas.openxmlformats.org/officeDocument/2006/relationships/diagramColors" Target="../diagrams/colors7.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A2F70E-FB8D-580A-8924-2ED007F98C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12192000" cy="6793832"/>
          </a:xfrm>
          <a:prstGeom prst="rect">
            <a:avLst/>
          </a:prstGeom>
        </p:spPr>
      </p:pic>
      <p:sp>
        <p:nvSpPr>
          <p:cNvPr id="8" name="TextBox 7">
            <a:extLst>
              <a:ext uri="{FF2B5EF4-FFF2-40B4-BE49-F238E27FC236}">
                <a16:creationId xmlns:a16="http://schemas.microsoft.com/office/drawing/2014/main" id="{A8F8B448-4EBD-C12B-D217-7155BDDD7D21}"/>
              </a:ext>
            </a:extLst>
          </p:cNvPr>
          <p:cNvSpPr txBox="1"/>
          <p:nvPr/>
        </p:nvSpPr>
        <p:spPr>
          <a:xfrm>
            <a:off x="250256" y="2351007"/>
            <a:ext cx="6499188" cy="769441"/>
          </a:xfrm>
          <a:prstGeom prst="rect">
            <a:avLst/>
          </a:prstGeom>
          <a:noFill/>
        </p:spPr>
        <p:txBody>
          <a:bodyPr wrap="square" rtlCol="0">
            <a:spAutoFit/>
          </a:bodyPr>
          <a:lstStyle/>
          <a:p>
            <a:pPr algn="ctr"/>
            <a:r>
              <a:rPr lang="en-IN" sz="4400" dirty="0">
                <a:solidFill>
                  <a:schemeClr val="bg1"/>
                </a:solidFill>
              </a:rPr>
              <a:t>GENERATIVE AI DEEPFAKES:</a:t>
            </a:r>
          </a:p>
        </p:txBody>
      </p:sp>
      <p:sp>
        <p:nvSpPr>
          <p:cNvPr id="9" name="TextBox 8">
            <a:extLst>
              <a:ext uri="{FF2B5EF4-FFF2-40B4-BE49-F238E27FC236}">
                <a16:creationId xmlns:a16="http://schemas.microsoft.com/office/drawing/2014/main" id="{A25BB489-B051-B22F-7E63-EF9FCF31A4B8}"/>
              </a:ext>
            </a:extLst>
          </p:cNvPr>
          <p:cNvSpPr txBox="1"/>
          <p:nvPr/>
        </p:nvSpPr>
        <p:spPr>
          <a:xfrm>
            <a:off x="287993" y="3116915"/>
            <a:ext cx="6423713" cy="954107"/>
          </a:xfrm>
          <a:prstGeom prst="rect">
            <a:avLst/>
          </a:prstGeom>
          <a:noFill/>
        </p:spPr>
        <p:txBody>
          <a:bodyPr wrap="square" rtlCol="0">
            <a:spAutoFit/>
          </a:bodyPr>
          <a:lstStyle/>
          <a:p>
            <a:r>
              <a:rPr lang="en-IN" sz="2800" dirty="0">
                <a:solidFill>
                  <a:schemeClr val="accent1">
                    <a:lumMod val="40000"/>
                    <a:lumOff val="60000"/>
                  </a:schemeClr>
                </a:solidFill>
              </a:rPr>
              <a:t>REAL-WORLD THREATS TO FACIAL BIOMETRIC AUTHENTICATION</a:t>
            </a:r>
          </a:p>
        </p:txBody>
      </p:sp>
      <p:sp>
        <p:nvSpPr>
          <p:cNvPr id="4" name="Title 1">
            <a:extLst>
              <a:ext uri="{FF2B5EF4-FFF2-40B4-BE49-F238E27FC236}">
                <a16:creationId xmlns:a16="http://schemas.microsoft.com/office/drawing/2014/main" id="{2B778C2A-33B0-B63F-6313-04BABD995B4B}"/>
              </a:ext>
            </a:extLst>
          </p:cNvPr>
          <p:cNvSpPr>
            <a:spLocks noGrp="1"/>
          </p:cNvSpPr>
          <p:nvPr>
            <p:ph type="ctrTitle"/>
          </p:nvPr>
        </p:nvSpPr>
        <p:spPr>
          <a:xfrm>
            <a:off x="333334" y="336609"/>
            <a:ext cx="5845744" cy="1540877"/>
          </a:xfrm>
        </p:spPr>
        <p:txBody>
          <a:bodyPr>
            <a:normAutofit fontScale="90000"/>
          </a:bodyPr>
          <a:lstStyle/>
          <a:p>
            <a:pPr algn="l" latinLnBrk="1">
              <a:lnSpc>
                <a:spcPct val="150000"/>
              </a:lnSpc>
            </a:pPr>
            <a:r>
              <a:rPr lang="en-US" sz="4400" dirty="0">
                <a:solidFill>
                  <a:schemeClr val="bg1"/>
                </a:solidFill>
                <a:latin typeface="+mn-lt"/>
                <a:ea typeface="+mn-ea"/>
                <a:cs typeface="+mn-cs"/>
              </a:rPr>
              <a:t>&lt;Cork|Sec 152&gt;</a:t>
            </a:r>
            <a:br>
              <a:rPr lang="en-US" sz="2000" b="1" dirty="0">
                <a:solidFill>
                  <a:schemeClr val="bg1"/>
                </a:solidFill>
                <a:latin typeface="Times New Roman" panose="02020603050405020304" pitchFamily="18" charset="0"/>
                <a:cs typeface="Times New Roman" panose="02020603050405020304" pitchFamily="18" charset="0"/>
              </a:rPr>
            </a:br>
            <a:endParaRPr lang="en-IN" sz="3600" b="1" dirty="0">
              <a:solidFill>
                <a:schemeClr val="bg1"/>
              </a:solidFill>
              <a:latin typeface="Times New Roman" panose="02020603050405020304" pitchFamily="18" charset="0"/>
              <a:cs typeface="Times New Roman" panose="02020603050405020304" pitchFamily="18" charset="0"/>
            </a:endParaRPr>
          </a:p>
        </p:txBody>
      </p:sp>
      <p:pic>
        <p:nvPicPr>
          <p:cNvPr id="3" name="Picture 2" descr="A logo for a company&#10;&#10;AI-generated content may be incorrect.">
            <a:extLst>
              <a:ext uri="{FF2B5EF4-FFF2-40B4-BE49-F238E27FC236}">
                <a16:creationId xmlns:a16="http://schemas.microsoft.com/office/drawing/2014/main" id="{7E5A704E-7508-F6B2-E3C9-B13D3263E6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6165359"/>
            <a:ext cx="1733909" cy="712063"/>
          </a:xfrm>
          <a:prstGeom prst="rect">
            <a:avLst/>
          </a:prstGeom>
        </p:spPr>
      </p:pic>
      <p:sp>
        <p:nvSpPr>
          <p:cNvPr id="11" name="TextBox 10">
            <a:extLst>
              <a:ext uri="{FF2B5EF4-FFF2-40B4-BE49-F238E27FC236}">
                <a16:creationId xmlns:a16="http://schemas.microsoft.com/office/drawing/2014/main" id="{A96E820E-F281-41C3-C59C-551BB70E9A2C}"/>
              </a:ext>
            </a:extLst>
          </p:cNvPr>
          <p:cNvSpPr txBox="1"/>
          <p:nvPr/>
        </p:nvSpPr>
        <p:spPr>
          <a:xfrm>
            <a:off x="333334" y="5077747"/>
            <a:ext cx="4075622" cy="919739"/>
          </a:xfrm>
          <a:prstGeom prst="rect">
            <a:avLst/>
          </a:prstGeom>
          <a:noFill/>
        </p:spPr>
        <p:txBody>
          <a:bodyPr wrap="square">
            <a:spAutoFit/>
          </a:bodyPr>
          <a:lstStyle/>
          <a:p>
            <a:pPr>
              <a:lnSpc>
                <a:spcPct val="150000"/>
              </a:lnSpc>
            </a:pPr>
            <a:r>
              <a:rPr lang="en-US" sz="2000" b="1" dirty="0">
                <a:solidFill>
                  <a:schemeClr val="bg1"/>
                </a:solidFill>
                <a:latin typeface="Times New Roman" panose="02020603050405020304" pitchFamily="18" charset="0"/>
                <a:cs typeface="Times New Roman" panose="02020603050405020304" pitchFamily="18" charset="0"/>
              </a:rPr>
              <a:t>Daniel Fitzmaurice</a:t>
            </a:r>
            <a:br>
              <a:rPr lang="en-US" b="1" dirty="0">
                <a:solidFill>
                  <a:schemeClr val="bg1"/>
                </a:solidFill>
                <a:latin typeface="Times New Roman" panose="02020603050405020304" pitchFamily="18" charset="0"/>
                <a:cs typeface="Times New Roman" panose="02020603050405020304" pitchFamily="18" charset="0"/>
              </a:rPr>
            </a:br>
            <a:r>
              <a:rPr lang="en-US" b="1" dirty="0">
                <a:solidFill>
                  <a:schemeClr val="bg2"/>
                </a:solidFill>
                <a:latin typeface="Times New Roman" panose="02020603050405020304" pitchFamily="18" charset="0"/>
                <a:cs typeface="Times New Roman" panose="02020603050405020304" pitchFamily="18" charset="0"/>
              </a:rPr>
              <a:t>MSc in Cybersecurity | MTU</a:t>
            </a:r>
            <a:endParaRPr lang="en-US" sz="1800" dirty="0">
              <a:solidFill>
                <a:schemeClr val="tx2">
                  <a:lumMod val="20000"/>
                  <a:lumOff val="80000"/>
                </a:schemeClr>
              </a:solidFill>
              <a:latin typeface="Times New Roman" panose="02020603050405020304" pitchFamily="18" charset="0"/>
              <a:cs typeface="Times New Roman" panose="02020603050405020304" pitchFamily="18" charset="0"/>
            </a:endParaRPr>
          </a:p>
        </p:txBody>
      </p:sp>
      <p:cxnSp>
        <p:nvCxnSpPr>
          <p:cNvPr id="17" name="Straight Connector 16">
            <a:extLst>
              <a:ext uri="{FF2B5EF4-FFF2-40B4-BE49-F238E27FC236}">
                <a16:creationId xmlns:a16="http://schemas.microsoft.com/office/drawing/2014/main" id="{9470F019-E946-2FE5-00B4-470B673F48E9}"/>
              </a:ext>
            </a:extLst>
          </p:cNvPr>
          <p:cNvCxnSpPr>
            <a:cxnSpLocks/>
          </p:cNvCxnSpPr>
          <p:nvPr/>
        </p:nvCxnSpPr>
        <p:spPr>
          <a:xfrm>
            <a:off x="333334" y="1194851"/>
            <a:ext cx="3238297" cy="0"/>
          </a:xfrm>
          <a:prstGeom prst="line">
            <a:avLst/>
          </a:prstGeom>
          <a:ln w="12700">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FD035D47-27E6-7D45-B7BF-C0951DFF42F7}"/>
              </a:ext>
            </a:extLst>
          </p:cNvPr>
          <p:cNvSpPr txBox="1"/>
          <p:nvPr/>
        </p:nvSpPr>
        <p:spPr>
          <a:xfrm>
            <a:off x="10597097" y="6442501"/>
            <a:ext cx="1445380" cy="276999"/>
          </a:xfrm>
          <a:prstGeom prst="rect">
            <a:avLst/>
          </a:prstGeom>
          <a:noFill/>
        </p:spPr>
        <p:txBody>
          <a:bodyPr wrap="square" rtlCol="0">
            <a:spAutoFit/>
          </a:bodyPr>
          <a:lstStyle/>
          <a:p>
            <a:r>
              <a:rPr lang="en-US" sz="1200" dirty="0">
                <a:solidFill>
                  <a:srgbClr val="32A2E3"/>
                </a:solidFill>
              </a:rPr>
              <a:t>| 10 February 2026</a:t>
            </a:r>
            <a:endParaRPr lang="en-IE" sz="1200" dirty="0">
              <a:solidFill>
                <a:srgbClr val="32A2E3"/>
              </a:solidFill>
            </a:endParaRPr>
          </a:p>
        </p:txBody>
      </p:sp>
    </p:spTree>
    <p:extLst>
      <p:ext uri="{BB962C8B-B14F-4D97-AF65-F5344CB8AC3E}">
        <p14:creationId xmlns:p14="http://schemas.microsoft.com/office/powerpoint/2010/main" val="2007356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AF5C1BE-945F-B823-52F2-2C1C19FCDF37}"/>
              </a:ext>
            </a:extLst>
          </p:cNvPr>
          <p:cNvPicPr>
            <a:picLocks noChangeAspect="1"/>
          </p:cNvPicPr>
          <p:nvPr/>
        </p:nvPicPr>
        <p:blipFill rotWithShape="1">
          <a:blip r:embed="rId3">
            <a:extLst>
              <a:ext uri="{28A0092B-C50C-407E-A947-70E740481C1C}">
                <a14:useLocalDpi xmlns:a14="http://schemas.microsoft.com/office/drawing/2010/main" val="0"/>
              </a:ext>
            </a:extLst>
          </a:blip>
          <a:srcRect l="686" t="387" r="45497" b="41586"/>
          <a:stretch/>
        </p:blipFill>
        <p:spPr>
          <a:xfrm>
            <a:off x="0" y="-18416"/>
            <a:ext cx="12192000" cy="6809741"/>
          </a:xfrm>
          <a:prstGeom prst="rect">
            <a:avLst/>
          </a:prstGeom>
        </p:spPr>
      </p:pic>
      <p:sp>
        <p:nvSpPr>
          <p:cNvPr id="7" name="TextBox 6">
            <a:extLst>
              <a:ext uri="{FF2B5EF4-FFF2-40B4-BE49-F238E27FC236}">
                <a16:creationId xmlns:a16="http://schemas.microsoft.com/office/drawing/2014/main" id="{2428365F-2015-F3B2-D740-9108F166E083}"/>
              </a:ext>
            </a:extLst>
          </p:cNvPr>
          <p:cNvSpPr txBox="1"/>
          <p:nvPr/>
        </p:nvSpPr>
        <p:spPr>
          <a:xfrm>
            <a:off x="586741" y="220428"/>
            <a:ext cx="7384068" cy="707886"/>
          </a:xfrm>
          <a:prstGeom prst="rect">
            <a:avLst/>
          </a:prstGeom>
          <a:noFill/>
        </p:spPr>
        <p:txBody>
          <a:bodyPr wrap="square" rtlCol="0">
            <a:spAutoFit/>
          </a:bodyPr>
          <a:lstStyle/>
          <a:p>
            <a:r>
              <a:rPr lang="en-IN" sz="4000" dirty="0">
                <a:solidFill>
                  <a:schemeClr val="bg1"/>
                </a:solidFill>
                <a:latin typeface="Times New Roman" panose="02020603050405020304" pitchFamily="18" charset="0"/>
                <a:cs typeface="Times New Roman" panose="02020603050405020304" pitchFamily="18" charset="0"/>
              </a:rPr>
              <a:t>Motivation &amp; Research Problem</a:t>
            </a:r>
          </a:p>
        </p:txBody>
      </p:sp>
      <p:sp>
        <p:nvSpPr>
          <p:cNvPr id="8" name="TextBox 7">
            <a:extLst>
              <a:ext uri="{FF2B5EF4-FFF2-40B4-BE49-F238E27FC236}">
                <a16:creationId xmlns:a16="http://schemas.microsoft.com/office/drawing/2014/main" id="{1DA1319E-D706-C6E3-98D7-BBFE314B5FB6}"/>
              </a:ext>
            </a:extLst>
          </p:cNvPr>
          <p:cNvSpPr txBox="1"/>
          <p:nvPr/>
        </p:nvSpPr>
        <p:spPr>
          <a:xfrm>
            <a:off x="586741" y="1303020"/>
            <a:ext cx="6852283" cy="3624197"/>
          </a:xfrm>
          <a:prstGeom prst="rect">
            <a:avLst/>
          </a:prstGeom>
          <a:noFill/>
        </p:spPr>
        <p:txBody>
          <a:bodyPr wrap="square" rtlCol="0">
            <a:spAutoFit/>
          </a:bodyPr>
          <a:lstStyle/>
          <a:p>
            <a:pPr marL="469265" marR="5080" indent="-469265">
              <a:lnSpc>
                <a:spcPct val="119800"/>
              </a:lnSpc>
              <a:spcBef>
                <a:spcPts val="105"/>
              </a:spcBef>
              <a:buClr>
                <a:srgbClr val="90C225"/>
              </a:buClr>
              <a:buSzPct val="50000"/>
              <a:buFont typeface="Arial MT"/>
              <a:buChar char="►"/>
              <a:tabLst>
                <a:tab pos="469265" algn="l"/>
                <a:tab pos="469900" algn="l"/>
              </a:tabLst>
            </a:pPr>
            <a:r>
              <a:rPr lang="en-US" sz="3200" dirty="0">
                <a:solidFill>
                  <a:schemeClr val="accent5">
                    <a:lumMod val="40000"/>
                    <a:lumOff val="60000"/>
                  </a:schemeClr>
                </a:solidFill>
              </a:rPr>
              <a:t>Fraud cases - $25m Hong Kong scam, Irish deepfake</a:t>
            </a:r>
          </a:p>
          <a:p>
            <a:pPr marL="469265" marR="5080" indent="-469265">
              <a:lnSpc>
                <a:spcPct val="119800"/>
              </a:lnSpc>
              <a:spcBef>
                <a:spcPts val="105"/>
              </a:spcBef>
              <a:buClr>
                <a:srgbClr val="90C225"/>
              </a:buClr>
              <a:buSzPct val="50000"/>
              <a:buFont typeface="Arial MT"/>
              <a:buChar char="►"/>
              <a:tabLst>
                <a:tab pos="469265" algn="l"/>
                <a:tab pos="469900" algn="l"/>
              </a:tabLst>
            </a:pPr>
            <a:r>
              <a:rPr lang="en-US" sz="3200" dirty="0">
                <a:solidFill>
                  <a:schemeClr val="accent5">
                    <a:lumMod val="40000"/>
                    <a:lumOff val="60000"/>
                  </a:schemeClr>
                </a:solidFill>
              </a:rPr>
              <a:t>Biometric risk - Face ID, Face Unlock, Windows Hello, Authenticator</a:t>
            </a:r>
          </a:p>
          <a:p>
            <a:pPr marL="469265" marR="5080" indent="-469265">
              <a:lnSpc>
                <a:spcPct val="119800"/>
              </a:lnSpc>
              <a:spcBef>
                <a:spcPts val="105"/>
              </a:spcBef>
              <a:buClr>
                <a:srgbClr val="90C225"/>
              </a:buClr>
              <a:buSzPct val="50000"/>
              <a:buFont typeface="Arial MT"/>
              <a:buChar char="►"/>
              <a:tabLst>
                <a:tab pos="469265" algn="l"/>
                <a:tab pos="469900" algn="l"/>
              </a:tabLst>
            </a:pPr>
            <a:r>
              <a:rPr lang="en-US" sz="3200" dirty="0">
                <a:solidFill>
                  <a:schemeClr val="accent5">
                    <a:lumMod val="40000"/>
                    <a:lumOff val="60000"/>
                  </a:schemeClr>
                </a:solidFill>
              </a:rPr>
              <a:t>Research gap - CPU-only attacker realism</a:t>
            </a:r>
          </a:p>
        </p:txBody>
      </p:sp>
      <p:pic>
        <p:nvPicPr>
          <p:cNvPr id="3" name="Picture 2" descr="A logo of a lock&#10;&#10;AI-generated content may be incorrect.">
            <a:extLst>
              <a:ext uri="{FF2B5EF4-FFF2-40B4-BE49-F238E27FC236}">
                <a16:creationId xmlns:a16="http://schemas.microsoft.com/office/drawing/2014/main" id="{53BB578D-1A68-B685-4C32-16A8958307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81872" y="1243199"/>
            <a:ext cx="1714503" cy="3710616"/>
          </a:xfrm>
          <a:prstGeom prst="rect">
            <a:avLst/>
          </a:prstGeom>
        </p:spPr>
      </p:pic>
      <p:pic>
        <p:nvPicPr>
          <p:cNvPr id="6" name="Picture 5" descr="A grey square with a check mark&#10;&#10;AI-generated content may be incorrect.">
            <a:extLst>
              <a:ext uri="{FF2B5EF4-FFF2-40B4-BE49-F238E27FC236}">
                <a16:creationId xmlns:a16="http://schemas.microsoft.com/office/drawing/2014/main" id="{D42B026F-A42D-5BA6-23F2-D9692F2105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86936" y="1243200"/>
            <a:ext cx="1702214" cy="3684018"/>
          </a:xfrm>
          <a:prstGeom prst="rect">
            <a:avLst/>
          </a:prstGeom>
        </p:spPr>
      </p:pic>
    </p:spTree>
    <p:extLst>
      <p:ext uri="{BB962C8B-B14F-4D97-AF65-F5344CB8AC3E}">
        <p14:creationId xmlns:p14="http://schemas.microsoft.com/office/powerpoint/2010/main" val="3920827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AF5C1BE-945F-B823-52F2-2C1C19FCDF37}"/>
              </a:ext>
            </a:extLst>
          </p:cNvPr>
          <p:cNvPicPr>
            <a:picLocks noChangeAspect="1"/>
          </p:cNvPicPr>
          <p:nvPr/>
        </p:nvPicPr>
        <p:blipFill rotWithShape="1">
          <a:blip r:embed="rId3">
            <a:extLst>
              <a:ext uri="{28A0092B-C50C-407E-A947-70E740481C1C}">
                <a14:useLocalDpi xmlns:a14="http://schemas.microsoft.com/office/drawing/2010/main" val="0"/>
              </a:ext>
            </a:extLst>
          </a:blip>
          <a:srcRect l="686" t="387" r="45497" b="41586"/>
          <a:stretch/>
        </p:blipFill>
        <p:spPr>
          <a:xfrm>
            <a:off x="0" y="0"/>
            <a:ext cx="12192000" cy="6791325"/>
          </a:xfrm>
          <a:prstGeom prst="rect">
            <a:avLst/>
          </a:prstGeom>
        </p:spPr>
      </p:pic>
      <p:sp>
        <p:nvSpPr>
          <p:cNvPr id="7" name="TextBox 6">
            <a:extLst>
              <a:ext uri="{FF2B5EF4-FFF2-40B4-BE49-F238E27FC236}">
                <a16:creationId xmlns:a16="http://schemas.microsoft.com/office/drawing/2014/main" id="{2428365F-2015-F3B2-D740-9108F166E083}"/>
              </a:ext>
            </a:extLst>
          </p:cNvPr>
          <p:cNvSpPr txBox="1"/>
          <p:nvPr/>
        </p:nvSpPr>
        <p:spPr>
          <a:xfrm>
            <a:off x="503901" y="229136"/>
            <a:ext cx="4249254" cy="707886"/>
          </a:xfrm>
          <a:prstGeom prst="rect">
            <a:avLst/>
          </a:prstGeom>
          <a:noFill/>
        </p:spPr>
        <p:txBody>
          <a:bodyPr wrap="square" rtlCol="0">
            <a:spAutoFit/>
          </a:bodyPr>
          <a:lstStyle/>
          <a:p>
            <a:r>
              <a:rPr lang="en-IN" sz="4000" dirty="0">
                <a:solidFill>
                  <a:schemeClr val="bg1"/>
                </a:solidFill>
                <a:latin typeface="Times New Roman" panose="02020603050405020304" pitchFamily="18" charset="0"/>
                <a:cs typeface="Times New Roman" panose="02020603050405020304" pitchFamily="18" charset="0"/>
              </a:rPr>
              <a:t>Research Questions</a:t>
            </a:r>
          </a:p>
        </p:txBody>
      </p:sp>
      <p:graphicFrame>
        <p:nvGraphicFramePr>
          <p:cNvPr id="3" name="Diagram 2">
            <a:extLst>
              <a:ext uri="{FF2B5EF4-FFF2-40B4-BE49-F238E27FC236}">
                <a16:creationId xmlns:a16="http://schemas.microsoft.com/office/drawing/2014/main" id="{E0733E85-B42D-19BA-953E-E855AD7D0EB9}"/>
              </a:ext>
            </a:extLst>
          </p:cNvPr>
          <p:cNvGraphicFramePr/>
          <p:nvPr>
            <p:extLst>
              <p:ext uri="{D42A27DB-BD31-4B8C-83A1-F6EECF244321}">
                <p14:modId xmlns:p14="http://schemas.microsoft.com/office/powerpoint/2010/main" val="2390550604"/>
              </p:ext>
            </p:extLst>
          </p:nvPr>
        </p:nvGraphicFramePr>
        <p:xfrm>
          <a:off x="503901" y="1057923"/>
          <a:ext cx="10574595" cy="356315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047227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9C09D-5DDB-57E2-D9D1-5D9CBDE62C0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DAFB5DF-689D-1E8B-8A4A-66A55079FDF7}"/>
              </a:ext>
            </a:extLst>
          </p:cNvPr>
          <p:cNvPicPr>
            <a:picLocks noChangeAspect="1"/>
          </p:cNvPicPr>
          <p:nvPr/>
        </p:nvPicPr>
        <p:blipFill rotWithShape="1">
          <a:blip r:embed="rId3">
            <a:extLst>
              <a:ext uri="{28A0092B-C50C-407E-A947-70E740481C1C}">
                <a14:useLocalDpi xmlns:a14="http://schemas.microsoft.com/office/drawing/2010/main" val="0"/>
              </a:ext>
            </a:extLst>
          </a:blip>
          <a:srcRect l="686" t="387" r="45497" b="41586"/>
          <a:stretch/>
        </p:blipFill>
        <p:spPr>
          <a:xfrm>
            <a:off x="0" y="-18416"/>
            <a:ext cx="12192000" cy="6800216"/>
          </a:xfrm>
          <a:prstGeom prst="rect">
            <a:avLst/>
          </a:prstGeom>
        </p:spPr>
      </p:pic>
      <p:sp>
        <p:nvSpPr>
          <p:cNvPr id="7" name="TextBox 6">
            <a:extLst>
              <a:ext uri="{FF2B5EF4-FFF2-40B4-BE49-F238E27FC236}">
                <a16:creationId xmlns:a16="http://schemas.microsoft.com/office/drawing/2014/main" id="{E3E7D2CD-F7E2-A1EB-A1F4-6B84DBCE72C8}"/>
              </a:ext>
            </a:extLst>
          </p:cNvPr>
          <p:cNvSpPr txBox="1"/>
          <p:nvPr/>
        </p:nvSpPr>
        <p:spPr>
          <a:xfrm>
            <a:off x="586741" y="220428"/>
            <a:ext cx="7384068" cy="707886"/>
          </a:xfrm>
          <a:prstGeom prst="rect">
            <a:avLst/>
          </a:prstGeom>
          <a:noFill/>
        </p:spPr>
        <p:txBody>
          <a:bodyPr wrap="square" rtlCol="0">
            <a:spAutoFit/>
          </a:bodyPr>
          <a:lstStyle/>
          <a:p>
            <a:r>
              <a:rPr lang="en-IN" sz="4000" dirty="0">
                <a:solidFill>
                  <a:schemeClr val="bg1"/>
                </a:solidFill>
                <a:latin typeface="Times New Roman" panose="02020603050405020304" pitchFamily="18" charset="0"/>
                <a:cs typeface="Times New Roman" panose="02020603050405020304" pitchFamily="18" charset="0"/>
              </a:rPr>
              <a:t>Research Objectives</a:t>
            </a:r>
          </a:p>
        </p:txBody>
      </p:sp>
      <p:graphicFrame>
        <p:nvGraphicFramePr>
          <p:cNvPr id="2" name="Diagram 1">
            <a:extLst>
              <a:ext uri="{FF2B5EF4-FFF2-40B4-BE49-F238E27FC236}">
                <a16:creationId xmlns:a16="http://schemas.microsoft.com/office/drawing/2014/main" id="{C827FB42-23FA-02DB-4092-09570ACE7539}"/>
              </a:ext>
            </a:extLst>
          </p:cNvPr>
          <p:cNvGraphicFramePr/>
          <p:nvPr>
            <p:extLst>
              <p:ext uri="{D42A27DB-BD31-4B8C-83A1-F6EECF244321}">
                <p14:modId xmlns:p14="http://schemas.microsoft.com/office/powerpoint/2010/main" val="3401984024"/>
              </p:ext>
            </p:extLst>
          </p:nvPr>
        </p:nvGraphicFramePr>
        <p:xfrm>
          <a:off x="586741" y="1303020"/>
          <a:ext cx="11243309" cy="304609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046431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0BA73-CBC9-FF09-EC64-94C44D5BE20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0231A84-67FA-2500-E6C2-FA96168501BF}"/>
              </a:ext>
            </a:extLst>
          </p:cNvPr>
          <p:cNvPicPr>
            <a:picLocks noChangeAspect="1"/>
          </p:cNvPicPr>
          <p:nvPr/>
        </p:nvPicPr>
        <p:blipFill rotWithShape="1">
          <a:blip r:embed="rId3">
            <a:extLst>
              <a:ext uri="{28A0092B-C50C-407E-A947-70E740481C1C}">
                <a14:useLocalDpi xmlns:a14="http://schemas.microsoft.com/office/drawing/2010/main" val="0"/>
              </a:ext>
            </a:extLst>
          </a:blip>
          <a:srcRect l="686" t="387" r="45497" b="41586"/>
          <a:stretch/>
        </p:blipFill>
        <p:spPr>
          <a:xfrm>
            <a:off x="0" y="-15998"/>
            <a:ext cx="12192000" cy="6807323"/>
          </a:xfrm>
          <a:prstGeom prst="rect">
            <a:avLst/>
          </a:prstGeom>
        </p:spPr>
      </p:pic>
      <p:sp>
        <p:nvSpPr>
          <p:cNvPr id="7" name="TextBox 6">
            <a:extLst>
              <a:ext uri="{FF2B5EF4-FFF2-40B4-BE49-F238E27FC236}">
                <a16:creationId xmlns:a16="http://schemas.microsoft.com/office/drawing/2014/main" id="{5C22BAFC-0494-4D8F-41BA-FE2C9A6B9D11}"/>
              </a:ext>
            </a:extLst>
          </p:cNvPr>
          <p:cNvSpPr txBox="1"/>
          <p:nvPr/>
        </p:nvSpPr>
        <p:spPr>
          <a:xfrm>
            <a:off x="586739" y="290096"/>
            <a:ext cx="6954797" cy="707886"/>
          </a:xfrm>
          <a:prstGeom prst="rect">
            <a:avLst/>
          </a:prstGeom>
          <a:noFill/>
        </p:spPr>
        <p:txBody>
          <a:bodyPr wrap="square" rtlCol="0">
            <a:spAutoFit/>
          </a:bodyPr>
          <a:lstStyle/>
          <a:p>
            <a:r>
              <a:rPr lang="en-IN" sz="4000" dirty="0">
                <a:solidFill>
                  <a:schemeClr val="bg1"/>
                </a:solidFill>
                <a:latin typeface="Times New Roman" panose="02020603050405020304" pitchFamily="18" charset="0"/>
                <a:cs typeface="Times New Roman" panose="02020603050405020304" pitchFamily="18" charset="0"/>
              </a:rPr>
              <a:t>Literature Review (Background)</a:t>
            </a:r>
          </a:p>
        </p:txBody>
      </p:sp>
      <p:graphicFrame>
        <p:nvGraphicFramePr>
          <p:cNvPr id="10" name="TextBox 7">
            <a:extLst>
              <a:ext uri="{FF2B5EF4-FFF2-40B4-BE49-F238E27FC236}">
                <a16:creationId xmlns:a16="http://schemas.microsoft.com/office/drawing/2014/main" id="{BC832ABF-8B5A-97F0-CDB6-94F547AB9BBA}"/>
              </a:ext>
            </a:extLst>
          </p:cNvPr>
          <p:cNvGraphicFramePr/>
          <p:nvPr>
            <p:extLst>
              <p:ext uri="{D42A27DB-BD31-4B8C-83A1-F6EECF244321}">
                <p14:modId xmlns:p14="http://schemas.microsoft.com/office/powerpoint/2010/main" val="126957001"/>
              </p:ext>
            </p:extLst>
          </p:nvPr>
        </p:nvGraphicFramePr>
        <p:xfrm>
          <a:off x="586739" y="1304076"/>
          <a:ext cx="10838906" cy="304609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638663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F4447-397E-B006-F0DA-9D6368E05CB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8592B14-3F3D-09EF-73D5-0CC70AC0645A}"/>
              </a:ext>
            </a:extLst>
          </p:cNvPr>
          <p:cNvPicPr>
            <a:picLocks noChangeAspect="1"/>
          </p:cNvPicPr>
          <p:nvPr/>
        </p:nvPicPr>
        <p:blipFill rotWithShape="1">
          <a:blip r:embed="rId3">
            <a:extLst>
              <a:ext uri="{28A0092B-C50C-407E-A947-70E740481C1C}">
                <a14:useLocalDpi xmlns:a14="http://schemas.microsoft.com/office/drawing/2010/main" val="0"/>
              </a:ext>
            </a:extLst>
          </a:blip>
          <a:srcRect l="686" t="387" r="45497" b="41586"/>
          <a:stretch/>
        </p:blipFill>
        <p:spPr>
          <a:xfrm>
            <a:off x="0" y="-187448"/>
            <a:ext cx="12192000" cy="6969248"/>
          </a:xfrm>
          <a:prstGeom prst="rect">
            <a:avLst/>
          </a:prstGeom>
        </p:spPr>
      </p:pic>
      <p:sp>
        <p:nvSpPr>
          <p:cNvPr id="7" name="TextBox 6">
            <a:extLst>
              <a:ext uri="{FF2B5EF4-FFF2-40B4-BE49-F238E27FC236}">
                <a16:creationId xmlns:a16="http://schemas.microsoft.com/office/drawing/2014/main" id="{24D4472D-EE43-9286-EE6A-81629EE7EA26}"/>
              </a:ext>
            </a:extLst>
          </p:cNvPr>
          <p:cNvSpPr txBox="1"/>
          <p:nvPr/>
        </p:nvSpPr>
        <p:spPr>
          <a:xfrm>
            <a:off x="586740" y="290096"/>
            <a:ext cx="4922520" cy="707886"/>
          </a:xfrm>
          <a:prstGeom prst="rect">
            <a:avLst/>
          </a:prstGeom>
          <a:noFill/>
        </p:spPr>
        <p:txBody>
          <a:bodyPr wrap="square" rtlCol="0">
            <a:spAutoFit/>
          </a:bodyPr>
          <a:lstStyle/>
          <a:p>
            <a:r>
              <a:rPr lang="en-IN" sz="4000" dirty="0">
                <a:solidFill>
                  <a:schemeClr val="bg1"/>
                </a:solidFill>
                <a:latin typeface="Times New Roman" panose="02020603050405020304" pitchFamily="18" charset="0"/>
                <a:cs typeface="Times New Roman" panose="02020603050405020304" pitchFamily="18" charset="0"/>
              </a:rPr>
              <a:t>Contributions</a:t>
            </a:r>
          </a:p>
        </p:txBody>
      </p:sp>
      <p:graphicFrame>
        <p:nvGraphicFramePr>
          <p:cNvPr id="10" name="TextBox 7">
            <a:extLst>
              <a:ext uri="{FF2B5EF4-FFF2-40B4-BE49-F238E27FC236}">
                <a16:creationId xmlns:a16="http://schemas.microsoft.com/office/drawing/2014/main" id="{FA7D42D5-6F5F-8340-9550-51DA13D2C7F4}"/>
              </a:ext>
            </a:extLst>
          </p:cNvPr>
          <p:cNvGraphicFramePr/>
          <p:nvPr>
            <p:extLst>
              <p:ext uri="{D42A27DB-BD31-4B8C-83A1-F6EECF244321}">
                <p14:modId xmlns:p14="http://schemas.microsoft.com/office/powerpoint/2010/main" val="1783465196"/>
              </p:ext>
            </p:extLst>
          </p:nvPr>
        </p:nvGraphicFramePr>
        <p:xfrm>
          <a:off x="586741" y="1248321"/>
          <a:ext cx="10838906" cy="363702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146001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48C25-63DB-51E0-CE31-02E75252CFF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809530D-ACA6-919A-7271-2BA623A6FFBD}"/>
              </a:ext>
            </a:extLst>
          </p:cNvPr>
          <p:cNvPicPr>
            <a:picLocks noChangeAspect="1"/>
          </p:cNvPicPr>
          <p:nvPr/>
        </p:nvPicPr>
        <p:blipFill rotWithShape="1">
          <a:blip r:embed="rId3">
            <a:extLst>
              <a:ext uri="{28A0092B-C50C-407E-A947-70E740481C1C}">
                <a14:useLocalDpi xmlns:a14="http://schemas.microsoft.com/office/drawing/2010/main" val="0"/>
              </a:ext>
            </a:extLst>
          </a:blip>
          <a:srcRect l="686" t="387" r="45497" b="41586"/>
          <a:stretch/>
        </p:blipFill>
        <p:spPr>
          <a:xfrm>
            <a:off x="0" y="0"/>
            <a:ext cx="12192000" cy="6781800"/>
          </a:xfrm>
          <a:prstGeom prst="rect">
            <a:avLst/>
          </a:prstGeom>
        </p:spPr>
      </p:pic>
      <p:sp>
        <p:nvSpPr>
          <p:cNvPr id="7" name="TextBox 6">
            <a:extLst>
              <a:ext uri="{FF2B5EF4-FFF2-40B4-BE49-F238E27FC236}">
                <a16:creationId xmlns:a16="http://schemas.microsoft.com/office/drawing/2014/main" id="{131D7CBD-1F40-1B15-D38A-F26D5CB48ABF}"/>
              </a:ext>
            </a:extLst>
          </p:cNvPr>
          <p:cNvSpPr txBox="1"/>
          <p:nvPr/>
        </p:nvSpPr>
        <p:spPr>
          <a:xfrm>
            <a:off x="586740" y="290096"/>
            <a:ext cx="4922520" cy="707886"/>
          </a:xfrm>
          <a:prstGeom prst="rect">
            <a:avLst/>
          </a:prstGeom>
          <a:noFill/>
        </p:spPr>
        <p:txBody>
          <a:bodyPr wrap="square" rtlCol="0">
            <a:spAutoFit/>
          </a:bodyPr>
          <a:lstStyle/>
          <a:p>
            <a:r>
              <a:rPr lang="en-IN" sz="4000">
                <a:solidFill>
                  <a:schemeClr val="bg1"/>
                </a:solidFill>
                <a:latin typeface="Times New Roman" panose="02020603050405020304" pitchFamily="18" charset="0"/>
                <a:cs typeface="Times New Roman" panose="02020603050405020304" pitchFamily="18" charset="0"/>
              </a:rPr>
              <a:t>Threat Model</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7B118A0-8905-B9E6-8BF1-EF629AFDA8E4}"/>
              </a:ext>
            </a:extLst>
          </p:cNvPr>
          <p:cNvSpPr txBox="1"/>
          <p:nvPr/>
        </p:nvSpPr>
        <p:spPr>
          <a:xfrm>
            <a:off x="586741" y="1248321"/>
            <a:ext cx="10838906" cy="2442335"/>
          </a:xfrm>
          <a:prstGeom prst="rect">
            <a:avLst/>
          </a:prstGeom>
          <a:noFill/>
        </p:spPr>
        <p:txBody>
          <a:bodyPr wrap="square" rtlCol="0">
            <a:spAutoFit/>
          </a:bodyPr>
          <a:lstStyle/>
          <a:p>
            <a:pPr marR="5080">
              <a:lnSpc>
                <a:spcPct val="119800"/>
              </a:lnSpc>
              <a:spcBef>
                <a:spcPts val="105"/>
              </a:spcBef>
              <a:buClr>
                <a:srgbClr val="90C225"/>
              </a:buClr>
              <a:buSzPct val="50000"/>
              <a:tabLst>
                <a:tab pos="469265" algn="l"/>
                <a:tab pos="469900" algn="l"/>
              </a:tabLst>
            </a:pPr>
            <a:r>
              <a:rPr lang="en-US" sz="3200" dirty="0">
                <a:solidFill>
                  <a:schemeClr val="accent5">
                    <a:lumMod val="40000"/>
                    <a:lumOff val="60000"/>
                  </a:schemeClr>
                </a:solidFill>
              </a:rPr>
              <a:t>• Adversary goal: unauthorised access using synthetic media</a:t>
            </a:r>
            <a:endParaRPr lang="en-IE" sz="3200" dirty="0">
              <a:solidFill>
                <a:schemeClr val="accent5">
                  <a:lumMod val="40000"/>
                  <a:lumOff val="60000"/>
                </a:schemeClr>
              </a:solidFill>
            </a:endParaRPr>
          </a:p>
          <a:p>
            <a:pPr marR="5080">
              <a:lnSpc>
                <a:spcPct val="119800"/>
              </a:lnSpc>
              <a:spcBef>
                <a:spcPts val="105"/>
              </a:spcBef>
              <a:buClr>
                <a:srgbClr val="90C225"/>
              </a:buClr>
              <a:buSzPct val="50000"/>
              <a:tabLst>
                <a:tab pos="469265" algn="l"/>
                <a:tab pos="469900" algn="l"/>
              </a:tabLst>
            </a:pPr>
            <a:r>
              <a:rPr lang="en-US" sz="3200" dirty="0">
                <a:solidFill>
                  <a:schemeClr val="accent5">
                    <a:lumMod val="40000"/>
                    <a:lumOff val="60000"/>
                  </a:schemeClr>
                </a:solidFill>
              </a:rPr>
              <a:t>• Attack vector: video injection, replay, or pre-generated deepfakes</a:t>
            </a:r>
          </a:p>
          <a:p>
            <a:pPr marR="5080">
              <a:lnSpc>
                <a:spcPct val="119800"/>
              </a:lnSpc>
              <a:spcBef>
                <a:spcPts val="105"/>
              </a:spcBef>
              <a:buClr>
                <a:srgbClr val="90C225"/>
              </a:buClr>
              <a:buSzPct val="50000"/>
              <a:tabLst>
                <a:tab pos="469265" algn="l"/>
                <a:tab pos="469900" algn="l"/>
              </a:tabLst>
            </a:pPr>
            <a:r>
              <a:rPr lang="en-US" sz="3200" dirty="0">
                <a:solidFill>
                  <a:schemeClr val="accent5">
                    <a:lumMod val="40000"/>
                    <a:lumOff val="60000"/>
                  </a:schemeClr>
                </a:solidFill>
              </a:rPr>
              <a:t>• Target: systems relying on single-factor facial authentication</a:t>
            </a:r>
          </a:p>
        </p:txBody>
      </p:sp>
      <p:graphicFrame>
        <p:nvGraphicFramePr>
          <p:cNvPr id="6" name="Diagram 5">
            <a:extLst>
              <a:ext uri="{FF2B5EF4-FFF2-40B4-BE49-F238E27FC236}">
                <a16:creationId xmlns:a16="http://schemas.microsoft.com/office/drawing/2014/main" id="{DA326A7F-9112-5FC1-A2EB-0DBBF3874BF9}"/>
              </a:ext>
            </a:extLst>
          </p:cNvPr>
          <p:cNvGraphicFramePr/>
          <p:nvPr>
            <p:extLst>
              <p:ext uri="{D42A27DB-BD31-4B8C-83A1-F6EECF244321}">
                <p14:modId xmlns:p14="http://schemas.microsoft.com/office/powerpoint/2010/main" val="2286344396"/>
              </p:ext>
            </p:extLst>
          </p:nvPr>
        </p:nvGraphicFramePr>
        <p:xfrm>
          <a:off x="676547" y="2562259"/>
          <a:ext cx="10838906" cy="48445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78558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AF5C1BE-945F-B823-52F2-2C1C19FCDF37}"/>
              </a:ext>
            </a:extLst>
          </p:cNvPr>
          <p:cNvPicPr>
            <a:picLocks noChangeAspect="1"/>
          </p:cNvPicPr>
          <p:nvPr/>
        </p:nvPicPr>
        <p:blipFill rotWithShape="1">
          <a:blip r:embed="rId3">
            <a:extLst>
              <a:ext uri="{28A0092B-C50C-407E-A947-70E740481C1C}">
                <a14:useLocalDpi xmlns:a14="http://schemas.microsoft.com/office/drawing/2010/main" val="0"/>
              </a:ext>
            </a:extLst>
          </a:blip>
          <a:srcRect l="686" t="387" r="45497" b="41586"/>
          <a:stretch/>
        </p:blipFill>
        <p:spPr>
          <a:xfrm>
            <a:off x="0" y="2108"/>
            <a:ext cx="12192000" cy="6789217"/>
          </a:xfrm>
          <a:prstGeom prst="rect">
            <a:avLst/>
          </a:prstGeom>
        </p:spPr>
      </p:pic>
      <p:sp>
        <p:nvSpPr>
          <p:cNvPr id="7" name="TextBox 6">
            <a:extLst>
              <a:ext uri="{FF2B5EF4-FFF2-40B4-BE49-F238E27FC236}">
                <a16:creationId xmlns:a16="http://schemas.microsoft.com/office/drawing/2014/main" id="{2428365F-2015-F3B2-D740-9108F166E083}"/>
              </a:ext>
            </a:extLst>
          </p:cNvPr>
          <p:cNvSpPr txBox="1"/>
          <p:nvPr/>
        </p:nvSpPr>
        <p:spPr>
          <a:xfrm>
            <a:off x="586740" y="290096"/>
            <a:ext cx="4922520" cy="707886"/>
          </a:xfrm>
          <a:prstGeom prst="rect">
            <a:avLst/>
          </a:prstGeom>
          <a:noFill/>
        </p:spPr>
        <p:txBody>
          <a:bodyPr wrap="square" rtlCol="0">
            <a:spAutoFit/>
          </a:bodyPr>
          <a:lstStyle/>
          <a:p>
            <a:r>
              <a:rPr lang="en-IE" sz="4000" dirty="0">
                <a:solidFill>
                  <a:schemeClr val="bg1"/>
                </a:solidFill>
                <a:latin typeface="Times New Roman" panose="02020603050405020304" pitchFamily="18" charset="0"/>
                <a:cs typeface="Times New Roman" panose="02020603050405020304" pitchFamily="18" charset="0"/>
              </a:rPr>
              <a:t>Methodology / Design</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DA1319E-D706-C6E3-98D7-BBFE314B5FB6}"/>
              </a:ext>
            </a:extLst>
          </p:cNvPr>
          <p:cNvSpPr txBox="1"/>
          <p:nvPr/>
        </p:nvSpPr>
        <p:spPr>
          <a:xfrm>
            <a:off x="586741" y="1248321"/>
            <a:ext cx="10838906" cy="3058914"/>
          </a:xfrm>
          <a:prstGeom prst="rect">
            <a:avLst/>
          </a:prstGeom>
          <a:noFill/>
        </p:spPr>
        <p:txBody>
          <a:bodyPr wrap="square" rtlCol="0">
            <a:spAutoFit/>
          </a:bodyPr>
          <a:lstStyle/>
          <a:p>
            <a:pPr marL="514350" marR="5080" indent="-514350">
              <a:lnSpc>
                <a:spcPct val="119800"/>
              </a:lnSpc>
              <a:spcBef>
                <a:spcPts val="105"/>
              </a:spcBef>
              <a:buClr>
                <a:srgbClr val="90C225"/>
              </a:buClr>
              <a:buSzPct val="50000"/>
              <a:buFont typeface="+mj-lt"/>
              <a:buAutoNum type="arabicPeriod"/>
              <a:tabLst>
                <a:tab pos="469265" algn="l"/>
                <a:tab pos="469900" algn="l"/>
              </a:tabLst>
            </a:pPr>
            <a:r>
              <a:rPr lang="en-US" sz="3200" dirty="0">
                <a:solidFill>
                  <a:schemeClr val="accent5">
                    <a:lumMod val="40000"/>
                    <a:lumOff val="60000"/>
                  </a:schemeClr>
                </a:solidFill>
              </a:rPr>
              <a:t>Data collection (own biometrics)</a:t>
            </a:r>
          </a:p>
          <a:p>
            <a:pPr marL="514350" marR="5080" indent="-514350">
              <a:lnSpc>
                <a:spcPct val="119800"/>
              </a:lnSpc>
              <a:spcBef>
                <a:spcPts val="105"/>
              </a:spcBef>
              <a:buClr>
                <a:srgbClr val="90C225"/>
              </a:buClr>
              <a:buSzPct val="50000"/>
              <a:buFont typeface="+mj-lt"/>
              <a:buAutoNum type="arabicPeriod"/>
              <a:tabLst>
                <a:tab pos="469265" algn="l"/>
                <a:tab pos="469900" algn="l"/>
              </a:tabLst>
            </a:pPr>
            <a:r>
              <a:rPr lang="en-US" sz="3200" dirty="0">
                <a:solidFill>
                  <a:schemeClr val="accent5">
                    <a:lumMod val="40000"/>
                    <a:lumOff val="60000"/>
                  </a:schemeClr>
                </a:solidFill>
              </a:rPr>
              <a:t>Tool selection (DFL, FaceSwap, FaceFusion)</a:t>
            </a:r>
          </a:p>
          <a:p>
            <a:pPr marL="514350" marR="5080" indent="-514350">
              <a:lnSpc>
                <a:spcPct val="119800"/>
              </a:lnSpc>
              <a:spcBef>
                <a:spcPts val="105"/>
              </a:spcBef>
              <a:buClr>
                <a:srgbClr val="90C225"/>
              </a:buClr>
              <a:buSzPct val="50000"/>
              <a:buFont typeface="+mj-lt"/>
              <a:buAutoNum type="arabicPeriod"/>
              <a:tabLst>
                <a:tab pos="469265" algn="l"/>
                <a:tab pos="469900" algn="l"/>
              </a:tabLst>
            </a:pPr>
            <a:r>
              <a:rPr lang="en-US" sz="3200" dirty="0">
                <a:solidFill>
                  <a:schemeClr val="accent5">
                    <a:lumMod val="40000"/>
                    <a:lumOff val="60000"/>
                  </a:schemeClr>
                </a:solidFill>
              </a:rPr>
              <a:t>Deepfake generation &amp; training</a:t>
            </a:r>
          </a:p>
          <a:p>
            <a:pPr marL="514350" marR="5080" indent="-514350">
              <a:lnSpc>
                <a:spcPct val="119800"/>
              </a:lnSpc>
              <a:spcBef>
                <a:spcPts val="105"/>
              </a:spcBef>
              <a:buClr>
                <a:srgbClr val="90C225"/>
              </a:buClr>
              <a:buSzPct val="50000"/>
              <a:buFont typeface="+mj-lt"/>
              <a:buAutoNum type="arabicPeriod"/>
              <a:tabLst>
                <a:tab pos="469265" algn="l"/>
                <a:tab pos="469900" algn="l"/>
              </a:tabLst>
            </a:pPr>
            <a:r>
              <a:rPr lang="en-US" sz="3200" dirty="0">
                <a:solidFill>
                  <a:schemeClr val="accent5">
                    <a:lumMod val="40000"/>
                    <a:lumOff val="60000"/>
                  </a:schemeClr>
                </a:solidFill>
              </a:rPr>
              <a:t>Spoof attempts (iPhone, Samsung, Windows Hello)</a:t>
            </a:r>
          </a:p>
          <a:p>
            <a:pPr marL="514350" marR="5080" indent="-514350">
              <a:lnSpc>
                <a:spcPct val="119800"/>
              </a:lnSpc>
              <a:spcBef>
                <a:spcPts val="105"/>
              </a:spcBef>
              <a:buClr>
                <a:srgbClr val="90C225"/>
              </a:buClr>
              <a:buSzPct val="50000"/>
              <a:buFont typeface="+mj-lt"/>
              <a:buAutoNum type="arabicPeriod"/>
              <a:tabLst>
                <a:tab pos="469265" algn="l"/>
                <a:tab pos="469900" algn="l"/>
              </a:tabLst>
            </a:pPr>
            <a:r>
              <a:rPr lang="en-US" sz="3200" dirty="0">
                <a:solidFill>
                  <a:schemeClr val="accent5">
                    <a:lumMod val="40000"/>
                    <a:lumOff val="60000"/>
                  </a:schemeClr>
                </a:solidFill>
              </a:rPr>
              <a:t>Evaluation (detection tools + manual review)</a:t>
            </a:r>
          </a:p>
        </p:txBody>
      </p:sp>
    </p:spTree>
    <p:extLst>
      <p:ext uri="{BB962C8B-B14F-4D97-AF65-F5344CB8AC3E}">
        <p14:creationId xmlns:p14="http://schemas.microsoft.com/office/powerpoint/2010/main" val="2185997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C656A-8073-4521-EA6A-E842E94F67A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7A2F3C6-12E2-9A09-45CD-6EB225974919}"/>
              </a:ext>
            </a:extLst>
          </p:cNvPr>
          <p:cNvPicPr>
            <a:picLocks noChangeAspect="1"/>
          </p:cNvPicPr>
          <p:nvPr/>
        </p:nvPicPr>
        <p:blipFill rotWithShape="1">
          <a:blip r:embed="rId3">
            <a:extLst>
              <a:ext uri="{28A0092B-C50C-407E-A947-70E740481C1C}">
                <a14:useLocalDpi xmlns:a14="http://schemas.microsoft.com/office/drawing/2010/main" val="0"/>
              </a:ext>
            </a:extLst>
          </a:blip>
          <a:srcRect l="686" t="387" r="45497" b="41586"/>
          <a:stretch/>
        </p:blipFill>
        <p:spPr>
          <a:xfrm>
            <a:off x="0" y="-15998"/>
            <a:ext cx="12192000" cy="6807323"/>
          </a:xfrm>
          <a:prstGeom prst="rect">
            <a:avLst/>
          </a:prstGeom>
        </p:spPr>
      </p:pic>
      <p:sp>
        <p:nvSpPr>
          <p:cNvPr id="7" name="TextBox 6">
            <a:extLst>
              <a:ext uri="{FF2B5EF4-FFF2-40B4-BE49-F238E27FC236}">
                <a16:creationId xmlns:a16="http://schemas.microsoft.com/office/drawing/2014/main" id="{3159B599-22F9-09AE-182B-3198A9234325}"/>
              </a:ext>
            </a:extLst>
          </p:cNvPr>
          <p:cNvSpPr txBox="1"/>
          <p:nvPr/>
        </p:nvSpPr>
        <p:spPr>
          <a:xfrm>
            <a:off x="586740" y="290096"/>
            <a:ext cx="4922520" cy="707886"/>
          </a:xfrm>
          <a:prstGeom prst="rect">
            <a:avLst/>
          </a:prstGeom>
          <a:noFill/>
        </p:spPr>
        <p:txBody>
          <a:bodyPr wrap="square" rtlCol="0">
            <a:spAutoFit/>
          </a:bodyPr>
          <a:lstStyle/>
          <a:p>
            <a:r>
              <a:rPr lang="en-IN" sz="4000" dirty="0">
                <a:solidFill>
                  <a:schemeClr val="bg1"/>
                </a:solidFill>
                <a:latin typeface="Times New Roman" panose="02020603050405020304" pitchFamily="18" charset="0"/>
                <a:cs typeface="Times New Roman" panose="02020603050405020304" pitchFamily="18" charset="0"/>
              </a:rPr>
              <a:t>Implementation</a:t>
            </a:r>
          </a:p>
        </p:txBody>
      </p:sp>
      <p:graphicFrame>
        <p:nvGraphicFramePr>
          <p:cNvPr id="10" name="TextBox 7">
            <a:extLst>
              <a:ext uri="{FF2B5EF4-FFF2-40B4-BE49-F238E27FC236}">
                <a16:creationId xmlns:a16="http://schemas.microsoft.com/office/drawing/2014/main" id="{1413EB24-9369-5EE4-530A-A745A18338EF}"/>
              </a:ext>
            </a:extLst>
          </p:cNvPr>
          <p:cNvGraphicFramePr/>
          <p:nvPr>
            <p:extLst>
              <p:ext uri="{D42A27DB-BD31-4B8C-83A1-F6EECF244321}">
                <p14:modId xmlns:p14="http://schemas.microsoft.com/office/powerpoint/2010/main" val="1419862636"/>
              </p:ext>
            </p:extLst>
          </p:nvPr>
        </p:nvGraphicFramePr>
        <p:xfrm>
          <a:off x="586740" y="1304076"/>
          <a:ext cx="10838906" cy="363702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350979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A9305-0E07-20B7-8088-D82027F5C6A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F96AA07-6B0D-37BF-67FC-DE1E4F7F8B09}"/>
              </a:ext>
            </a:extLst>
          </p:cNvPr>
          <p:cNvPicPr>
            <a:picLocks noChangeAspect="1"/>
          </p:cNvPicPr>
          <p:nvPr/>
        </p:nvPicPr>
        <p:blipFill rotWithShape="1">
          <a:blip r:embed="rId3">
            <a:extLst>
              <a:ext uri="{28A0092B-C50C-407E-A947-70E740481C1C}">
                <a14:useLocalDpi xmlns:a14="http://schemas.microsoft.com/office/drawing/2010/main" val="0"/>
              </a:ext>
            </a:extLst>
          </a:blip>
          <a:srcRect l="686" t="387" r="45497" b="41586"/>
          <a:stretch/>
        </p:blipFill>
        <p:spPr>
          <a:xfrm>
            <a:off x="0" y="-15998"/>
            <a:ext cx="12192000" cy="6797798"/>
          </a:xfrm>
          <a:prstGeom prst="rect">
            <a:avLst/>
          </a:prstGeom>
        </p:spPr>
      </p:pic>
      <p:sp>
        <p:nvSpPr>
          <p:cNvPr id="7" name="TextBox 6">
            <a:extLst>
              <a:ext uri="{FF2B5EF4-FFF2-40B4-BE49-F238E27FC236}">
                <a16:creationId xmlns:a16="http://schemas.microsoft.com/office/drawing/2014/main" id="{4FA799FB-DCCB-4CCF-2D4A-791DF000A9F2}"/>
              </a:ext>
            </a:extLst>
          </p:cNvPr>
          <p:cNvSpPr txBox="1"/>
          <p:nvPr/>
        </p:nvSpPr>
        <p:spPr>
          <a:xfrm>
            <a:off x="586740" y="290096"/>
            <a:ext cx="6565498" cy="707886"/>
          </a:xfrm>
          <a:prstGeom prst="rect">
            <a:avLst/>
          </a:prstGeom>
          <a:noFill/>
        </p:spPr>
        <p:txBody>
          <a:bodyPr wrap="square" rtlCol="0">
            <a:spAutoFit/>
          </a:bodyPr>
          <a:lstStyle/>
          <a:p>
            <a:r>
              <a:rPr lang="en-IE" sz="4000" dirty="0">
                <a:solidFill>
                  <a:schemeClr val="bg1"/>
                </a:solidFill>
                <a:latin typeface="Times New Roman" panose="02020603050405020304" pitchFamily="18" charset="0"/>
                <a:cs typeface="Times New Roman" panose="02020603050405020304" pitchFamily="18" charset="0"/>
              </a:rPr>
              <a:t>Results: Spoofing Performance</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D25D544-73C9-FF92-3F82-0A46BD32D233}"/>
              </a:ext>
            </a:extLst>
          </p:cNvPr>
          <p:cNvSpPr txBox="1"/>
          <p:nvPr/>
        </p:nvSpPr>
        <p:spPr>
          <a:xfrm>
            <a:off x="586741" y="1248321"/>
            <a:ext cx="5929562" cy="5353645"/>
          </a:xfrm>
          <a:prstGeom prst="rect">
            <a:avLst/>
          </a:prstGeom>
          <a:noFill/>
        </p:spPr>
        <p:txBody>
          <a:bodyPr wrap="square" rtlCol="0">
            <a:spAutoFit/>
          </a:bodyPr>
          <a:lstStyle/>
          <a:p>
            <a:pPr marR="5080">
              <a:lnSpc>
                <a:spcPct val="119800"/>
              </a:lnSpc>
              <a:spcBef>
                <a:spcPts val="105"/>
              </a:spcBef>
              <a:buClr>
                <a:srgbClr val="90C225"/>
              </a:buClr>
              <a:buSzPct val="50000"/>
              <a:tabLst>
                <a:tab pos="469265" algn="l"/>
                <a:tab pos="469900" algn="l"/>
              </a:tabLst>
            </a:pPr>
            <a:r>
              <a:rPr lang="en-US" sz="3200" dirty="0">
                <a:solidFill>
                  <a:schemeClr val="accent5">
                    <a:lumMod val="40000"/>
                    <a:lumOff val="60000"/>
                  </a:schemeClr>
                </a:solidFill>
              </a:rPr>
              <a:t>• </a:t>
            </a:r>
            <a:r>
              <a:rPr lang="en-US" sz="3200" b="1" dirty="0">
                <a:solidFill>
                  <a:schemeClr val="accent5">
                    <a:lumMod val="40000"/>
                    <a:lumOff val="60000"/>
                  </a:schemeClr>
                </a:solidFill>
              </a:rPr>
              <a:t>FaceFusion:</a:t>
            </a:r>
            <a:r>
              <a:rPr lang="en-US" sz="3200" dirty="0">
                <a:solidFill>
                  <a:schemeClr val="accent5">
                    <a:lumMod val="40000"/>
                    <a:lumOff val="60000"/>
                  </a:schemeClr>
                </a:solidFill>
              </a:rPr>
              <a:t> </a:t>
            </a:r>
            <a:r>
              <a:rPr lang="en-US" sz="3200" b="1" dirty="0">
                <a:solidFill>
                  <a:schemeClr val="accent5">
                    <a:lumMod val="40000"/>
                    <a:lumOff val="60000"/>
                  </a:schemeClr>
                </a:solidFill>
              </a:rPr>
              <a:t>63%</a:t>
            </a:r>
            <a:r>
              <a:rPr lang="en-US" sz="3200" dirty="0">
                <a:solidFill>
                  <a:schemeClr val="accent5">
                    <a:lumMod val="40000"/>
                    <a:lumOff val="60000"/>
                  </a:schemeClr>
                </a:solidFill>
              </a:rPr>
              <a:t> success (iPhone 11 Face ID)</a:t>
            </a:r>
          </a:p>
          <a:p>
            <a:pPr marR="5080">
              <a:lnSpc>
                <a:spcPct val="119800"/>
              </a:lnSpc>
              <a:spcBef>
                <a:spcPts val="105"/>
              </a:spcBef>
              <a:buClr>
                <a:srgbClr val="90C225"/>
              </a:buClr>
              <a:buSzPct val="50000"/>
              <a:tabLst>
                <a:tab pos="469265" algn="l"/>
                <a:tab pos="469900" algn="l"/>
              </a:tabLst>
            </a:pPr>
            <a:r>
              <a:rPr lang="en-US" sz="3200" dirty="0">
                <a:solidFill>
                  <a:schemeClr val="accent5">
                    <a:lumMod val="40000"/>
                    <a:lumOff val="60000"/>
                  </a:schemeClr>
                </a:solidFill>
              </a:rPr>
              <a:t>• </a:t>
            </a:r>
            <a:r>
              <a:rPr lang="en-US" sz="3200" b="1" dirty="0">
                <a:solidFill>
                  <a:schemeClr val="accent5">
                    <a:lumMod val="40000"/>
                    <a:lumOff val="60000"/>
                  </a:schemeClr>
                </a:solidFill>
              </a:rPr>
              <a:t>DeepFaceLab:</a:t>
            </a:r>
            <a:r>
              <a:rPr lang="en-US" sz="3200" dirty="0">
                <a:solidFill>
                  <a:schemeClr val="accent5">
                    <a:lumMod val="40000"/>
                    <a:lumOff val="60000"/>
                  </a:schemeClr>
                </a:solidFill>
              </a:rPr>
              <a:t> </a:t>
            </a:r>
            <a:r>
              <a:rPr lang="en-US" sz="3200" b="1" dirty="0">
                <a:solidFill>
                  <a:schemeClr val="accent5">
                    <a:lumMod val="40000"/>
                    <a:lumOff val="60000"/>
                  </a:schemeClr>
                </a:solidFill>
              </a:rPr>
              <a:t>23%</a:t>
            </a:r>
            <a:r>
              <a:rPr lang="en-US" sz="3200" dirty="0">
                <a:solidFill>
                  <a:schemeClr val="accent5">
                    <a:lumMod val="40000"/>
                    <a:lumOff val="60000"/>
                  </a:schemeClr>
                </a:solidFill>
              </a:rPr>
              <a:t> success, weaker on newer Samsung devices</a:t>
            </a:r>
          </a:p>
          <a:p>
            <a:pPr marR="5080">
              <a:lnSpc>
                <a:spcPct val="119800"/>
              </a:lnSpc>
              <a:spcBef>
                <a:spcPts val="105"/>
              </a:spcBef>
              <a:buClr>
                <a:srgbClr val="90C225"/>
              </a:buClr>
              <a:buSzPct val="50000"/>
              <a:tabLst>
                <a:tab pos="469265" algn="l"/>
                <a:tab pos="469900" algn="l"/>
              </a:tabLst>
            </a:pPr>
            <a:r>
              <a:rPr lang="en-US" sz="3200" dirty="0">
                <a:solidFill>
                  <a:schemeClr val="accent5">
                    <a:lumMod val="40000"/>
                    <a:lumOff val="60000"/>
                  </a:schemeClr>
                </a:solidFill>
              </a:rPr>
              <a:t>• </a:t>
            </a:r>
            <a:r>
              <a:rPr lang="en-US" sz="3200" b="1" dirty="0">
                <a:solidFill>
                  <a:schemeClr val="accent5">
                    <a:lumMod val="40000"/>
                    <a:lumOff val="60000"/>
                  </a:schemeClr>
                </a:solidFill>
              </a:rPr>
              <a:t>FaceSwap:</a:t>
            </a:r>
            <a:r>
              <a:rPr lang="en-US" sz="3200" dirty="0">
                <a:solidFill>
                  <a:schemeClr val="accent5">
                    <a:lumMod val="40000"/>
                    <a:lumOff val="60000"/>
                  </a:schemeClr>
                </a:solidFill>
              </a:rPr>
              <a:t> </a:t>
            </a:r>
            <a:r>
              <a:rPr lang="en-US" sz="3200" b="1" dirty="0">
                <a:solidFill>
                  <a:schemeClr val="accent5">
                    <a:lumMod val="40000"/>
                    <a:lumOff val="60000"/>
                  </a:schemeClr>
                </a:solidFill>
              </a:rPr>
              <a:t>0%</a:t>
            </a:r>
            <a:r>
              <a:rPr lang="en-US" sz="3200" dirty="0">
                <a:solidFill>
                  <a:schemeClr val="accent5">
                    <a:lumMod val="40000"/>
                    <a:lumOff val="60000"/>
                  </a:schemeClr>
                </a:solidFill>
              </a:rPr>
              <a:t> spoof success</a:t>
            </a:r>
          </a:p>
          <a:p>
            <a:pPr marR="5080">
              <a:lnSpc>
                <a:spcPct val="119800"/>
              </a:lnSpc>
              <a:spcBef>
                <a:spcPts val="105"/>
              </a:spcBef>
              <a:buClr>
                <a:srgbClr val="90C225"/>
              </a:buClr>
              <a:buSzPct val="50000"/>
              <a:tabLst>
                <a:tab pos="469265" algn="l"/>
                <a:tab pos="469900" algn="l"/>
              </a:tabLst>
            </a:pPr>
            <a:r>
              <a:rPr lang="en-US" sz="3200" dirty="0">
                <a:solidFill>
                  <a:schemeClr val="accent5">
                    <a:lumMod val="40000"/>
                    <a:lumOff val="60000"/>
                  </a:schemeClr>
                </a:solidFill>
              </a:rPr>
              <a:t>• Newer devices resisted &gt;95% of attempts</a:t>
            </a:r>
          </a:p>
          <a:p>
            <a:pPr marL="457200" marR="5080" indent="-457200">
              <a:lnSpc>
                <a:spcPct val="119800"/>
              </a:lnSpc>
              <a:spcBef>
                <a:spcPts val="105"/>
              </a:spcBef>
              <a:buClr>
                <a:srgbClr val="90C225"/>
              </a:buClr>
              <a:buSzPct val="50000"/>
              <a:buFont typeface="Arial" panose="020B0604020202020204" pitchFamily="34" charset="0"/>
              <a:buChar char="•"/>
              <a:tabLst>
                <a:tab pos="469265" algn="l"/>
                <a:tab pos="469900" algn="l"/>
              </a:tabLst>
            </a:pPr>
            <a:endParaRPr lang="en-US" sz="2800" dirty="0">
              <a:solidFill>
                <a:schemeClr val="accent5">
                  <a:lumMod val="40000"/>
                  <a:lumOff val="60000"/>
                </a:schemeClr>
              </a:solidFill>
            </a:endParaRPr>
          </a:p>
        </p:txBody>
      </p:sp>
      <p:pic>
        <p:nvPicPr>
          <p:cNvPr id="2" name="Picture 1">
            <a:extLst>
              <a:ext uri="{FF2B5EF4-FFF2-40B4-BE49-F238E27FC236}">
                <a16:creationId xmlns:a16="http://schemas.microsoft.com/office/drawing/2014/main" id="{3748037A-C8AC-60C1-2A26-EB08393C374A}"/>
              </a:ext>
            </a:extLst>
          </p:cNvPr>
          <p:cNvPicPr>
            <a:picLocks noChangeAspect="1"/>
          </p:cNvPicPr>
          <p:nvPr/>
        </p:nvPicPr>
        <p:blipFill>
          <a:blip r:embed="rId4"/>
          <a:stretch>
            <a:fillRect/>
          </a:stretch>
        </p:blipFill>
        <p:spPr>
          <a:xfrm>
            <a:off x="6437014" y="1825613"/>
            <a:ext cx="5317958" cy="3190775"/>
          </a:xfrm>
          <a:prstGeom prst="rect">
            <a:avLst/>
          </a:prstGeom>
        </p:spPr>
      </p:pic>
    </p:spTree>
    <p:extLst>
      <p:ext uri="{BB962C8B-B14F-4D97-AF65-F5344CB8AC3E}">
        <p14:creationId xmlns:p14="http://schemas.microsoft.com/office/powerpoint/2010/main" val="542731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F7D0B-90EC-9436-DC63-77C61C72652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55D4CB0-58CF-94FD-E25F-03D75DB807E9}"/>
              </a:ext>
            </a:extLst>
          </p:cNvPr>
          <p:cNvPicPr>
            <a:picLocks noChangeAspect="1"/>
          </p:cNvPicPr>
          <p:nvPr/>
        </p:nvPicPr>
        <p:blipFill rotWithShape="1">
          <a:blip r:embed="rId3">
            <a:extLst>
              <a:ext uri="{28A0092B-C50C-407E-A947-70E740481C1C}">
                <a14:useLocalDpi xmlns:a14="http://schemas.microsoft.com/office/drawing/2010/main" val="0"/>
              </a:ext>
            </a:extLst>
          </a:blip>
          <a:srcRect l="686" t="387" r="45497" b="41586"/>
          <a:stretch/>
        </p:blipFill>
        <p:spPr>
          <a:xfrm>
            <a:off x="0" y="-15998"/>
            <a:ext cx="12192000" cy="6807323"/>
          </a:xfrm>
          <a:prstGeom prst="rect">
            <a:avLst/>
          </a:prstGeom>
        </p:spPr>
      </p:pic>
      <p:sp>
        <p:nvSpPr>
          <p:cNvPr id="7" name="TextBox 6">
            <a:extLst>
              <a:ext uri="{FF2B5EF4-FFF2-40B4-BE49-F238E27FC236}">
                <a16:creationId xmlns:a16="http://schemas.microsoft.com/office/drawing/2014/main" id="{2292A71B-4272-4240-7AE6-EC9F04C9D6A2}"/>
              </a:ext>
            </a:extLst>
          </p:cNvPr>
          <p:cNvSpPr txBox="1"/>
          <p:nvPr/>
        </p:nvSpPr>
        <p:spPr>
          <a:xfrm>
            <a:off x="586739" y="290096"/>
            <a:ext cx="7018171" cy="707886"/>
          </a:xfrm>
          <a:prstGeom prst="rect">
            <a:avLst/>
          </a:prstGeom>
          <a:noFill/>
        </p:spPr>
        <p:txBody>
          <a:bodyPr wrap="square" rtlCol="0">
            <a:spAutoFit/>
          </a:bodyPr>
          <a:lstStyle/>
          <a:p>
            <a:r>
              <a:rPr lang="en-IE" sz="4000" dirty="0">
                <a:solidFill>
                  <a:schemeClr val="bg1"/>
                </a:solidFill>
                <a:latin typeface="Times New Roman" panose="02020603050405020304" pitchFamily="18" charset="0"/>
                <a:cs typeface="Times New Roman" panose="02020603050405020304" pitchFamily="18" charset="0"/>
              </a:rPr>
              <a:t>Results: Detection &amp; Analysis</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1D6E1E8-B4E3-3C53-AD65-EB5BAFDE4E3E}"/>
              </a:ext>
            </a:extLst>
          </p:cNvPr>
          <p:cNvSpPr txBox="1"/>
          <p:nvPr/>
        </p:nvSpPr>
        <p:spPr>
          <a:xfrm>
            <a:off x="586741" y="1248321"/>
            <a:ext cx="10838906" cy="1851404"/>
          </a:xfrm>
          <a:prstGeom prst="rect">
            <a:avLst/>
          </a:prstGeom>
          <a:noFill/>
        </p:spPr>
        <p:txBody>
          <a:bodyPr wrap="square" rtlCol="0">
            <a:spAutoFit/>
          </a:bodyPr>
          <a:lstStyle/>
          <a:p>
            <a:pPr marR="5080">
              <a:lnSpc>
                <a:spcPct val="119800"/>
              </a:lnSpc>
              <a:spcBef>
                <a:spcPts val="105"/>
              </a:spcBef>
              <a:buClr>
                <a:srgbClr val="90C225"/>
              </a:buClr>
              <a:buSzPct val="50000"/>
              <a:tabLst>
                <a:tab pos="469265" algn="l"/>
                <a:tab pos="469900" algn="l"/>
              </a:tabLst>
            </a:pPr>
            <a:r>
              <a:rPr lang="en-US" sz="3200" dirty="0">
                <a:solidFill>
                  <a:schemeClr val="accent5">
                    <a:lumMod val="40000"/>
                    <a:lumOff val="60000"/>
                  </a:schemeClr>
                </a:solidFill>
              </a:rPr>
              <a:t>• Detection tools gave inconsistent results</a:t>
            </a:r>
          </a:p>
          <a:p>
            <a:pPr marR="5080">
              <a:lnSpc>
                <a:spcPct val="119800"/>
              </a:lnSpc>
              <a:spcBef>
                <a:spcPts val="105"/>
              </a:spcBef>
              <a:buClr>
                <a:srgbClr val="90C225"/>
              </a:buClr>
              <a:buSzPct val="50000"/>
              <a:tabLst>
                <a:tab pos="469265" algn="l"/>
                <a:tab pos="469900" algn="l"/>
              </a:tabLst>
            </a:pPr>
            <a:r>
              <a:rPr lang="en-US" sz="3200" dirty="0">
                <a:solidFill>
                  <a:schemeClr val="accent5">
                    <a:lumMod val="40000"/>
                    <a:lumOff val="60000"/>
                  </a:schemeClr>
                </a:solidFill>
              </a:rPr>
              <a:t>• Realism </a:t>
            </a:r>
            <a:r>
              <a:rPr lang="en-IE" sz="3200" dirty="0">
                <a:solidFill>
                  <a:schemeClr val="accent5">
                    <a:lumMod val="40000"/>
                    <a:lumOff val="60000"/>
                  </a:schemeClr>
                </a:solidFill>
              </a:rPr>
              <a:t>≠ </a:t>
            </a:r>
            <a:r>
              <a:rPr lang="en-US" sz="3200" dirty="0">
                <a:solidFill>
                  <a:schemeClr val="accent5">
                    <a:lumMod val="40000"/>
                    <a:lumOff val="60000"/>
                  </a:schemeClr>
                </a:solidFill>
              </a:rPr>
              <a:t>guaranteed bypass (</a:t>
            </a:r>
            <a:r>
              <a:rPr lang="en-IE" sz="3200" dirty="0">
                <a:solidFill>
                  <a:schemeClr val="accent5">
                    <a:lumMod val="40000"/>
                    <a:lumOff val="60000"/>
                  </a:schemeClr>
                </a:solidFill>
              </a:rPr>
              <a:t>environmental factors)</a:t>
            </a:r>
          </a:p>
          <a:p>
            <a:pPr marR="5080">
              <a:lnSpc>
                <a:spcPct val="119800"/>
              </a:lnSpc>
              <a:spcBef>
                <a:spcPts val="105"/>
              </a:spcBef>
              <a:buClr>
                <a:srgbClr val="90C225"/>
              </a:buClr>
              <a:buSzPct val="50000"/>
              <a:tabLst>
                <a:tab pos="469265" algn="l"/>
                <a:tab pos="469900" algn="l"/>
              </a:tabLst>
            </a:pPr>
            <a:r>
              <a:rPr lang="en-US" sz="3200" dirty="0">
                <a:solidFill>
                  <a:schemeClr val="accent5">
                    <a:lumMod val="40000"/>
                    <a:lumOff val="60000"/>
                  </a:schemeClr>
                </a:solidFill>
              </a:rPr>
              <a:t>• Same deepfake fooled iPhone but failed on Samsung</a:t>
            </a:r>
          </a:p>
        </p:txBody>
      </p:sp>
      <p:pic>
        <p:nvPicPr>
          <p:cNvPr id="2" name="Picture 1">
            <a:extLst>
              <a:ext uri="{FF2B5EF4-FFF2-40B4-BE49-F238E27FC236}">
                <a16:creationId xmlns:a16="http://schemas.microsoft.com/office/drawing/2014/main" id="{2AE43B29-363E-0A1E-D84B-46F31FF74C7C}"/>
              </a:ext>
            </a:extLst>
          </p:cNvPr>
          <p:cNvPicPr>
            <a:picLocks noChangeAspect="1"/>
          </p:cNvPicPr>
          <p:nvPr/>
        </p:nvPicPr>
        <p:blipFill>
          <a:blip r:embed="rId4"/>
          <a:stretch>
            <a:fillRect/>
          </a:stretch>
        </p:blipFill>
        <p:spPr>
          <a:xfrm>
            <a:off x="3094838" y="3099725"/>
            <a:ext cx="6002324" cy="3601393"/>
          </a:xfrm>
          <a:prstGeom prst="rect">
            <a:avLst/>
          </a:prstGeom>
        </p:spPr>
      </p:pic>
    </p:spTree>
    <p:extLst>
      <p:ext uri="{BB962C8B-B14F-4D97-AF65-F5344CB8AC3E}">
        <p14:creationId xmlns:p14="http://schemas.microsoft.com/office/powerpoint/2010/main" val="841343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BC40D-9C62-56F6-5B0A-640E937F5E9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1F86837-3ADB-9864-870B-8FFA81374FAB}"/>
              </a:ext>
            </a:extLst>
          </p:cNvPr>
          <p:cNvPicPr>
            <a:picLocks noChangeAspect="1"/>
          </p:cNvPicPr>
          <p:nvPr/>
        </p:nvPicPr>
        <p:blipFill rotWithShape="1">
          <a:blip r:embed="rId3">
            <a:extLst>
              <a:ext uri="{28A0092B-C50C-407E-A947-70E740481C1C}">
                <a14:useLocalDpi xmlns:a14="http://schemas.microsoft.com/office/drawing/2010/main" val="0"/>
              </a:ext>
            </a:extLst>
          </a:blip>
          <a:srcRect l="686" t="387" r="45497" b="41586"/>
          <a:stretch/>
        </p:blipFill>
        <p:spPr>
          <a:xfrm>
            <a:off x="0" y="-15998"/>
            <a:ext cx="12192000" cy="6797798"/>
          </a:xfrm>
          <a:prstGeom prst="rect">
            <a:avLst/>
          </a:prstGeom>
        </p:spPr>
      </p:pic>
      <p:sp>
        <p:nvSpPr>
          <p:cNvPr id="7" name="TextBox 6">
            <a:extLst>
              <a:ext uri="{FF2B5EF4-FFF2-40B4-BE49-F238E27FC236}">
                <a16:creationId xmlns:a16="http://schemas.microsoft.com/office/drawing/2014/main" id="{09B2D99C-18A2-4D99-BCA8-19FF2CFCAAEF}"/>
              </a:ext>
            </a:extLst>
          </p:cNvPr>
          <p:cNvSpPr txBox="1"/>
          <p:nvPr/>
        </p:nvSpPr>
        <p:spPr>
          <a:xfrm>
            <a:off x="586739" y="290096"/>
            <a:ext cx="7018171" cy="707886"/>
          </a:xfrm>
          <a:prstGeom prst="rect">
            <a:avLst/>
          </a:prstGeom>
          <a:noFill/>
        </p:spPr>
        <p:txBody>
          <a:bodyPr wrap="square" rtlCol="0">
            <a:spAutoFit/>
          </a:bodyPr>
          <a:lstStyle/>
          <a:p>
            <a:r>
              <a:rPr lang="en-IE" sz="4000" dirty="0">
                <a:solidFill>
                  <a:schemeClr val="bg1"/>
                </a:solidFill>
                <a:latin typeface="Times New Roman" panose="02020603050405020304" pitchFamily="18" charset="0"/>
                <a:cs typeface="Times New Roman" panose="02020603050405020304" pitchFamily="18" charset="0"/>
              </a:rPr>
              <a:t>Results: Example Deepfakes</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A3C8057-B1BC-CF37-BF20-6E5086198974}"/>
              </a:ext>
            </a:extLst>
          </p:cNvPr>
          <p:cNvSpPr txBox="1"/>
          <p:nvPr/>
        </p:nvSpPr>
        <p:spPr>
          <a:xfrm>
            <a:off x="586741" y="1248321"/>
            <a:ext cx="10838906" cy="966931"/>
          </a:xfrm>
          <a:prstGeom prst="rect">
            <a:avLst/>
          </a:prstGeom>
          <a:noFill/>
        </p:spPr>
        <p:txBody>
          <a:bodyPr wrap="square" rtlCol="0">
            <a:spAutoFit/>
          </a:bodyPr>
          <a:lstStyle/>
          <a:p>
            <a:pPr marR="5080">
              <a:spcBef>
                <a:spcPts val="105"/>
              </a:spcBef>
              <a:buClr>
                <a:srgbClr val="90C225"/>
              </a:buClr>
              <a:buSzPct val="50000"/>
              <a:tabLst>
                <a:tab pos="469265" algn="l"/>
                <a:tab pos="469900" algn="l"/>
              </a:tabLst>
            </a:pPr>
            <a:r>
              <a:rPr lang="en-US" sz="2800" dirty="0">
                <a:solidFill>
                  <a:schemeClr val="accent5">
                    <a:lumMod val="40000"/>
                    <a:lumOff val="60000"/>
                  </a:schemeClr>
                </a:solidFill>
              </a:rPr>
              <a:t>• Generated outputs tested against real devices</a:t>
            </a:r>
          </a:p>
          <a:p>
            <a:pPr marR="5080">
              <a:spcBef>
                <a:spcPts val="105"/>
              </a:spcBef>
              <a:buClr>
                <a:srgbClr val="90C225"/>
              </a:buClr>
              <a:buSzPct val="50000"/>
              <a:tabLst>
                <a:tab pos="469265" algn="l"/>
                <a:tab pos="469900" algn="l"/>
              </a:tabLst>
            </a:pPr>
            <a:r>
              <a:rPr lang="en-US" sz="2800" dirty="0">
                <a:solidFill>
                  <a:schemeClr val="accent5">
                    <a:lumMod val="40000"/>
                    <a:lumOff val="60000"/>
                  </a:schemeClr>
                </a:solidFill>
              </a:rPr>
              <a:t>• Some fooled facial biometrics, others failed</a:t>
            </a:r>
          </a:p>
        </p:txBody>
      </p:sp>
      <p:pic>
        <p:nvPicPr>
          <p:cNvPr id="4" name="Picture 3" descr="A person with a blurry face&#10;&#10;AI-generated content may be incorrect.">
            <a:extLst>
              <a:ext uri="{FF2B5EF4-FFF2-40B4-BE49-F238E27FC236}">
                <a16:creationId xmlns:a16="http://schemas.microsoft.com/office/drawing/2014/main" id="{9461D694-2E37-D831-3736-D78CE960E6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08478" y="2746308"/>
            <a:ext cx="2616311" cy="3700212"/>
          </a:xfrm>
          <a:prstGeom prst="rect">
            <a:avLst/>
          </a:prstGeom>
        </p:spPr>
      </p:pic>
      <p:pic>
        <p:nvPicPr>
          <p:cNvPr id="9" name="Picture 8" descr="A person with a beard&#10;&#10;AI-generated content may be incorrect.">
            <a:extLst>
              <a:ext uri="{FF2B5EF4-FFF2-40B4-BE49-F238E27FC236}">
                <a16:creationId xmlns:a16="http://schemas.microsoft.com/office/drawing/2014/main" id="{41C8961F-408A-651C-9E07-FEF7E9751CF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06039" y="2746308"/>
            <a:ext cx="2379922" cy="3700212"/>
          </a:xfrm>
          <a:prstGeom prst="rect">
            <a:avLst/>
          </a:prstGeom>
        </p:spPr>
      </p:pic>
      <p:pic>
        <p:nvPicPr>
          <p:cNvPr id="11" name="Picture 10" descr="A person with a surprised expression&#10;&#10;AI-generated content may be incorrect.">
            <a:extLst>
              <a:ext uri="{FF2B5EF4-FFF2-40B4-BE49-F238E27FC236}">
                <a16:creationId xmlns:a16="http://schemas.microsoft.com/office/drawing/2014/main" id="{715D5480-5DC7-3ABF-3EF0-A765A906258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76836" y="2746307"/>
            <a:ext cx="2662889" cy="3700213"/>
          </a:xfrm>
          <a:prstGeom prst="rect">
            <a:avLst/>
          </a:prstGeom>
        </p:spPr>
      </p:pic>
      <p:sp>
        <p:nvSpPr>
          <p:cNvPr id="16" name="TextBox 15">
            <a:extLst>
              <a:ext uri="{FF2B5EF4-FFF2-40B4-BE49-F238E27FC236}">
                <a16:creationId xmlns:a16="http://schemas.microsoft.com/office/drawing/2014/main" id="{53025BFE-932D-FC8D-8D1E-BA3B6BD6C37D}"/>
              </a:ext>
            </a:extLst>
          </p:cNvPr>
          <p:cNvSpPr txBox="1"/>
          <p:nvPr/>
        </p:nvSpPr>
        <p:spPr>
          <a:xfrm>
            <a:off x="7776836" y="2346197"/>
            <a:ext cx="2662889" cy="400110"/>
          </a:xfrm>
          <a:prstGeom prst="rect">
            <a:avLst/>
          </a:prstGeom>
          <a:solidFill>
            <a:srgbClr val="4472C4"/>
          </a:solidFill>
        </p:spPr>
        <p:txBody>
          <a:bodyPr wrap="square" rtlCol="0">
            <a:spAutoFit/>
          </a:bodyPr>
          <a:lstStyle/>
          <a:p>
            <a:pPr algn="ctr"/>
            <a:r>
              <a:rPr lang="en-IE" sz="2000" b="1" dirty="0" err="1">
                <a:solidFill>
                  <a:schemeClr val="bg1"/>
                </a:solidFill>
              </a:rPr>
              <a:t>FaceFusion</a:t>
            </a:r>
            <a:endParaRPr lang="en-IE" b="1" dirty="0">
              <a:solidFill>
                <a:schemeClr val="bg1"/>
              </a:solidFill>
            </a:endParaRPr>
          </a:p>
        </p:txBody>
      </p:sp>
      <p:sp>
        <p:nvSpPr>
          <p:cNvPr id="18" name="TextBox 17">
            <a:extLst>
              <a:ext uri="{FF2B5EF4-FFF2-40B4-BE49-F238E27FC236}">
                <a16:creationId xmlns:a16="http://schemas.microsoft.com/office/drawing/2014/main" id="{67EF45D1-049E-0C79-5C41-05401C3FF9E4}"/>
              </a:ext>
            </a:extLst>
          </p:cNvPr>
          <p:cNvSpPr txBox="1"/>
          <p:nvPr/>
        </p:nvSpPr>
        <p:spPr>
          <a:xfrm>
            <a:off x="4906039" y="2346197"/>
            <a:ext cx="2379922" cy="400110"/>
          </a:xfrm>
          <a:prstGeom prst="rect">
            <a:avLst/>
          </a:prstGeom>
          <a:solidFill>
            <a:srgbClr val="4472C4"/>
          </a:solidFill>
        </p:spPr>
        <p:txBody>
          <a:bodyPr wrap="square" rtlCol="0">
            <a:spAutoFit/>
          </a:bodyPr>
          <a:lstStyle/>
          <a:p>
            <a:pPr algn="ctr"/>
            <a:r>
              <a:rPr lang="en-IE" sz="2000" b="1" dirty="0">
                <a:solidFill>
                  <a:schemeClr val="bg1"/>
                </a:solidFill>
              </a:rPr>
              <a:t>FaceSwap</a:t>
            </a:r>
            <a:endParaRPr lang="en-IE" b="1" dirty="0">
              <a:solidFill>
                <a:schemeClr val="bg1"/>
              </a:solidFill>
            </a:endParaRPr>
          </a:p>
        </p:txBody>
      </p:sp>
      <p:sp>
        <p:nvSpPr>
          <p:cNvPr id="19" name="TextBox 18">
            <a:extLst>
              <a:ext uri="{FF2B5EF4-FFF2-40B4-BE49-F238E27FC236}">
                <a16:creationId xmlns:a16="http://schemas.microsoft.com/office/drawing/2014/main" id="{5928902A-40C1-4FBC-FEBB-BAE279AD6B09}"/>
              </a:ext>
            </a:extLst>
          </p:cNvPr>
          <p:cNvSpPr txBox="1"/>
          <p:nvPr/>
        </p:nvSpPr>
        <p:spPr>
          <a:xfrm>
            <a:off x="1808478" y="2346197"/>
            <a:ext cx="2616311" cy="400110"/>
          </a:xfrm>
          <a:prstGeom prst="rect">
            <a:avLst/>
          </a:prstGeom>
          <a:solidFill>
            <a:srgbClr val="4472C4"/>
          </a:solidFill>
        </p:spPr>
        <p:txBody>
          <a:bodyPr wrap="square" rtlCol="0">
            <a:spAutoFit/>
          </a:bodyPr>
          <a:lstStyle/>
          <a:p>
            <a:pPr algn="ctr"/>
            <a:r>
              <a:rPr lang="en-IE" sz="2000" b="1" dirty="0">
                <a:solidFill>
                  <a:schemeClr val="bg1"/>
                </a:solidFill>
              </a:rPr>
              <a:t>DeepFaceLab</a:t>
            </a:r>
            <a:endParaRPr lang="en-IE" b="1" dirty="0">
              <a:solidFill>
                <a:schemeClr val="bg1"/>
              </a:solidFill>
            </a:endParaRPr>
          </a:p>
        </p:txBody>
      </p:sp>
    </p:spTree>
    <p:extLst>
      <p:ext uri="{BB962C8B-B14F-4D97-AF65-F5344CB8AC3E}">
        <p14:creationId xmlns:p14="http://schemas.microsoft.com/office/powerpoint/2010/main" val="2897806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3E167-98DD-A568-9410-0ECB49F084B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4B715E1-32BA-CA6F-8631-FE8C6F6DB57F}"/>
              </a:ext>
            </a:extLst>
          </p:cNvPr>
          <p:cNvPicPr>
            <a:picLocks noChangeAspect="1"/>
          </p:cNvPicPr>
          <p:nvPr/>
        </p:nvPicPr>
        <p:blipFill rotWithShape="1">
          <a:blip r:embed="rId3">
            <a:extLst>
              <a:ext uri="{28A0092B-C50C-407E-A947-70E740481C1C}">
                <a14:useLocalDpi xmlns:a14="http://schemas.microsoft.com/office/drawing/2010/main" val="0"/>
              </a:ext>
            </a:extLst>
          </a:blip>
          <a:srcRect l="686" t="387" r="45497" b="41586"/>
          <a:stretch/>
        </p:blipFill>
        <p:spPr>
          <a:xfrm>
            <a:off x="0" y="-15998"/>
            <a:ext cx="12192000" cy="6807323"/>
          </a:xfrm>
          <a:prstGeom prst="rect">
            <a:avLst/>
          </a:prstGeom>
        </p:spPr>
      </p:pic>
      <p:sp>
        <p:nvSpPr>
          <p:cNvPr id="7" name="TextBox 6">
            <a:extLst>
              <a:ext uri="{FF2B5EF4-FFF2-40B4-BE49-F238E27FC236}">
                <a16:creationId xmlns:a16="http://schemas.microsoft.com/office/drawing/2014/main" id="{ECE96C4E-9B1D-F748-4F05-EF23478326AF}"/>
              </a:ext>
            </a:extLst>
          </p:cNvPr>
          <p:cNvSpPr txBox="1"/>
          <p:nvPr/>
        </p:nvSpPr>
        <p:spPr>
          <a:xfrm>
            <a:off x="586739" y="290096"/>
            <a:ext cx="7018171" cy="707886"/>
          </a:xfrm>
          <a:prstGeom prst="rect">
            <a:avLst/>
          </a:prstGeom>
          <a:noFill/>
        </p:spPr>
        <p:txBody>
          <a:bodyPr wrap="square" rtlCol="0">
            <a:spAutoFit/>
          </a:bodyPr>
          <a:lstStyle/>
          <a:p>
            <a:r>
              <a:rPr lang="en-IE" sz="4000" dirty="0">
                <a:solidFill>
                  <a:schemeClr val="bg1"/>
                </a:solidFill>
                <a:latin typeface="Times New Roman" panose="02020603050405020304" pitchFamily="18" charset="0"/>
                <a:cs typeface="Times New Roman" panose="02020603050405020304" pitchFamily="18" charset="0"/>
              </a:rPr>
              <a:t>Results: CPU Performance</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841D6A1-B241-DDB0-B258-D2F59554B386}"/>
              </a:ext>
            </a:extLst>
          </p:cNvPr>
          <p:cNvSpPr txBox="1"/>
          <p:nvPr/>
        </p:nvSpPr>
        <p:spPr>
          <a:xfrm>
            <a:off x="586741" y="1248321"/>
            <a:ext cx="10838906" cy="1247649"/>
          </a:xfrm>
          <a:prstGeom prst="rect">
            <a:avLst/>
          </a:prstGeom>
          <a:noFill/>
        </p:spPr>
        <p:txBody>
          <a:bodyPr wrap="square" rtlCol="0">
            <a:spAutoFit/>
          </a:bodyPr>
          <a:lstStyle/>
          <a:p>
            <a:pPr marR="5080">
              <a:lnSpc>
                <a:spcPct val="119800"/>
              </a:lnSpc>
              <a:spcBef>
                <a:spcPts val="105"/>
              </a:spcBef>
              <a:buClr>
                <a:srgbClr val="90C225"/>
              </a:buClr>
              <a:buSzPct val="50000"/>
              <a:tabLst>
                <a:tab pos="469265" algn="l"/>
                <a:tab pos="469900" algn="l"/>
              </a:tabLst>
            </a:pPr>
            <a:r>
              <a:rPr lang="en-US" sz="3200" dirty="0">
                <a:solidFill>
                  <a:schemeClr val="accent5">
                    <a:lumMod val="40000"/>
                    <a:lumOff val="60000"/>
                  </a:schemeClr>
                </a:solidFill>
              </a:rPr>
              <a:t>• CPU-only attacker simulation </a:t>
            </a:r>
            <a:r>
              <a:rPr lang="en-IE" sz="3200" dirty="0">
                <a:solidFill>
                  <a:schemeClr val="accent5">
                    <a:lumMod val="40000"/>
                    <a:lumOff val="60000"/>
                  </a:schemeClr>
                </a:solidFill>
              </a:rPr>
              <a:t>→</a:t>
            </a:r>
            <a:r>
              <a:rPr lang="en-US" sz="3200" dirty="0">
                <a:solidFill>
                  <a:schemeClr val="accent5">
                    <a:lumMod val="40000"/>
                    <a:lumOff val="60000"/>
                  </a:schemeClr>
                </a:solidFill>
              </a:rPr>
              <a:t> realistic constraint</a:t>
            </a:r>
          </a:p>
          <a:p>
            <a:pPr marR="5080">
              <a:lnSpc>
                <a:spcPct val="119800"/>
              </a:lnSpc>
              <a:spcBef>
                <a:spcPts val="105"/>
              </a:spcBef>
              <a:buClr>
                <a:srgbClr val="90C225"/>
              </a:buClr>
              <a:buSzPct val="50000"/>
              <a:tabLst>
                <a:tab pos="469265" algn="l"/>
                <a:tab pos="469900" algn="l"/>
              </a:tabLst>
            </a:pPr>
            <a:r>
              <a:rPr lang="en-US" sz="3200" dirty="0">
                <a:solidFill>
                  <a:schemeClr val="accent5">
                    <a:lumMod val="40000"/>
                    <a:lumOff val="60000"/>
                  </a:schemeClr>
                </a:solidFill>
              </a:rPr>
              <a:t>• FaceFusion fastest; DeepFaceLab slowest</a:t>
            </a:r>
          </a:p>
        </p:txBody>
      </p:sp>
      <p:pic>
        <p:nvPicPr>
          <p:cNvPr id="4" name="Picture 3" descr="A graph of a performance&#10;&#10;AI-generated content may be incorrect.">
            <a:extLst>
              <a:ext uri="{FF2B5EF4-FFF2-40B4-BE49-F238E27FC236}">
                <a16:creationId xmlns:a16="http://schemas.microsoft.com/office/drawing/2014/main" id="{2F04FBFF-F8FA-A5FC-C51F-35EF5C8B97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64619" y="2746309"/>
            <a:ext cx="5279057" cy="3959292"/>
          </a:xfrm>
          <a:prstGeom prst="rect">
            <a:avLst/>
          </a:prstGeom>
        </p:spPr>
      </p:pic>
    </p:spTree>
    <p:extLst>
      <p:ext uri="{BB962C8B-B14F-4D97-AF65-F5344CB8AC3E}">
        <p14:creationId xmlns:p14="http://schemas.microsoft.com/office/powerpoint/2010/main" val="29580208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FD6CF-99DD-9601-92C8-B233177775D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98B32CA-387C-7392-8F4D-9A452C03D982}"/>
              </a:ext>
            </a:extLst>
          </p:cNvPr>
          <p:cNvPicPr>
            <a:picLocks noChangeAspect="1"/>
          </p:cNvPicPr>
          <p:nvPr/>
        </p:nvPicPr>
        <p:blipFill rotWithShape="1">
          <a:blip r:embed="rId3">
            <a:extLst>
              <a:ext uri="{28A0092B-C50C-407E-A947-70E740481C1C}">
                <a14:useLocalDpi xmlns:a14="http://schemas.microsoft.com/office/drawing/2010/main" val="0"/>
              </a:ext>
            </a:extLst>
          </a:blip>
          <a:srcRect l="686" t="387" r="45497" b="41586"/>
          <a:stretch/>
        </p:blipFill>
        <p:spPr>
          <a:xfrm>
            <a:off x="0" y="-15998"/>
            <a:ext cx="12192000" cy="6797798"/>
          </a:xfrm>
          <a:prstGeom prst="rect">
            <a:avLst/>
          </a:prstGeom>
        </p:spPr>
      </p:pic>
      <p:sp>
        <p:nvSpPr>
          <p:cNvPr id="7" name="TextBox 6">
            <a:extLst>
              <a:ext uri="{FF2B5EF4-FFF2-40B4-BE49-F238E27FC236}">
                <a16:creationId xmlns:a16="http://schemas.microsoft.com/office/drawing/2014/main" id="{9B3A9060-E95E-30F2-38EE-A8D665842114}"/>
              </a:ext>
            </a:extLst>
          </p:cNvPr>
          <p:cNvSpPr txBox="1"/>
          <p:nvPr/>
        </p:nvSpPr>
        <p:spPr>
          <a:xfrm>
            <a:off x="586739" y="290096"/>
            <a:ext cx="7018171" cy="707886"/>
          </a:xfrm>
          <a:prstGeom prst="rect">
            <a:avLst/>
          </a:prstGeom>
          <a:noFill/>
        </p:spPr>
        <p:txBody>
          <a:bodyPr wrap="square" rtlCol="0">
            <a:spAutoFit/>
          </a:bodyPr>
          <a:lstStyle/>
          <a:p>
            <a:r>
              <a:rPr lang="en-IE" sz="4000" dirty="0">
                <a:solidFill>
                  <a:schemeClr val="bg1"/>
                </a:solidFill>
                <a:latin typeface="Times New Roman" panose="02020603050405020304" pitchFamily="18" charset="0"/>
                <a:cs typeface="Times New Roman" panose="02020603050405020304" pitchFamily="18" charset="0"/>
              </a:rPr>
              <a:t>Discussion &amp; Implications</a:t>
            </a:r>
            <a:endParaRPr lang="en-IN" sz="4000" dirty="0">
              <a:solidFill>
                <a:schemeClr val="bg1"/>
              </a:solidFill>
              <a:latin typeface="Times New Roman" panose="02020603050405020304" pitchFamily="18" charset="0"/>
              <a:cs typeface="Times New Roman" panose="02020603050405020304" pitchFamily="18" charset="0"/>
            </a:endParaRPr>
          </a:p>
        </p:txBody>
      </p:sp>
      <p:graphicFrame>
        <p:nvGraphicFramePr>
          <p:cNvPr id="12" name="TextBox 7">
            <a:extLst>
              <a:ext uri="{FF2B5EF4-FFF2-40B4-BE49-F238E27FC236}">
                <a16:creationId xmlns:a16="http://schemas.microsoft.com/office/drawing/2014/main" id="{8F3E9D5F-20C1-B935-2580-C98A653CC1B8}"/>
              </a:ext>
            </a:extLst>
          </p:cNvPr>
          <p:cNvGraphicFramePr/>
          <p:nvPr>
            <p:extLst>
              <p:ext uri="{D42A27DB-BD31-4B8C-83A1-F6EECF244321}">
                <p14:modId xmlns:p14="http://schemas.microsoft.com/office/powerpoint/2010/main" val="476522878"/>
              </p:ext>
            </p:extLst>
          </p:nvPr>
        </p:nvGraphicFramePr>
        <p:xfrm>
          <a:off x="586741" y="1248321"/>
          <a:ext cx="10838906" cy="417178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066869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9CF91-D2B8-2502-91FF-A27E6929829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C256BF0-B09E-DEAD-6E9A-729F10506A4A}"/>
              </a:ext>
            </a:extLst>
          </p:cNvPr>
          <p:cNvPicPr>
            <a:picLocks noChangeAspect="1"/>
          </p:cNvPicPr>
          <p:nvPr/>
        </p:nvPicPr>
        <p:blipFill rotWithShape="1">
          <a:blip r:embed="rId3">
            <a:extLst>
              <a:ext uri="{28A0092B-C50C-407E-A947-70E740481C1C}">
                <a14:useLocalDpi xmlns:a14="http://schemas.microsoft.com/office/drawing/2010/main" val="0"/>
              </a:ext>
            </a:extLst>
          </a:blip>
          <a:srcRect l="686" t="387" r="45497" b="41586"/>
          <a:stretch/>
        </p:blipFill>
        <p:spPr>
          <a:xfrm>
            <a:off x="0" y="-15998"/>
            <a:ext cx="12192000" cy="6797798"/>
          </a:xfrm>
          <a:prstGeom prst="rect">
            <a:avLst/>
          </a:prstGeom>
        </p:spPr>
      </p:pic>
      <p:sp>
        <p:nvSpPr>
          <p:cNvPr id="7" name="TextBox 6">
            <a:extLst>
              <a:ext uri="{FF2B5EF4-FFF2-40B4-BE49-F238E27FC236}">
                <a16:creationId xmlns:a16="http://schemas.microsoft.com/office/drawing/2014/main" id="{A9613379-8D91-36D9-54D7-DDBEABE44A29}"/>
              </a:ext>
            </a:extLst>
          </p:cNvPr>
          <p:cNvSpPr txBox="1"/>
          <p:nvPr/>
        </p:nvSpPr>
        <p:spPr>
          <a:xfrm>
            <a:off x="586739" y="290096"/>
            <a:ext cx="7018171" cy="707886"/>
          </a:xfrm>
          <a:prstGeom prst="rect">
            <a:avLst/>
          </a:prstGeom>
          <a:noFill/>
        </p:spPr>
        <p:txBody>
          <a:bodyPr wrap="square" rtlCol="0">
            <a:spAutoFit/>
          </a:bodyPr>
          <a:lstStyle/>
          <a:p>
            <a:r>
              <a:rPr lang="en-IE" sz="4000" dirty="0">
                <a:solidFill>
                  <a:schemeClr val="bg1"/>
                </a:solidFill>
                <a:latin typeface="Times New Roman" panose="02020603050405020304" pitchFamily="18" charset="0"/>
                <a:cs typeface="Times New Roman" panose="02020603050405020304" pitchFamily="18" charset="0"/>
              </a:rPr>
              <a:t>Conclusion</a:t>
            </a:r>
            <a:r>
              <a:rPr lang="en-IE" sz="4000" dirty="0"/>
              <a:t> </a:t>
            </a:r>
            <a:r>
              <a:rPr lang="en-IE" sz="4000" dirty="0">
                <a:solidFill>
                  <a:schemeClr val="bg1"/>
                </a:solidFill>
                <a:latin typeface="Times New Roman" panose="02020603050405020304" pitchFamily="18" charset="0"/>
                <a:cs typeface="Times New Roman" panose="02020603050405020304" pitchFamily="18" charset="0"/>
              </a:rPr>
              <a:t>&amp;</a:t>
            </a:r>
            <a:r>
              <a:rPr lang="en-IE" sz="4000" dirty="0"/>
              <a:t> </a:t>
            </a:r>
            <a:r>
              <a:rPr lang="en-IE" sz="4000" dirty="0">
                <a:solidFill>
                  <a:schemeClr val="bg1"/>
                </a:solidFill>
                <a:latin typeface="Times New Roman" panose="02020603050405020304" pitchFamily="18" charset="0"/>
                <a:cs typeface="Times New Roman" panose="02020603050405020304" pitchFamily="18" charset="0"/>
              </a:rPr>
              <a:t>Future</a:t>
            </a:r>
            <a:r>
              <a:rPr lang="en-IE" sz="4000" dirty="0"/>
              <a:t> </a:t>
            </a:r>
            <a:r>
              <a:rPr lang="en-IE" sz="4000" dirty="0">
                <a:solidFill>
                  <a:schemeClr val="bg1"/>
                </a:solidFill>
                <a:latin typeface="Times New Roman" panose="02020603050405020304" pitchFamily="18" charset="0"/>
                <a:cs typeface="Times New Roman" panose="02020603050405020304" pitchFamily="18" charset="0"/>
              </a:rPr>
              <a:t>Work</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B283E01-7F7E-BA60-3AF6-983F4CA7CCA7}"/>
              </a:ext>
            </a:extLst>
          </p:cNvPr>
          <p:cNvSpPr txBox="1"/>
          <p:nvPr/>
        </p:nvSpPr>
        <p:spPr>
          <a:xfrm>
            <a:off x="586741" y="1248321"/>
            <a:ext cx="10838906" cy="5448286"/>
          </a:xfrm>
          <a:prstGeom prst="rect">
            <a:avLst/>
          </a:prstGeom>
          <a:noFill/>
        </p:spPr>
        <p:txBody>
          <a:bodyPr wrap="square" rtlCol="0">
            <a:spAutoFit/>
          </a:bodyPr>
          <a:lstStyle/>
          <a:p>
            <a:pPr marR="5080">
              <a:lnSpc>
                <a:spcPct val="119800"/>
              </a:lnSpc>
              <a:spcBef>
                <a:spcPts val="105"/>
              </a:spcBef>
              <a:buClr>
                <a:srgbClr val="90C225"/>
              </a:buClr>
              <a:buSzPct val="50000"/>
              <a:tabLst>
                <a:tab pos="469265" algn="l"/>
                <a:tab pos="469900" algn="l"/>
              </a:tabLst>
            </a:pPr>
            <a:r>
              <a:rPr lang="en-US" sz="3200" dirty="0">
                <a:solidFill>
                  <a:schemeClr val="accent5">
                    <a:lumMod val="40000"/>
                    <a:lumOff val="60000"/>
                  </a:schemeClr>
                </a:solidFill>
              </a:rPr>
              <a:t>• </a:t>
            </a:r>
            <a:r>
              <a:rPr lang="en-US" sz="3200" b="1" dirty="0">
                <a:solidFill>
                  <a:schemeClr val="accent5">
                    <a:lumMod val="40000"/>
                    <a:lumOff val="60000"/>
                  </a:schemeClr>
                </a:solidFill>
              </a:rPr>
              <a:t>Contributions:</a:t>
            </a:r>
            <a:r>
              <a:rPr lang="en-US" sz="3200" dirty="0">
                <a:solidFill>
                  <a:schemeClr val="accent5">
                    <a:lumMod val="40000"/>
                    <a:lumOff val="60000"/>
                  </a:schemeClr>
                </a:solidFill>
              </a:rPr>
              <a:t> empirical, ethical CPU-only attack study</a:t>
            </a:r>
          </a:p>
          <a:p>
            <a:pPr marR="5080">
              <a:lnSpc>
                <a:spcPct val="119800"/>
              </a:lnSpc>
              <a:spcBef>
                <a:spcPts val="105"/>
              </a:spcBef>
              <a:buClr>
                <a:srgbClr val="90C225"/>
              </a:buClr>
              <a:buSzPct val="50000"/>
              <a:tabLst>
                <a:tab pos="469265" algn="l"/>
                <a:tab pos="469900" algn="l"/>
              </a:tabLst>
            </a:pPr>
            <a:r>
              <a:rPr lang="en-US" sz="3200" dirty="0">
                <a:solidFill>
                  <a:schemeClr val="accent5">
                    <a:lumMod val="40000"/>
                    <a:lumOff val="60000"/>
                  </a:schemeClr>
                </a:solidFill>
              </a:rPr>
              <a:t>• </a:t>
            </a:r>
            <a:r>
              <a:rPr lang="en-US" sz="3200" b="1" dirty="0">
                <a:solidFill>
                  <a:schemeClr val="accent5">
                    <a:lumMod val="40000"/>
                    <a:lumOff val="60000"/>
                  </a:schemeClr>
                </a:solidFill>
              </a:rPr>
              <a:t>Findings:</a:t>
            </a:r>
            <a:r>
              <a:rPr lang="en-US" sz="3200" dirty="0">
                <a:solidFill>
                  <a:schemeClr val="accent5">
                    <a:lumMod val="40000"/>
                    <a:lumOff val="60000"/>
                  </a:schemeClr>
                </a:solidFill>
              </a:rPr>
              <a:t> vulnerabilities exist; outcomes vary by environment + device</a:t>
            </a:r>
          </a:p>
          <a:p>
            <a:pPr marR="5080">
              <a:lnSpc>
                <a:spcPct val="119800"/>
              </a:lnSpc>
              <a:spcBef>
                <a:spcPts val="105"/>
              </a:spcBef>
              <a:buClr>
                <a:srgbClr val="90C225"/>
              </a:buClr>
              <a:buSzPct val="50000"/>
              <a:tabLst>
                <a:tab pos="469265" algn="l"/>
                <a:tab pos="469900" algn="l"/>
              </a:tabLst>
            </a:pPr>
            <a:r>
              <a:rPr lang="en-US" sz="3200" dirty="0">
                <a:solidFill>
                  <a:schemeClr val="accent5">
                    <a:lumMod val="40000"/>
                    <a:lumOff val="60000"/>
                  </a:schemeClr>
                </a:solidFill>
              </a:rPr>
              <a:t>• </a:t>
            </a:r>
            <a:r>
              <a:rPr lang="en-US" sz="3200" b="1" spc="-10" dirty="0">
                <a:solidFill>
                  <a:schemeClr val="accent5">
                    <a:lumMod val="40000"/>
                    <a:lumOff val="60000"/>
                  </a:schemeClr>
                </a:solidFill>
              </a:rPr>
              <a:t>Implications</a:t>
            </a:r>
            <a:r>
              <a:rPr lang="en-US" sz="3200" b="1" dirty="0">
                <a:solidFill>
                  <a:schemeClr val="accent5">
                    <a:lumMod val="40000"/>
                    <a:lumOff val="60000"/>
                  </a:schemeClr>
                </a:solidFill>
              </a:rPr>
              <a:t>:</a:t>
            </a:r>
            <a:r>
              <a:rPr lang="en-US" sz="3200" dirty="0">
                <a:solidFill>
                  <a:schemeClr val="accent5">
                    <a:lumMod val="40000"/>
                    <a:lumOff val="60000"/>
                  </a:schemeClr>
                </a:solidFill>
              </a:rPr>
              <a:t> security must move beyond single-factor biometrics</a:t>
            </a:r>
          </a:p>
          <a:p>
            <a:pPr marR="5080">
              <a:lnSpc>
                <a:spcPct val="119800"/>
              </a:lnSpc>
              <a:spcBef>
                <a:spcPts val="105"/>
              </a:spcBef>
              <a:buClr>
                <a:srgbClr val="90C225"/>
              </a:buClr>
              <a:buSzPct val="50000"/>
              <a:tabLst>
                <a:tab pos="469265" algn="l"/>
                <a:tab pos="469900" algn="l"/>
              </a:tabLst>
            </a:pPr>
            <a:r>
              <a:rPr lang="en-US" sz="3200" dirty="0">
                <a:solidFill>
                  <a:schemeClr val="accent5">
                    <a:lumMod val="40000"/>
                    <a:lumOff val="60000"/>
                  </a:schemeClr>
                </a:solidFill>
              </a:rPr>
              <a:t>• </a:t>
            </a:r>
            <a:r>
              <a:rPr lang="en-US" sz="3200" b="1" dirty="0">
                <a:solidFill>
                  <a:schemeClr val="accent5">
                    <a:lumMod val="40000"/>
                    <a:lumOff val="60000"/>
                  </a:schemeClr>
                </a:solidFill>
              </a:rPr>
              <a:t>Future work:</a:t>
            </a:r>
          </a:p>
          <a:p>
            <a:pPr marL="926465" marR="5080" lvl="2" indent="-469265">
              <a:lnSpc>
                <a:spcPct val="119800"/>
              </a:lnSpc>
              <a:spcBef>
                <a:spcPts val="105"/>
              </a:spcBef>
              <a:buClr>
                <a:srgbClr val="90C225"/>
              </a:buClr>
              <a:buSzPct val="50000"/>
              <a:buFont typeface="Arial MT"/>
              <a:buChar char="►"/>
              <a:tabLst>
                <a:tab pos="469265" algn="l"/>
                <a:tab pos="469900" algn="l"/>
              </a:tabLst>
            </a:pPr>
            <a:r>
              <a:rPr lang="en-US" sz="3200" spc="-10" dirty="0">
                <a:solidFill>
                  <a:schemeClr val="accent5">
                    <a:lumMod val="40000"/>
                    <a:lumOff val="60000"/>
                  </a:schemeClr>
                </a:solidFill>
              </a:rPr>
              <a:t>Larger more diverse datasets</a:t>
            </a:r>
          </a:p>
          <a:p>
            <a:pPr marL="926465" marR="5080" lvl="2" indent="-469265">
              <a:lnSpc>
                <a:spcPct val="119800"/>
              </a:lnSpc>
              <a:spcBef>
                <a:spcPts val="105"/>
              </a:spcBef>
              <a:buClr>
                <a:srgbClr val="90C225"/>
              </a:buClr>
              <a:buSzPct val="50000"/>
              <a:buFont typeface="Arial MT"/>
              <a:buChar char="►"/>
              <a:tabLst>
                <a:tab pos="469265" algn="l"/>
                <a:tab pos="469900" algn="l"/>
              </a:tabLst>
            </a:pPr>
            <a:r>
              <a:rPr lang="en-US" sz="3200" spc="-10" dirty="0">
                <a:solidFill>
                  <a:schemeClr val="accent5">
                    <a:lumMod val="40000"/>
                    <a:lumOff val="60000"/>
                  </a:schemeClr>
                </a:solidFill>
              </a:rPr>
              <a:t>Include GPU &amp; commercial tools</a:t>
            </a:r>
          </a:p>
          <a:p>
            <a:pPr marL="926465" marR="5080" lvl="2" indent="-469265">
              <a:lnSpc>
                <a:spcPct val="119800"/>
              </a:lnSpc>
              <a:spcBef>
                <a:spcPts val="105"/>
              </a:spcBef>
              <a:buClr>
                <a:srgbClr val="90C225"/>
              </a:buClr>
              <a:buSzPct val="50000"/>
              <a:buFont typeface="Arial MT"/>
              <a:buChar char="►"/>
              <a:tabLst>
                <a:tab pos="469265" algn="l"/>
                <a:tab pos="469900" algn="l"/>
              </a:tabLst>
            </a:pPr>
            <a:r>
              <a:rPr lang="en-US" sz="3200" spc="-10" dirty="0">
                <a:solidFill>
                  <a:schemeClr val="accent5">
                    <a:lumMod val="40000"/>
                    <a:lumOff val="60000"/>
                  </a:schemeClr>
                </a:solidFill>
              </a:rPr>
              <a:t>Test next-gen variants (chimeric, impossible faces)</a:t>
            </a:r>
          </a:p>
        </p:txBody>
      </p:sp>
    </p:spTree>
    <p:extLst>
      <p:ext uri="{BB962C8B-B14F-4D97-AF65-F5344CB8AC3E}">
        <p14:creationId xmlns:p14="http://schemas.microsoft.com/office/powerpoint/2010/main" val="10278574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55666830-9A19-4E01-8505-D6C7F9AC5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glowing wireframe of a person's head&#10;&#10;AI-generated content may be incorrect.">
            <a:extLst>
              <a:ext uri="{FF2B5EF4-FFF2-40B4-BE49-F238E27FC236}">
                <a16:creationId xmlns:a16="http://schemas.microsoft.com/office/drawing/2014/main" id="{AAF5C1BE-945F-B823-52F2-2C1C19FCDF37}"/>
              </a:ext>
            </a:extLst>
          </p:cNvPr>
          <p:cNvPicPr>
            <a:picLocks noChangeAspect="1"/>
          </p:cNvPicPr>
          <p:nvPr/>
        </p:nvPicPr>
        <p:blipFill rotWithShape="1">
          <a:blip r:embed="rId3">
            <a:extLst>
              <a:ext uri="{28A0092B-C50C-407E-A947-70E740481C1C}">
                <a14:useLocalDpi xmlns:a14="http://schemas.microsoft.com/office/drawing/2010/main" val="0"/>
              </a:ext>
            </a:extLst>
          </a:blip>
          <a:srcRect l="28327" r="5385"/>
          <a:stretch>
            <a:fillRect/>
          </a:stretch>
        </p:blipFill>
        <p:spPr>
          <a:xfrm>
            <a:off x="4110127" y="10"/>
            <a:ext cx="8081873" cy="6857990"/>
          </a:xfrm>
          <a:custGeom>
            <a:avLst/>
            <a:gdLst/>
            <a:ahLst/>
            <a:cxnLst/>
            <a:rect l="l" t="t" r="r" b="b"/>
            <a:pathLst>
              <a:path w="8081873" h="6858000">
                <a:moveTo>
                  <a:pt x="0" y="0"/>
                </a:moveTo>
                <a:lnTo>
                  <a:pt x="8081873" y="0"/>
                </a:lnTo>
                <a:lnTo>
                  <a:pt x="8081873" y="6858000"/>
                </a:lnTo>
                <a:lnTo>
                  <a:pt x="0" y="6858000"/>
                </a:lnTo>
                <a:lnTo>
                  <a:pt x="68897" y="6734633"/>
                </a:lnTo>
                <a:cubicBezTo>
                  <a:pt x="558802" y="5812845"/>
                  <a:pt x="848920" y="4668597"/>
                  <a:pt x="848920" y="3429000"/>
                </a:cubicBezTo>
                <a:cubicBezTo>
                  <a:pt x="848920" y="2189404"/>
                  <a:pt x="558802" y="1045156"/>
                  <a:pt x="68897" y="123368"/>
                </a:cubicBezTo>
                <a:close/>
              </a:path>
            </a:pathLst>
          </a:custGeom>
        </p:spPr>
      </p:pic>
      <p:sp useBgFill="1">
        <p:nvSpPr>
          <p:cNvPr id="43" name="Freeform: Shape 42">
            <a:extLst>
              <a:ext uri="{FF2B5EF4-FFF2-40B4-BE49-F238E27FC236}">
                <a16:creationId xmlns:a16="http://schemas.microsoft.com/office/drawing/2014/main" id="{AE9FC877-7FB6-4D22-9988-35420644E2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5" name="Freeform: Shape 44">
            <a:extLst>
              <a:ext uri="{FF2B5EF4-FFF2-40B4-BE49-F238E27FC236}">
                <a16:creationId xmlns:a16="http://schemas.microsoft.com/office/drawing/2014/main" id="{E41809D1-F12E-46BB-B804-5F209D325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2428365F-2015-F3B2-D740-9108F166E083}"/>
              </a:ext>
            </a:extLst>
          </p:cNvPr>
          <p:cNvSpPr txBox="1"/>
          <p:nvPr/>
        </p:nvSpPr>
        <p:spPr>
          <a:xfrm>
            <a:off x="477981" y="1122363"/>
            <a:ext cx="4023360" cy="1293555"/>
          </a:xfrm>
          <a:prstGeom prst="rect">
            <a:avLst/>
          </a:prstGeom>
        </p:spPr>
        <p:txBody>
          <a:bodyPr vert="horz" lIns="91440" tIns="45720" rIns="91440" bIns="45720" rtlCol="0" anchor="b">
            <a:normAutofit lnSpcReduction="10000"/>
          </a:bodyPr>
          <a:lstStyle/>
          <a:p>
            <a:pPr>
              <a:lnSpc>
                <a:spcPct val="90000"/>
              </a:lnSpc>
              <a:spcBef>
                <a:spcPct val="0"/>
              </a:spcBef>
              <a:spcAft>
                <a:spcPts val="600"/>
              </a:spcAft>
            </a:pPr>
            <a:r>
              <a:rPr lang="en-US" sz="4800" b="1" dirty="0">
                <a:latin typeface="Calibri body"/>
                <a:ea typeface="+mj-ea"/>
                <a:cs typeface="+mj-cs"/>
              </a:rPr>
              <a:t>THANK YOU / Q&amp;A</a:t>
            </a:r>
          </a:p>
        </p:txBody>
      </p:sp>
      <p:sp>
        <p:nvSpPr>
          <p:cNvPr id="47" name="Rectangle 4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Rectangle 4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 name="Picture 1" descr="A logo for a company&#10;&#10;AI-generated content may be incorrect.">
            <a:extLst>
              <a:ext uri="{FF2B5EF4-FFF2-40B4-BE49-F238E27FC236}">
                <a16:creationId xmlns:a16="http://schemas.microsoft.com/office/drawing/2014/main" id="{74E2BDEB-7CBE-FEE1-BCF8-DC93282B5A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6145937"/>
            <a:ext cx="1733909" cy="712063"/>
          </a:xfrm>
          <a:prstGeom prst="rect">
            <a:avLst/>
          </a:prstGeom>
        </p:spPr>
      </p:pic>
      <p:sp>
        <p:nvSpPr>
          <p:cNvPr id="4" name="TextBox 3">
            <a:extLst>
              <a:ext uri="{FF2B5EF4-FFF2-40B4-BE49-F238E27FC236}">
                <a16:creationId xmlns:a16="http://schemas.microsoft.com/office/drawing/2014/main" id="{D1B6FA59-D479-4D7C-63E1-1625575EDA3B}"/>
              </a:ext>
            </a:extLst>
          </p:cNvPr>
          <p:cNvSpPr txBox="1"/>
          <p:nvPr/>
        </p:nvSpPr>
        <p:spPr>
          <a:xfrm>
            <a:off x="481029" y="2766293"/>
            <a:ext cx="4347439" cy="1384995"/>
          </a:xfrm>
          <a:prstGeom prst="rect">
            <a:avLst/>
          </a:prstGeom>
          <a:noFill/>
        </p:spPr>
        <p:txBody>
          <a:bodyPr wrap="square">
            <a:spAutoFit/>
          </a:bodyPr>
          <a:lstStyle/>
          <a:p>
            <a:r>
              <a:rPr lang="en-IN" sz="2200" dirty="0"/>
              <a:t>GENERATIVE AI DEEPFAKES: REAL-WORLD THREATS TO FACIAL BIOMETRIC AUTHENTICATION</a:t>
            </a:r>
            <a:endParaRPr lang="en-IE" sz="2200" dirty="0"/>
          </a:p>
          <a:p>
            <a:pPr marL="0" algn="ctr" rtl="0" eaLnBrk="1" latinLnBrk="0" hangingPunct="1">
              <a:buNone/>
            </a:pPr>
            <a:endParaRPr lang="en-IE" dirty="0">
              <a:effectLst/>
            </a:endParaRPr>
          </a:p>
        </p:txBody>
      </p:sp>
      <p:pic>
        <p:nvPicPr>
          <p:cNvPr id="11" name="Picture 10">
            <a:extLst>
              <a:ext uri="{FF2B5EF4-FFF2-40B4-BE49-F238E27FC236}">
                <a16:creationId xmlns:a16="http://schemas.microsoft.com/office/drawing/2014/main" id="{DC3B5E04-46C2-458A-CF1D-0E70757FD6F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33908" y="4644907"/>
            <a:ext cx="2302006" cy="2239659"/>
          </a:xfrm>
          <a:prstGeom prst="rect">
            <a:avLst/>
          </a:prstGeom>
        </p:spPr>
      </p:pic>
    </p:spTree>
    <p:extLst>
      <p:ext uri="{BB962C8B-B14F-4D97-AF65-F5344CB8AC3E}">
        <p14:creationId xmlns:p14="http://schemas.microsoft.com/office/powerpoint/2010/main" val="5843884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3536</Words>
  <Application>Microsoft Office PowerPoint</Application>
  <PresentationFormat>Widescreen</PresentationFormat>
  <Paragraphs>248</Paragraphs>
  <Slides>16</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Aptos</vt:lpstr>
      <vt:lpstr>Arial</vt:lpstr>
      <vt:lpstr>Arial MT</vt:lpstr>
      <vt:lpstr>Calibri</vt:lpstr>
      <vt:lpstr>Calibri body</vt:lpstr>
      <vt:lpstr>Calibri Light</vt:lpstr>
      <vt:lpstr>Times New Roman</vt:lpstr>
      <vt:lpstr>Office Theme</vt:lpstr>
      <vt:lpstr>&lt;Cork|Sec 152&gt;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Nandeesh K V</dc:creator>
  <cp:lastModifiedBy>Student Daniel Fitzmaurice (CR_KINSE_9_Y5)</cp:lastModifiedBy>
  <cp:revision>48</cp:revision>
  <dcterms:created xsi:type="dcterms:W3CDTF">2023-05-07T15:09:07Z</dcterms:created>
  <dcterms:modified xsi:type="dcterms:W3CDTF">2026-02-07T23:10:26Z</dcterms:modified>
</cp:coreProperties>
</file>