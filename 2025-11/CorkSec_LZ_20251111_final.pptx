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8" r:id="rId2"/>
    <p:sldId id="268" r:id="rId3"/>
    <p:sldId id="269" r:id="rId4"/>
    <p:sldId id="271" r:id="rId5"/>
    <p:sldId id="270" r:id="rId6"/>
    <p:sldId id="272" r:id="rId7"/>
    <p:sldId id="283" r:id="rId8"/>
    <p:sldId id="259" r:id="rId9"/>
    <p:sldId id="261" r:id="rId10"/>
    <p:sldId id="267" r:id="rId11"/>
    <p:sldId id="273" r:id="rId12"/>
    <p:sldId id="280" r:id="rId13"/>
    <p:sldId id="281" r:id="rId14"/>
    <p:sldId id="279" r:id="rId15"/>
    <p:sldId id="278" r:id="rId16"/>
    <p:sldId id="277" r:id="rId17"/>
    <p:sldId id="282" r:id="rId18"/>
    <p:sldId id="265" r:id="rId19"/>
    <p:sldId id="276" r:id="rId20"/>
    <p:sldId id="266" r:id="rId2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69F72B-FCFF-20F1-A52B-344F49301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7A8F27C-1359-B218-D7CF-C97A1D857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B03A06-E7B1-6D3D-3D0C-B92DC51E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1D28533-06AF-E47E-2B3C-38B77CCC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A6EA79F-E221-FCDB-4F5A-BEADD97E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312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929729-61BA-9FC7-5A95-BC0F581D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48EDF9-6D23-04FF-3A97-214F91D7C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35F190-62A9-588A-2F96-4C17EFD8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E4EEDF-F37F-4EEB-5D15-55B5993A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61DF84B-4E46-21FA-9AF4-82477457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92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FBE8B4-F54D-FC31-9DCE-B6A39818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2F6A6CB-2F93-D3DD-247D-6AA201C62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097C49-C936-5B04-6306-A777FFF4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4A73B92-9880-EE0F-6419-CC79D08B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345F3D-6F27-96D7-316B-061274B3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572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1AF1FD-A843-CB29-8EE6-C97A7744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31CD48-A1CA-B890-7929-15047438C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BBD87DF-90F2-A1E6-4665-158DD5770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1E02D83-89CF-EAB9-1CEF-6051DE6B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08CA98A-27FD-C2AC-9596-F0D814C0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0900832-C833-7437-4B39-B2A3F443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642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7F29CB-182C-0A81-765F-50D01CC68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8EE8123-93A2-29D9-6EDD-A8CF637A0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9E1711A-07D9-4A2C-8A02-C790244EB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54C2C67-4DCA-8DB8-0A73-6FFA477B8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C95A44D-9B1F-16D1-A84B-611FF2D16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D4F3C68-5D91-4966-D996-32A53E5F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635DF1B-2001-7E35-12FE-3392E6B2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CFE3BD8-FC2E-1214-0F93-185F9441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175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B9393F-0EC9-BE0B-E593-7024E406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1BA2C94-48D7-ACB3-ED81-4B14E063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1483231-CF50-BB89-0B52-E422DAD7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B60B75B-283D-4CDB-0D81-A0E01072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338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9995EDE-6886-C5C4-9D30-CC22B5AF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2B53759-F9C5-A8BF-0E6F-456C6119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A57BEB3-3CA2-6AEA-F125-3D9F4162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508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124C2E-D1FA-6395-E917-F18B2174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3B90FA-D755-762F-535F-BA4A3F236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FAD663E-4802-A39E-F55B-F2B74BA35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32D3032-C815-B396-5D54-2891BEE6B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1B05499-E036-868D-A42C-51832782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FAF7008-24A2-33F9-BDF8-5907E8F1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5557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6B448D-5501-E94B-DF4F-15547D9E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4164486-7C08-25C6-C6B0-7252AA95C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AD41630-3195-5164-21A4-6DA088BF6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1205B85-2FC3-3A8A-8D9A-EFDEB230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EB44757-863D-66A3-0822-1726AE88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546A134-681A-DCF0-9130-EAE2A101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046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651768-A901-A44C-2BCD-1CF7A683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C0D7149-2217-5AE0-8156-FEF9B0E3D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77B600-ACE4-072C-FCCE-BA18EAEB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9923B5B-AF9A-DA29-034F-6D2DFFAA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1483B58-CAC5-C545-0271-0AED34F69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615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86E871C-3A95-9AE7-ACC8-D51812E1A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FA04B7F-5D9B-C577-49A6-76702CD87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93F7E73-9BA7-6D3E-D7B0-126F90AE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DC63A8-FEDB-1E73-6C07-80AA321F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F17164-BF3F-4BC1-1B00-7934FE7B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2030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472860D-158F-D6C3-866F-771AD073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5ABE679-6612-E728-3259-0DFA80BB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C9BF8A3-ACF1-3D60-533F-8BF162A4F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40F81-C6F0-4ECA-8C76-0176011BAAB0}" type="datetimeFigureOut">
              <a:rPr lang="hu-HU" smtClean="0"/>
              <a:t>2025. 11. 11.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B16717C-304C-935C-62A0-71FA7CF4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26CFF69-04AF-AE45-B0B6-02991CCFE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8C2F0-AEAA-4AAB-B66D-3FCA59E0AE0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566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634622E1-0D5F-0826-2E14-8161452D3A4F}"/>
              </a:ext>
            </a:extLst>
          </p:cNvPr>
          <p:cNvSpPr txBox="1"/>
          <p:nvPr/>
        </p:nvSpPr>
        <p:spPr>
          <a:xfrm>
            <a:off x="5687956" y="5925089"/>
            <a:ext cx="6814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Cork|Sec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149, </a:t>
            </a:r>
            <a:r>
              <a:rPr lang="hu-HU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Ireland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11, november 2025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9DFDBACD-2BA9-E251-4C2A-D75182B3ACB0}"/>
              </a:ext>
            </a:extLst>
          </p:cNvPr>
          <p:cNvSpPr txBox="1"/>
          <p:nvPr/>
        </p:nvSpPr>
        <p:spPr>
          <a:xfrm>
            <a:off x="680483" y="1421244"/>
            <a:ext cx="86655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Digital Childhood – </a:t>
            </a:r>
            <a:endParaRPr lang="hu-HU" sz="4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600" b="1" i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Lost Play, New Dangers?</a:t>
            </a:r>
            <a:endParaRPr lang="hu-HU" b="1" i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hu-HU" sz="28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Lajos Záhonyi</a:t>
            </a:r>
            <a:r>
              <a:rPr lang="hu-HU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Researcher, </a:t>
            </a:r>
            <a:r>
              <a:rPr lang="en-US" sz="28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Óbuda</a:t>
            </a:r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University</a:t>
            </a:r>
            <a:endParaRPr lang="hu-HU" sz="28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Visiting Researcher, MTU Chair of Cybersecurity</a:t>
            </a:r>
            <a:endParaRPr lang="hu-HU" sz="28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Kép 3" descr="A képen ablak, templo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B9544B1-D215-2937-D6BF-F55A97F39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829" y="589311"/>
            <a:ext cx="971305" cy="1893762"/>
          </a:xfrm>
          <a:prstGeom prst="rect">
            <a:avLst/>
          </a:prstGeom>
        </p:spPr>
      </p:pic>
      <p:pic>
        <p:nvPicPr>
          <p:cNvPr id="5" name="Kép 4" descr="A képen embléma, Grafika, Betűtípus, szimbólu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27F0D96-1A69-BE28-35D6-A02FE63C4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231" y="2760999"/>
            <a:ext cx="32385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413254" y="567338"/>
            <a:ext cx="7365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</a:t>
            </a:r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7469C46-6878-C1AF-99C5-2546217818A1}"/>
              </a:ext>
            </a:extLst>
          </p:cNvPr>
          <p:cNvSpPr txBox="1"/>
          <p:nvPr/>
        </p:nvSpPr>
        <p:spPr>
          <a:xfrm>
            <a:off x="5943600" y="5345025"/>
            <a:ext cx="4123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INHOPE, Annual Report 2024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632460" y="1744039"/>
            <a:ext cx="10927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record number of child sexual abuse materials were removed worldwide in 2024.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Hotlines reviewed 2.5 million online recordings and images.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65% of all reviewed content — 1,634,636 URLs — was confirmed illegal.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9 out of 10 cases, the child was under 13 years old. 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a recent case investigated by the Hungarian Prosecution Service,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youngest identified victim was only 3 years old.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D3C9862-CE28-4745-58BC-58D7DC160DB1}"/>
              </a:ext>
            </a:extLst>
          </p:cNvPr>
          <p:cNvSpPr txBox="1"/>
          <p:nvPr/>
        </p:nvSpPr>
        <p:spPr>
          <a:xfrm>
            <a:off x="5943600" y="5798451"/>
            <a:ext cx="6336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hu-HU" dirty="0" err="1">
                <a:solidFill>
                  <a:schemeClr val="bg1"/>
                </a:solidFill>
              </a:rPr>
              <a:t>Conference</a:t>
            </a:r>
            <a:r>
              <a:rPr lang="hu-HU" dirty="0">
                <a:solidFill>
                  <a:schemeClr val="bg1"/>
                </a:solidFill>
              </a:rPr>
              <a:t> of </a:t>
            </a:r>
            <a:r>
              <a:rPr lang="en-US" dirty="0">
                <a:solidFill>
                  <a:schemeClr val="bg1"/>
                </a:solidFill>
              </a:rPr>
              <a:t>International Children’s Safety Service (</a:t>
            </a:r>
            <a:r>
              <a:rPr lang="hu-HU" dirty="0">
                <a:solidFill>
                  <a:schemeClr val="bg1"/>
                </a:solidFill>
              </a:rPr>
              <a:t>2025, Budapest, </a:t>
            </a:r>
            <a:r>
              <a:rPr lang="en-US" dirty="0">
                <a:solidFill>
                  <a:schemeClr val="bg1"/>
                </a:solidFill>
              </a:rPr>
              <a:t>Hungary)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28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413254" y="567338"/>
            <a:ext cx="7365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</a:t>
            </a:r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7469C46-6878-C1AF-99C5-2546217818A1}"/>
              </a:ext>
            </a:extLst>
          </p:cNvPr>
          <p:cNvSpPr txBox="1"/>
          <p:nvPr/>
        </p:nvSpPr>
        <p:spPr>
          <a:xfrm>
            <a:off x="4711904" y="6107782"/>
            <a:ext cx="6974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hu-HU" dirty="0" err="1">
                <a:solidFill>
                  <a:schemeClr val="bg1"/>
                </a:solidFill>
              </a:rPr>
              <a:t>Conference</a:t>
            </a:r>
            <a:r>
              <a:rPr lang="hu-HU" dirty="0">
                <a:solidFill>
                  <a:schemeClr val="bg1"/>
                </a:solidFill>
              </a:rPr>
              <a:t> of </a:t>
            </a:r>
            <a:r>
              <a:rPr lang="en-US" dirty="0">
                <a:solidFill>
                  <a:schemeClr val="bg1"/>
                </a:solidFill>
              </a:rPr>
              <a:t>International Children’s Safety Service (</a:t>
            </a:r>
            <a:r>
              <a:rPr lang="hu-HU" dirty="0">
                <a:solidFill>
                  <a:schemeClr val="bg1"/>
                </a:solidFill>
              </a:rPr>
              <a:t>2025, Budapest, </a:t>
            </a:r>
            <a:r>
              <a:rPr lang="en-US" dirty="0">
                <a:solidFill>
                  <a:schemeClr val="bg1"/>
                </a:solidFill>
              </a:rPr>
              <a:t>Hungary)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423481" y="1478863"/>
            <a:ext cx="49806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Business Model: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 Data = Profit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Attention = Profit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FF37D90-D23F-50D8-C270-0DE1EE4DF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04" y="1361823"/>
            <a:ext cx="6864703" cy="4343623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21F28721-CDCF-459F-4121-2CD2C1E41DFC}"/>
              </a:ext>
            </a:extLst>
          </p:cNvPr>
          <p:cNvSpPr txBox="1"/>
          <p:nvPr/>
        </p:nvSpPr>
        <p:spPr>
          <a:xfrm>
            <a:off x="423481" y="4382007"/>
            <a:ext cx="36274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Alphabet</a:t>
            </a:r>
            <a:r>
              <a:rPr lang="hu-HU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Google </a:t>
            </a:r>
            <a:r>
              <a:rPr lang="hu-HU" sz="16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</a:t>
            </a:r>
            <a:r>
              <a:rPr lang="hu-HU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YouTube + Android + Google </a:t>
            </a:r>
            <a:r>
              <a:rPr lang="hu-HU" sz="16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</a:t>
            </a:r>
            <a:endParaRPr lang="hu-HU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hu-HU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Meta = Facebook + Instagram + WhatsApp + Messenger + Threads</a:t>
            </a:r>
            <a:endParaRPr lang="hu-HU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15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054923" y="543710"/>
            <a:ext cx="8082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Fogg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Behavior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(FBM) </a:t>
            </a:r>
          </a:p>
          <a:p>
            <a:pPr algn="ctr"/>
            <a:r>
              <a:rPr lang="hu-HU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(Brian </a:t>
            </a:r>
            <a:r>
              <a:rPr lang="hu-HU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Jeffrey</a:t>
            </a:r>
            <a:r>
              <a:rPr lang="hu-HU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Fogg</a:t>
            </a:r>
            <a:r>
              <a:rPr lang="hu-HU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Stanford </a:t>
            </a:r>
            <a:r>
              <a:rPr lang="hu-HU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Behavior</a:t>
            </a:r>
            <a:r>
              <a:rPr lang="hu-HU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Design </a:t>
            </a:r>
            <a:r>
              <a:rPr lang="hu-HU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</a:t>
            </a:r>
            <a:r>
              <a:rPr lang="hu-HU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/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7469C46-6878-C1AF-99C5-2546217818A1}"/>
              </a:ext>
            </a:extLst>
          </p:cNvPr>
          <p:cNvSpPr txBox="1"/>
          <p:nvPr/>
        </p:nvSpPr>
        <p:spPr>
          <a:xfrm>
            <a:off x="5477256" y="5967496"/>
            <a:ext cx="6336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hu-HU" dirty="0" err="1">
                <a:solidFill>
                  <a:schemeClr val="bg1"/>
                </a:solidFill>
              </a:rPr>
              <a:t>Conference</a:t>
            </a:r>
            <a:r>
              <a:rPr lang="hu-HU" dirty="0">
                <a:solidFill>
                  <a:schemeClr val="bg1"/>
                </a:solidFill>
              </a:rPr>
              <a:t> of </a:t>
            </a:r>
            <a:r>
              <a:rPr lang="en-US" dirty="0">
                <a:solidFill>
                  <a:schemeClr val="bg1"/>
                </a:solidFill>
              </a:rPr>
              <a:t>International Children’s Safety Service (</a:t>
            </a:r>
            <a:r>
              <a:rPr lang="hu-HU" dirty="0">
                <a:solidFill>
                  <a:schemeClr val="bg1"/>
                </a:solidFill>
              </a:rPr>
              <a:t>2025, Budapest, </a:t>
            </a:r>
            <a:r>
              <a:rPr lang="en-US" dirty="0">
                <a:solidFill>
                  <a:schemeClr val="bg1"/>
                </a:solidFill>
              </a:rPr>
              <a:t>Hungary)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548640" y="1744039"/>
            <a:ext cx="11265407" cy="389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Behavior happens when three things come together: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1) Motivation – the desire to do something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2) Ability – how easy it is to do it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3) Trigger – a prompt that tells you to act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 one of these is missing, the behavior does </a:t>
            </a:r>
            <a:r>
              <a:rPr lang="en-US" sz="2400" b="1" u="sng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happen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Small, easy actions are more likely to become habits.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98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813816" y="567338"/>
            <a:ext cx="10241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3.</a:t>
            </a:r>
          </a:p>
          <a:p>
            <a:pPr algn="ctr"/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- The New </a:t>
            </a:r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Friend</a:t>
            </a:r>
            <a:endParaRPr lang="hu-HU" sz="32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„</a:t>
            </a:r>
            <a:r>
              <a:rPr lang="en-US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will always be here for you, unlike others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7469C46-6878-C1AF-99C5-2546217818A1}"/>
              </a:ext>
            </a:extLst>
          </p:cNvPr>
          <p:cNvSpPr txBox="1"/>
          <p:nvPr/>
        </p:nvSpPr>
        <p:spPr>
          <a:xfrm>
            <a:off x="7534656" y="6369386"/>
            <a:ext cx="4123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hu-HU" i="1" dirty="0" err="1">
                <a:solidFill>
                  <a:schemeClr val="bg1"/>
                </a:solidFill>
              </a:rPr>
              <a:t>ParentsTogether</a:t>
            </a:r>
            <a:r>
              <a:rPr lang="hu-HU" i="1" dirty="0">
                <a:solidFill>
                  <a:schemeClr val="bg1"/>
                </a:solidFill>
              </a:rPr>
              <a:t> Action</a:t>
            </a:r>
            <a:r>
              <a:rPr lang="hu-HU" dirty="0">
                <a:solidFill>
                  <a:schemeClr val="bg1"/>
                </a:solidFill>
              </a:rPr>
              <a:t> in 2025 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1240345" y="2360366"/>
            <a:ext cx="938822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Character.AI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 hours of conversations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 different Character.AI bots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using accounts set up as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children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669 harmful interactions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— which means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about one every five minutes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Online grooming / sexual advances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Emotional manipulation and creating dependency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References to violence, self-harm, or drug use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Mental health risks</a:t>
            </a:r>
            <a:r>
              <a:rPr lang="hu-H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Racist or hateful language</a:t>
            </a: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73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413254" y="567338"/>
            <a:ext cx="7365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4.</a:t>
            </a:r>
            <a:endParaRPr lang="hu-HU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7469C46-6878-C1AF-99C5-2546217818A1}"/>
              </a:ext>
            </a:extLst>
          </p:cNvPr>
          <p:cNvSpPr txBox="1"/>
          <p:nvPr/>
        </p:nvSpPr>
        <p:spPr>
          <a:xfrm>
            <a:off x="5477256" y="5967496"/>
            <a:ext cx="6336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hu-HU" dirty="0" err="1">
                <a:solidFill>
                  <a:schemeClr val="bg1"/>
                </a:solidFill>
              </a:rPr>
              <a:t>Conference</a:t>
            </a:r>
            <a:r>
              <a:rPr lang="hu-HU" dirty="0">
                <a:solidFill>
                  <a:schemeClr val="bg1"/>
                </a:solidFill>
              </a:rPr>
              <a:t> of </a:t>
            </a:r>
            <a:r>
              <a:rPr lang="en-US" dirty="0">
                <a:solidFill>
                  <a:schemeClr val="bg1"/>
                </a:solidFill>
              </a:rPr>
              <a:t>International Children’s Safety Service (</a:t>
            </a:r>
            <a:r>
              <a:rPr lang="hu-HU" dirty="0">
                <a:solidFill>
                  <a:schemeClr val="bg1"/>
                </a:solidFill>
              </a:rPr>
              <a:t>2025, Budapest, </a:t>
            </a:r>
            <a:r>
              <a:rPr lang="en-US" dirty="0">
                <a:solidFill>
                  <a:schemeClr val="bg1"/>
                </a:solidFill>
              </a:rPr>
              <a:t>Hungary)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548641" y="1163937"/>
            <a:ext cx="11265407" cy="489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Time Reality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Teens spend 6–8 hours/day on screens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time than sleep, school, or family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replaced real-world learning and resilience building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</a:t>
            </a:r>
            <a:endParaRPr lang="en-US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According to a recent Hungarian study,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children reduce their screen time by 20–50%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their attention can improve by 10–30%.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hu-HU" sz="1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hu-HU" sz="1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hu-HU" sz="1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</a:t>
            </a:r>
            <a:r>
              <a:rPr lang="en-US" sz="1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Resilience = the ability to handle stress, frustration, and difficulty.</a:t>
            </a:r>
            <a:endParaRPr lang="hu-HU" sz="1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23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413254" y="567338"/>
            <a:ext cx="7365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Facts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632460" y="1744039"/>
            <a:ext cx="10927080" cy="2786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Demonstrated that children’s direct involvement in information security incidents increases parental demand for the state to play a role in protecting and preparing them against digital risks.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Identified that with increasing age and school grade, the likelihood of encountering information security risks also rises.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727EF2E-B878-C7AF-3373-71ACE7FB954E}"/>
              </a:ext>
            </a:extLst>
          </p:cNvPr>
          <p:cNvSpPr txBox="1"/>
          <p:nvPr/>
        </p:nvSpPr>
        <p:spPr>
          <a:xfrm>
            <a:off x="5495544" y="5495788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“DigiÓ” Research Project, </a:t>
            </a:r>
            <a:r>
              <a:rPr lang="en-US" dirty="0" err="1">
                <a:solidFill>
                  <a:schemeClr val="bg1"/>
                </a:solidFill>
              </a:rPr>
              <a:t>Óbuda</a:t>
            </a:r>
            <a:r>
              <a:rPr lang="en-US" dirty="0">
                <a:solidFill>
                  <a:schemeClr val="bg1"/>
                </a:solidFill>
              </a:rPr>
              <a:t> University (202</a:t>
            </a:r>
            <a:r>
              <a:rPr lang="hu-HU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–2025, Budapest, Hungary). Research lead: Lajos Záhonyi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D9736DC-EEAB-91E9-4661-FFF6BFD2158B}"/>
              </a:ext>
            </a:extLst>
          </p:cNvPr>
          <p:cNvSpPr txBox="1"/>
          <p:nvPr/>
        </p:nvSpPr>
        <p:spPr>
          <a:xfrm>
            <a:off x="340242" y="423945"/>
            <a:ext cx="115469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</a:t>
            </a:r>
            <a:r>
              <a:rPr lang="hu-HU" sz="32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Topic</a:t>
            </a:r>
            <a:r>
              <a:rPr lang="hu-HU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Examining the Information Security of Primary School Children in the Light of the “DigiÓ” Research in </a:t>
            </a:r>
            <a:r>
              <a:rPr lang="en-US" sz="32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Újpest</a:t>
            </a:r>
            <a:endParaRPr lang="hu-HU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Kép 8" descr="A képen térkép, vázla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775A57D-C0A3-8B93-C27A-41067D9B9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308" y="3429000"/>
            <a:ext cx="2144268" cy="2144268"/>
          </a:xfrm>
          <a:prstGeom prst="rect">
            <a:avLst/>
          </a:prstGeom>
        </p:spPr>
      </p:pic>
      <p:sp>
        <p:nvSpPr>
          <p:cNvPr id="10" name="Nyíl: lefelé mutató 9">
            <a:extLst>
              <a:ext uri="{FF2B5EF4-FFF2-40B4-BE49-F238E27FC236}">
                <a16:creationId xmlns:a16="http://schemas.microsoft.com/office/drawing/2014/main" id="{E30E445C-2CB7-640F-85AF-C351737EC0A4}"/>
              </a:ext>
            </a:extLst>
          </p:cNvPr>
          <p:cNvSpPr/>
          <p:nvPr/>
        </p:nvSpPr>
        <p:spPr>
          <a:xfrm>
            <a:off x="8897112" y="2763940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A3D0F70-2D80-3184-8502-D7A95E02A99C}"/>
              </a:ext>
            </a:extLst>
          </p:cNvPr>
          <p:cNvSpPr txBox="1"/>
          <p:nvPr/>
        </p:nvSpPr>
        <p:spPr>
          <a:xfrm>
            <a:off x="8179308" y="5777556"/>
            <a:ext cx="196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Budapest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694EE77-CDC8-A9E4-E980-38C0C06BE36D}"/>
              </a:ext>
            </a:extLst>
          </p:cNvPr>
          <p:cNvSpPr txBox="1"/>
          <p:nvPr/>
        </p:nvSpPr>
        <p:spPr>
          <a:xfrm>
            <a:off x="340242" y="3423916"/>
            <a:ext cx="31089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</a:t>
            </a:r>
            <a:r>
              <a:rPr lang="hu-HU" sz="32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collection</a:t>
            </a:r>
            <a:r>
              <a:rPr lang="hu-HU" sz="3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2022–2025</a:t>
            </a:r>
          </a:p>
        </p:txBody>
      </p:sp>
    </p:spTree>
    <p:extLst>
      <p:ext uri="{BB962C8B-B14F-4D97-AF65-F5344CB8AC3E}">
        <p14:creationId xmlns:p14="http://schemas.microsoft.com/office/powerpoint/2010/main" val="263705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A61FA804-0059-9659-C0CF-4F9DD4C02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325362"/>
              </p:ext>
            </p:extLst>
          </p:nvPr>
        </p:nvGraphicFramePr>
        <p:xfrm>
          <a:off x="1563100" y="1011696"/>
          <a:ext cx="9065800" cy="483460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4532366">
                  <a:extLst>
                    <a:ext uri="{9D8B030D-6E8A-4147-A177-3AD203B41FA5}">
                      <a16:colId xmlns:a16="http://schemas.microsoft.com/office/drawing/2014/main" val="1526994273"/>
                    </a:ext>
                  </a:extLst>
                </a:gridCol>
                <a:gridCol w="4533434">
                  <a:extLst>
                    <a:ext uri="{9D8B030D-6E8A-4147-A177-3AD203B41FA5}">
                      <a16:colId xmlns:a16="http://schemas.microsoft.com/office/drawing/2014/main" val="2487831218"/>
                    </a:ext>
                  </a:extLst>
                </a:gridCol>
              </a:tblGrid>
              <a:tr h="762388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Number of Respondents in the </a:t>
                      </a:r>
                      <a:r>
                        <a:rPr lang="hu-HU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„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DigiÓ</a:t>
                      </a:r>
                      <a:r>
                        <a:rPr lang="hu-HU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”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Survey</a:t>
                      </a:r>
                      <a:endParaRPr lang="hu-HU" sz="2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83942"/>
                  </a:ext>
                </a:extLst>
              </a:tr>
              <a:tr h="7623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Parents</a:t>
                      </a:r>
                      <a:r>
                        <a:rPr lang="hu-HU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</a:t>
                      </a:r>
                      <a:endParaRPr lang="hu-HU" sz="2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530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8926027"/>
                  </a:ext>
                </a:extLst>
              </a:tr>
              <a:tr h="7623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Primary</a:t>
                      </a:r>
                      <a:r>
                        <a:rPr lang="hu-HU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u-HU" sz="24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school</a:t>
                      </a:r>
                      <a:r>
                        <a:rPr lang="hu-HU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u-HU" sz="24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children</a:t>
                      </a:r>
                      <a:r>
                        <a:rPr lang="hu-HU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</a:t>
                      </a:r>
                      <a:endParaRPr lang="hu-HU" sz="2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276 (6%)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281569"/>
                  </a:ext>
                </a:extLst>
              </a:tr>
              <a:tr h="7623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Teachers</a:t>
                      </a:r>
                      <a:r>
                        <a:rPr lang="hu-HU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</a:t>
                      </a:r>
                      <a:endParaRPr lang="hu-HU" sz="2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138 (33%)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2118721"/>
                  </a:ext>
                </a:extLst>
              </a:tr>
              <a:tr h="7623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Total: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944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8634244"/>
                  </a:ext>
                </a:extLst>
              </a:tr>
              <a:tr h="7623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Method</a:t>
                      </a: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</a:t>
                      </a:r>
                      <a:r>
                        <a:rPr lang="hu-HU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Qualitative</a:t>
                      </a: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u-HU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expert</a:t>
                      </a: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u-HU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interviews</a:t>
                      </a:r>
                      <a:endParaRPr lang="hu-HU" sz="2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hu-HU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827763"/>
                  </a:ext>
                </a:extLst>
              </a:tr>
            </a:tbl>
          </a:graphicData>
        </a:graphic>
      </p:graphicFrame>
      <p:sp>
        <p:nvSpPr>
          <p:cNvPr id="2" name="Szövegdoboz 1">
            <a:extLst>
              <a:ext uri="{FF2B5EF4-FFF2-40B4-BE49-F238E27FC236}">
                <a16:creationId xmlns:a16="http://schemas.microsoft.com/office/drawing/2014/main" id="{B73BDE40-0DE9-5A5B-194A-73FF194C85EA}"/>
              </a:ext>
            </a:extLst>
          </p:cNvPr>
          <p:cNvSpPr txBox="1"/>
          <p:nvPr/>
        </p:nvSpPr>
        <p:spPr>
          <a:xfrm>
            <a:off x="5184648" y="5967496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“DigiÓ” Research Project, </a:t>
            </a:r>
            <a:r>
              <a:rPr lang="en-US" dirty="0" err="1">
                <a:solidFill>
                  <a:schemeClr val="bg1"/>
                </a:solidFill>
              </a:rPr>
              <a:t>Óbuda</a:t>
            </a:r>
            <a:r>
              <a:rPr lang="en-US" dirty="0">
                <a:solidFill>
                  <a:schemeClr val="bg1"/>
                </a:solidFill>
              </a:rPr>
              <a:t> University (2023–2025, Budapest, Hungary). Research lead: Lajos Záhonyi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610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3DF1F1AF-5E6E-A07D-A83F-94C1C9AD3A85}"/>
              </a:ext>
            </a:extLst>
          </p:cNvPr>
          <p:cNvSpPr txBox="1"/>
          <p:nvPr/>
        </p:nvSpPr>
        <p:spPr>
          <a:xfrm>
            <a:off x="137160" y="1673352"/>
            <a:ext cx="11612880" cy="323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Children grow up online first.</a:t>
            </a:r>
            <a:endParaRPr lang="hu-HU" sz="2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Smartphones are the new playground</a:t>
            </a:r>
            <a:r>
              <a:rPr lang="hu-HU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(and </a:t>
            </a:r>
            <a:r>
              <a:rPr lang="hu-HU" sz="28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lang="hu-HU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8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</a:t>
            </a:r>
            <a:r>
              <a:rPr lang="hu-HU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8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friends</a:t>
            </a:r>
            <a:r>
              <a:rPr lang="hu-HU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?)</a:t>
            </a: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hu-HU" sz="2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changes how children learn to socialize, behave and how their brains develop.</a:t>
            </a:r>
            <a:endParaRPr lang="hu-HU" sz="2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understand what is being lost.</a:t>
            </a:r>
            <a:endParaRPr lang="hu-HU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413254" y="567338"/>
            <a:ext cx="7365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New Childhood </a:t>
            </a:r>
            <a:r>
              <a:rPr lang="en-US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Environmen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9467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28981" y="580286"/>
            <a:ext cx="11734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Protecting Childhood: What We Can Do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463295" y="2215955"/>
            <a:ext cx="11265407" cy="186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are not without tools</a:t>
            </a:r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!</a:t>
            </a:r>
          </a:p>
          <a:p>
            <a:pPr>
              <a:lnSpc>
                <a:spcPct val="150000"/>
              </a:lnSpc>
            </a:pP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action at three levels: the state, schools, and families.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69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28981" y="543710"/>
            <a:ext cx="11734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Government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572262" y="1374707"/>
            <a:ext cx="11265407" cy="5002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Mandatory and enforced age verification for social media platforms and digital apps.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state must set clear regulations on what digital services and platforms can be used by those under 18.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</a:t>
            </a:r>
            <a:r>
              <a:rPr lang="en-US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ublic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awareness campaigns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.,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Cyber Safety for Vulnerable Populations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Project -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Chair of Cybersecurity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Munster Technological University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digital parenting education in cooperation with organizations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NGOs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universities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72C81AB-098D-5473-0E66-0116DE4CC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075" y="4902111"/>
            <a:ext cx="1905762" cy="13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5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228981" y="543710"/>
            <a:ext cx="11734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Government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–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international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572262" y="1374707"/>
            <a:ext cx="11265407" cy="389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Italy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 on mobile phone use during school hours in primary and lower secondary schools (2024), extended to high schools (2025).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Hungary -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Schools may restrict or ban phone use during the school day; devices can only be used with teacher permission (2024).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„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Denmark’s government announced a political agreement to ban access to social media for anyone aged under 15.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hu-HU" sz="1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hu-HU" sz="1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Euronews</a:t>
            </a:r>
            <a:r>
              <a:rPr lang="hu-HU" sz="1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07/11/2025)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42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1808035" y="543710"/>
            <a:ext cx="8082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Families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572262" y="1502723"/>
            <a:ext cx="11265407" cy="2786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Delay smartphones and social media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shared rules for device use (not punishment)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Phone-free evenings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Phone sleeps outside the bedroom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healthy adult behavior (“children copy us”)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15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1808035" y="543710"/>
            <a:ext cx="8082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Families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572262" y="1502723"/>
            <a:ext cx="11265407" cy="57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Delay smartphones and social media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OK.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3D165CD9-CD48-6041-3B76-4595E4EEA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720" y="2666905"/>
            <a:ext cx="5103654" cy="337727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CB11D1D8-CDE2-24EB-02AD-9BCB1D6C0183}"/>
              </a:ext>
            </a:extLst>
          </p:cNvPr>
          <p:cNvSpPr txBox="1"/>
          <p:nvPr/>
        </p:nvSpPr>
        <p:spPr>
          <a:xfrm>
            <a:off x="7764335" y="5361314"/>
            <a:ext cx="13156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reality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419837F-7082-5074-B5FE-29411DABE7B8}"/>
              </a:ext>
            </a:extLst>
          </p:cNvPr>
          <p:cNvSpPr txBox="1"/>
          <p:nvPr/>
        </p:nvSpPr>
        <p:spPr>
          <a:xfrm>
            <a:off x="9791255" y="5341258"/>
            <a:ext cx="131565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Ideal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BC77BA2-0C4C-050D-ABF1-4199CD03D5C8}"/>
              </a:ext>
            </a:extLst>
          </p:cNvPr>
          <p:cNvSpPr txBox="1"/>
          <p:nvPr/>
        </p:nvSpPr>
        <p:spPr>
          <a:xfrm>
            <a:off x="152400" y="2421186"/>
            <a:ext cx="56967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Confirmed generational differences among parents: parents from Generation Y give smartphones to their children significantly earlier than those from Generation X, although both groups see the "ideal age" similarly.</a:t>
            </a:r>
            <a:endParaRPr lang="hu-HU" sz="1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81AD7813-54C3-D88C-A7BF-46A95BF34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3" y="4021443"/>
            <a:ext cx="4731831" cy="244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2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1808035" y="543710"/>
            <a:ext cx="8082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Shools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463296" y="1481511"/>
            <a:ext cx="11265407" cy="3894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„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found that teachers who feel less prepared need more support in internet safety education than those who feel more confident.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  <a:p>
            <a:pPr>
              <a:lnSpc>
                <a:spcPct val="150000"/>
              </a:lnSpc>
            </a:pP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Teachers need stronger knowledge in cybersecurity, and they should be supported with practical training and tools.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Schools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Phone-free classrooms or protected times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Teacher–parent cooperation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8A0BC0E-5686-6D72-DD33-1CDA937C7ACB}"/>
              </a:ext>
            </a:extLst>
          </p:cNvPr>
          <p:cNvSpPr txBox="1"/>
          <p:nvPr/>
        </p:nvSpPr>
        <p:spPr>
          <a:xfrm>
            <a:off x="5184648" y="5967496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“DigiÓ” Research Project, </a:t>
            </a:r>
            <a:r>
              <a:rPr lang="en-US" dirty="0" err="1">
                <a:solidFill>
                  <a:schemeClr val="bg1"/>
                </a:solidFill>
              </a:rPr>
              <a:t>Óbuda</a:t>
            </a:r>
            <a:r>
              <a:rPr lang="en-US" dirty="0">
                <a:solidFill>
                  <a:schemeClr val="bg1"/>
                </a:solidFill>
              </a:rPr>
              <a:t> University (202</a:t>
            </a:r>
            <a:r>
              <a:rPr lang="hu-HU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–2025, Budapest, Hungary). Research lead: Lajos Záhonyi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18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1808035" y="543710"/>
            <a:ext cx="8082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590550" y="1155251"/>
            <a:ext cx="11265407" cy="538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Healthier Childhood 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(Jonathan Haidt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The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Anxious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u-HU" sz="24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Generation</a:t>
            </a:r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2024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smartphones before age 14</a:t>
            </a:r>
            <a:r>
              <a:rPr lang="hu-HU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(keep children on basic phones during primary / lower secondary school)</a:t>
            </a:r>
            <a:endParaRPr lang="hu-HU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social media before age 16(delay online identity formation and comparison culture)</a:t>
            </a:r>
            <a:endParaRPr lang="hu-HU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Phone-free schools</a:t>
            </a:r>
            <a:r>
              <a:rPr lang="hu-HU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(school should support attention, learning, and real social interaction)</a:t>
            </a:r>
            <a:endParaRPr lang="hu-HU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Much more free, unsupervised play</a:t>
            </a:r>
            <a:r>
              <a:rPr lang="hu-HU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(children need real-world autonomy and problem-solving experiences)</a:t>
            </a:r>
            <a:endParaRPr lang="hu-HU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companions only after age 18</a:t>
            </a:r>
            <a:r>
              <a:rPr lang="hu-HU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(avoid emotional dependency on artificial relationships)</a:t>
            </a:r>
            <a:endParaRPr lang="hu-HU" sz="2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63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3DF1F1AF-5E6E-A07D-A83F-94C1C9AD3A85}"/>
              </a:ext>
            </a:extLst>
          </p:cNvPr>
          <p:cNvSpPr txBox="1"/>
          <p:nvPr/>
        </p:nvSpPr>
        <p:spPr>
          <a:xfrm>
            <a:off x="980694" y="1883664"/>
            <a:ext cx="102306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1.)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DigiÓ research has shown that children’s information security is strongly influenced by parental attitudes, school environment, and teachers’ preparedness.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2.)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Strengthening awareness, prevention, and cooperation between parents, schools, and the state is essential.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hu-HU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3.) </a:t>
            </a:r>
            <a:r>
              <a:rPr lang="en-US" sz="2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Future work should focus on integrating digital safety education into everyday school practice.</a:t>
            </a: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3124962" y="721471"/>
            <a:ext cx="5590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7577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6407C482-BAD5-FDD6-3FAA-64227EBC6E09}"/>
              </a:ext>
            </a:extLst>
          </p:cNvPr>
          <p:cNvSpPr txBox="1"/>
          <p:nvPr/>
        </p:nvSpPr>
        <p:spPr>
          <a:xfrm>
            <a:off x="1798891" y="543710"/>
            <a:ext cx="8082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</a:t>
            </a:r>
            <a:r>
              <a:rPr lang="hu-HU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</a:t>
            </a:r>
            <a:endParaRPr lang="hu-HU" sz="32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73588B-7F4C-06AD-8407-4907EA164E60}"/>
              </a:ext>
            </a:extLst>
          </p:cNvPr>
          <p:cNvSpPr txBox="1"/>
          <p:nvPr/>
        </p:nvSpPr>
        <p:spPr>
          <a:xfrm>
            <a:off x="463296" y="2320111"/>
            <a:ext cx="11265407" cy="120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hu-HU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can support childhood </a:t>
            </a:r>
            <a:r>
              <a:rPr lang="hu-HU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it must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1103098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doboz 8">
            <a:extLst>
              <a:ext uri="{FF2B5EF4-FFF2-40B4-BE49-F238E27FC236}">
                <a16:creationId xmlns:a16="http://schemas.microsoft.com/office/drawing/2014/main" id="{9DFDBACD-2BA9-E251-4C2A-D75182B3ACB0}"/>
              </a:ext>
            </a:extLst>
          </p:cNvPr>
          <p:cNvSpPr txBox="1"/>
          <p:nvPr/>
        </p:nvSpPr>
        <p:spPr>
          <a:xfrm>
            <a:off x="2500139" y="2721114"/>
            <a:ext cx="8665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 for your attention!</a:t>
            </a:r>
            <a:endParaRPr lang="hu-HU" sz="40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5522903-FB1C-908A-122F-0C80ABD913D7}"/>
              </a:ext>
            </a:extLst>
          </p:cNvPr>
          <p:cNvSpPr txBox="1"/>
          <p:nvPr/>
        </p:nvSpPr>
        <p:spPr>
          <a:xfrm>
            <a:off x="8348472" y="5166360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Lajos Záhonyi</a:t>
            </a:r>
          </a:p>
          <a:p>
            <a:r>
              <a:rPr lang="hu-HU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zahonyi.lajos@uni-obuda.hu</a:t>
            </a:r>
          </a:p>
        </p:txBody>
      </p:sp>
    </p:spTree>
    <p:extLst>
      <p:ext uri="{BB962C8B-B14F-4D97-AF65-F5344CB8AC3E}">
        <p14:creationId xmlns:p14="http://schemas.microsoft.com/office/powerpoint/2010/main" val="304930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</TotalTime>
  <Words>1199</Words>
  <Application>Microsoft Office PowerPoint</Application>
  <PresentationFormat>Szélesvásznú</PresentationFormat>
  <Paragraphs>131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Tahoma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Záhonyi Lajos</dc:creator>
  <cp:lastModifiedBy>Záhonyi Lajos</cp:lastModifiedBy>
  <cp:revision>24</cp:revision>
  <dcterms:created xsi:type="dcterms:W3CDTF">2025-10-22T14:56:46Z</dcterms:created>
  <dcterms:modified xsi:type="dcterms:W3CDTF">2025-11-11T17:34:14Z</dcterms:modified>
</cp:coreProperties>
</file>